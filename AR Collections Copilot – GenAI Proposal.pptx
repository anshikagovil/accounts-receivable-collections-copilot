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embeddedFontLst>
    <p:embeddedFont>
      <p:font typeface="Inter" panose="020B0604020202020204" charset="0"/>
      <p:regular r:id="rId19"/>
    </p:embeddedFont>
    <p:embeddedFont>
      <p:font typeface="JetBrains Mono"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7932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AI USE CASE  ·  PROPOSAL AND DEMO</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667512" y="1143000"/>
            <a:ext cx="5943600" cy="1188720"/>
          </a:xfrm>
          <a:prstGeom prst="rect">
            <a:avLst/>
          </a:prstGeom>
          <a:noFill/>
        </p:spPr>
        <p:txBody>
          <a:bodyPr wrap="square" lIns="0" tIns="0" rIns="0" bIns="0" anchor="t">
            <a:spAutoFit/>
          </a:bodyPr>
          <a:lstStyle/>
          <a:p>
            <a:pPr algn="l">
              <a:lnSpc>
                <a:spcPct val="95000"/>
              </a:lnSpc>
            </a:pPr>
            <a:r>
              <a:rPr sz="4600" b="1" i="0">
                <a:solidFill>
                  <a:srgbClr val="1A1A1E"/>
                </a:solidFill>
                <a:latin typeface="Inter"/>
              </a:rPr>
              <a:t>Collections</a:t>
            </a:r>
          </a:p>
          <a:p>
            <a:pPr algn="l">
              <a:lnSpc>
                <a:spcPct val="95000"/>
              </a:lnSpc>
            </a:pPr>
            <a:r>
              <a:rPr sz="4600" b="1" i="0">
                <a:solidFill>
                  <a:srgbClr val="1A1A1E"/>
                </a:solidFill>
                <a:latin typeface="Inter"/>
              </a:rPr>
              <a:t>Copilot</a:t>
            </a:r>
          </a:p>
        </p:txBody>
      </p:sp>
      <p:sp>
        <p:nvSpPr>
          <p:cNvPr id="11" name="Rectangle 10"/>
          <p:cNvSpPr/>
          <p:nvPr/>
        </p:nvSpPr>
        <p:spPr>
          <a:xfrm>
            <a:off x="667512" y="2670048"/>
            <a:ext cx="457200" cy="274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67512" y="2880360"/>
            <a:ext cx="5394960" cy="548640"/>
          </a:xfrm>
          <a:prstGeom prst="rect">
            <a:avLst/>
          </a:prstGeom>
          <a:noFill/>
        </p:spPr>
        <p:txBody>
          <a:bodyPr wrap="square" lIns="0" tIns="0" rIns="0" bIns="0" anchor="t">
            <a:spAutoFit/>
          </a:bodyPr>
          <a:lstStyle/>
          <a:p>
            <a:pPr algn="l">
              <a:lnSpc>
                <a:spcPct val="145000"/>
              </a:lnSpc>
            </a:pPr>
            <a:r>
              <a:rPr sz="1030" b="0" i="0">
                <a:solidFill>
                  <a:srgbClr val="4A5668"/>
                </a:solidFill>
                <a:latin typeface="Inter"/>
              </a:rPr>
              <a:t>GenAI that turns the week's accounts receivable exceptions into the right next action - with the brief and the email already written. Built on the AR data we already have.</a:t>
            </a:r>
          </a:p>
        </p:txBody>
      </p:sp>
      <p:sp>
        <p:nvSpPr>
          <p:cNvPr id="13" name="TextBox 12"/>
          <p:cNvSpPr txBox="1"/>
          <p:nvPr/>
        </p:nvSpPr>
        <p:spPr>
          <a:xfrm>
            <a:off x="667512" y="3703320"/>
            <a:ext cx="5303520" cy="182880"/>
          </a:xfrm>
          <a:prstGeom prst="rect">
            <a:avLst/>
          </a:prstGeom>
          <a:noFill/>
        </p:spPr>
        <p:txBody>
          <a:bodyPr wrap="square" lIns="0" tIns="0" rIns="0" bIns="0" anchor="t">
            <a:spAutoFit/>
          </a:bodyPr>
          <a:lstStyle/>
          <a:p>
            <a:pPr algn="l">
              <a:lnSpc>
                <a:spcPct val="120000"/>
              </a:lnSpc>
            </a:pPr>
            <a:r>
              <a:rPr sz="650" b="1" i="0">
                <a:solidFill>
                  <a:srgbClr val="2A5C9E"/>
                </a:solidFill>
                <a:latin typeface="JetBrains Mono"/>
              </a:rPr>
              <a:t>ACCOUNTS RECEIVABLE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WHAT WE'LL COVER</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02 / 16</a:t>
            </a:r>
          </a:p>
        </p:txBody>
      </p:sp>
      <p:sp>
        <p:nvSpPr>
          <p:cNvPr id="11" name="TextBox 10"/>
          <p:cNvSpPr txBox="1"/>
          <p:nvPr/>
        </p:nvSpPr>
        <p:spPr>
          <a:xfrm>
            <a:off x="667512" y="530352"/>
            <a:ext cx="7223760" cy="566928"/>
          </a:xfrm>
          <a:prstGeom prst="rect">
            <a:avLst/>
          </a:prstGeom>
          <a:noFill/>
        </p:spPr>
        <p:txBody>
          <a:bodyPr wrap="square" lIns="0" tIns="0" rIns="0" bIns="0" anchor="t">
            <a:spAutoFit/>
          </a:bodyPr>
          <a:lstStyle/>
          <a:p>
            <a:pPr algn="l">
              <a:lnSpc>
                <a:spcPct val="95000"/>
              </a:lnSpc>
            </a:pPr>
            <a:r>
              <a:rPr sz="1780" b="1" i="0">
                <a:solidFill>
                  <a:srgbClr val="1A1A1E"/>
                </a:solidFill>
                <a:latin typeface="Inter"/>
              </a:rPr>
              <a:t>Collections</a:t>
            </a:r>
          </a:p>
          <a:p>
            <a:pPr algn="l">
              <a:lnSpc>
                <a:spcPct val="95000"/>
              </a:lnSpc>
            </a:pPr>
            <a:r>
              <a:rPr sz="1780" b="1" i="0">
                <a:solidFill>
                  <a:srgbClr val="1A1A1E"/>
                </a:solidFill>
                <a:latin typeface="Inter"/>
              </a:rPr>
              <a:t>Copilot</a:t>
            </a:r>
          </a:p>
        </p:txBody>
      </p:sp>
      <p:sp>
        <p:nvSpPr>
          <p:cNvPr id="12" name="Rectangle 11"/>
          <p:cNvSpPr/>
          <p:nvPr/>
        </p:nvSpPr>
        <p:spPr>
          <a:xfrm>
            <a:off x="667512" y="1188720"/>
            <a:ext cx="457200" cy="274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22376" y="1453896"/>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01</a:t>
            </a:r>
          </a:p>
        </p:txBody>
      </p:sp>
      <p:sp>
        <p:nvSpPr>
          <p:cNvPr id="14" name="TextBox 13"/>
          <p:cNvSpPr txBox="1"/>
          <p:nvPr/>
        </p:nvSpPr>
        <p:spPr>
          <a:xfrm>
            <a:off x="1188720" y="1444752"/>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The problem</a:t>
            </a:r>
          </a:p>
        </p:txBody>
      </p:sp>
      <p:sp>
        <p:nvSpPr>
          <p:cNvPr id="15" name="TextBox 14"/>
          <p:cNvSpPr txBox="1"/>
          <p:nvPr/>
        </p:nvSpPr>
        <p:spPr>
          <a:xfrm>
            <a:off x="3749039" y="1463040"/>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Most of the ledger pays on time - the risk sits in the exceptions</a:t>
            </a:r>
          </a:p>
        </p:txBody>
      </p:sp>
      <p:sp>
        <p:nvSpPr>
          <p:cNvPr id="16" name="TextBox 15"/>
          <p:cNvSpPr txBox="1"/>
          <p:nvPr/>
        </p:nvSpPr>
        <p:spPr>
          <a:xfrm>
            <a:off x="7287768" y="1463040"/>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03</a:t>
            </a:r>
          </a:p>
        </p:txBody>
      </p:sp>
      <p:sp>
        <p:nvSpPr>
          <p:cNvPr id="17" name="Rectangle 16"/>
          <p:cNvSpPr/>
          <p:nvPr/>
        </p:nvSpPr>
        <p:spPr>
          <a:xfrm>
            <a:off x="667512" y="1691640"/>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22376" y="1792224"/>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02</a:t>
            </a:r>
          </a:p>
        </p:txBody>
      </p:sp>
      <p:sp>
        <p:nvSpPr>
          <p:cNvPr id="19" name="TextBox 18"/>
          <p:cNvSpPr txBox="1"/>
          <p:nvPr/>
        </p:nvSpPr>
        <p:spPr>
          <a:xfrm>
            <a:off x="1188720" y="1783080"/>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What we have today</a:t>
            </a:r>
          </a:p>
        </p:txBody>
      </p:sp>
      <p:sp>
        <p:nvSpPr>
          <p:cNvPr id="20" name="TextBox 19"/>
          <p:cNvSpPr txBox="1"/>
          <p:nvPr/>
        </p:nvSpPr>
        <p:spPr>
          <a:xfrm>
            <a:off x="3749039" y="1801368"/>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Reports show the ledger; they don't decide the next action</a:t>
            </a:r>
          </a:p>
        </p:txBody>
      </p:sp>
      <p:sp>
        <p:nvSpPr>
          <p:cNvPr id="21" name="TextBox 20"/>
          <p:cNvSpPr txBox="1"/>
          <p:nvPr/>
        </p:nvSpPr>
        <p:spPr>
          <a:xfrm>
            <a:off x="7287768" y="1801368"/>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04</a:t>
            </a:r>
          </a:p>
        </p:txBody>
      </p:sp>
      <p:sp>
        <p:nvSpPr>
          <p:cNvPr id="22" name="Rectangle 21"/>
          <p:cNvSpPr/>
          <p:nvPr/>
        </p:nvSpPr>
        <p:spPr>
          <a:xfrm>
            <a:off x="667512" y="2029968"/>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22376" y="2130552"/>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03</a:t>
            </a:r>
          </a:p>
        </p:txBody>
      </p:sp>
      <p:sp>
        <p:nvSpPr>
          <p:cNvPr id="24" name="TextBox 23"/>
          <p:cNvSpPr txBox="1"/>
          <p:nvPr/>
        </p:nvSpPr>
        <p:spPr>
          <a:xfrm>
            <a:off x="1188720" y="2121408"/>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The proposal</a:t>
            </a:r>
          </a:p>
        </p:txBody>
      </p:sp>
      <p:sp>
        <p:nvSpPr>
          <p:cNvPr id="25" name="TextBox 24"/>
          <p:cNvSpPr txBox="1"/>
          <p:nvPr/>
        </p:nvSpPr>
        <p:spPr>
          <a:xfrm>
            <a:off x="3749039" y="2139696"/>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The right next action for every account, with the words ready</a:t>
            </a:r>
          </a:p>
        </p:txBody>
      </p:sp>
      <p:sp>
        <p:nvSpPr>
          <p:cNvPr id="26" name="TextBox 25"/>
          <p:cNvSpPr txBox="1"/>
          <p:nvPr/>
        </p:nvSpPr>
        <p:spPr>
          <a:xfrm>
            <a:off x="7287768" y="2139696"/>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06</a:t>
            </a:r>
          </a:p>
        </p:txBody>
      </p:sp>
      <p:sp>
        <p:nvSpPr>
          <p:cNvPr id="27" name="Rectangle 26"/>
          <p:cNvSpPr/>
          <p:nvPr/>
        </p:nvSpPr>
        <p:spPr>
          <a:xfrm>
            <a:off x="667512" y="2368296"/>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22376" y="2468879"/>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04</a:t>
            </a:r>
          </a:p>
        </p:txBody>
      </p:sp>
      <p:sp>
        <p:nvSpPr>
          <p:cNvPr id="29" name="TextBox 28"/>
          <p:cNvSpPr txBox="1"/>
          <p:nvPr/>
        </p:nvSpPr>
        <p:spPr>
          <a:xfrm>
            <a:off x="1188720" y="2459736"/>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How it works</a:t>
            </a:r>
          </a:p>
        </p:txBody>
      </p:sp>
      <p:sp>
        <p:nvSpPr>
          <p:cNvPr id="30" name="TextBox 29"/>
          <p:cNvSpPr txBox="1"/>
          <p:nvPr/>
        </p:nvSpPr>
        <p:spPr>
          <a:xfrm>
            <a:off x="3749039" y="2478024"/>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Rules do the maths and choose the action; GenAI reads and writes</a:t>
            </a:r>
          </a:p>
        </p:txBody>
      </p:sp>
      <p:sp>
        <p:nvSpPr>
          <p:cNvPr id="31" name="TextBox 30"/>
          <p:cNvSpPr txBox="1"/>
          <p:nvPr/>
        </p:nvSpPr>
        <p:spPr>
          <a:xfrm>
            <a:off x="7287768" y="2478024"/>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07</a:t>
            </a:r>
          </a:p>
        </p:txBody>
      </p:sp>
      <p:sp>
        <p:nvSpPr>
          <p:cNvPr id="32" name="Rectangle 31"/>
          <p:cNvSpPr/>
          <p:nvPr/>
        </p:nvSpPr>
        <p:spPr>
          <a:xfrm>
            <a:off x="667512" y="2706624"/>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22376" y="2807208"/>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05</a:t>
            </a:r>
          </a:p>
        </p:txBody>
      </p:sp>
      <p:sp>
        <p:nvSpPr>
          <p:cNvPr id="34" name="TextBox 33"/>
          <p:cNvSpPr txBox="1"/>
          <p:nvPr/>
        </p:nvSpPr>
        <p:spPr>
          <a:xfrm>
            <a:off x="1188720" y="2798064"/>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See it run</a:t>
            </a:r>
          </a:p>
        </p:txBody>
      </p:sp>
      <p:sp>
        <p:nvSpPr>
          <p:cNvPr id="35" name="TextBox 34"/>
          <p:cNvSpPr txBox="1"/>
          <p:nvPr/>
        </p:nvSpPr>
        <p:spPr>
          <a:xfrm>
            <a:off x="3749039" y="2816352"/>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Action list, account brief, reading the notes, PO request email</a:t>
            </a:r>
          </a:p>
        </p:txBody>
      </p:sp>
      <p:sp>
        <p:nvSpPr>
          <p:cNvPr id="36" name="TextBox 35"/>
          <p:cNvSpPr txBox="1"/>
          <p:nvPr/>
        </p:nvSpPr>
        <p:spPr>
          <a:xfrm>
            <a:off x="7287768" y="2816352"/>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08</a:t>
            </a:r>
          </a:p>
        </p:txBody>
      </p:sp>
      <p:sp>
        <p:nvSpPr>
          <p:cNvPr id="37" name="Rectangle 36"/>
          <p:cNvSpPr/>
          <p:nvPr/>
        </p:nvSpPr>
        <p:spPr>
          <a:xfrm>
            <a:off x="667512" y="3044952"/>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22376" y="3145536"/>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06</a:t>
            </a:r>
          </a:p>
        </p:txBody>
      </p:sp>
      <p:sp>
        <p:nvSpPr>
          <p:cNvPr id="39" name="TextBox 38"/>
          <p:cNvSpPr txBox="1"/>
          <p:nvPr/>
        </p:nvSpPr>
        <p:spPr>
          <a:xfrm>
            <a:off x="1188720" y="3136392"/>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Does it work?</a:t>
            </a:r>
          </a:p>
        </p:txBody>
      </p:sp>
      <p:sp>
        <p:nvSpPr>
          <p:cNvPr id="40" name="TextBox 39"/>
          <p:cNvSpPr txBox="1"/>
          <p:nvPr/>
        </p:nvSpPr>
        <p:spPr>
          <a:xfrm>
            <a:off x="3749039" y="3154680"/>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Tested on a synthetic portfolio shaped like ours</a:t>
            </a:r>
          </a:p>
        </p:txBody>
      </p:sp>
      <p:sp>
        <p:nvSpPr>
          <p:cNvPr id="41" name="TextBox 40"/>
          <p:cNvSpPr txBox="1"/>
          <p:nvPr/>
        </p:nvSpPr>
        <p:spPr>
          <a:xfrm>
            <a:off x="7287768" y="3154680"/>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12</a:t>
            </a:r>
          </a:p>
        </p:txBody>
      </p:sp>
      <p:sp>
        <p:nvSpPr>
          <p:cNvPr id="42" name="Rectangle 41"/>
          <p:cNvSpPr/>
          <p:nvPr/>
        </p:nvSpPr>
        <p:spPr>
          <a:xfrm>
            <a:off x="667512" y="3383280"/>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22376" y="3483863"/>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07</a:t>
            </a:r>
          </a:p>
        </p:txBody>
      </p:sp>
      <p:sp>
        <p:nvSpPr>
          <p:cNvPr id="44" name="TextBox 43"/>
          <p:cNvSpPr txBox="1"/>
          <p:nvPr/>
        </p:nvSpPr>
        <p:spPr>
          <a:xfrm>
            <a:off x="1188720" y="3474720"/>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Safeguards and pilot</a:t>
            </a:r>
          </a:p>
        </p:txBody>
      </p:sp>
      <p:sp>
        <p:nvSpPr>
          <p:cNvPr id="45" name="TextBox 44"/>
          <p:cNvSpPr txBox="1"/>
          <p:nvPr/>
        </p:nvSpPr>
        <p:spPr>
          <a:xfrm>
            <a:off x="3749039" y="3493008"/>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Safe with customer data; eight weeks, five measures</a:t>
            </a:r>
          </a:p>
        </p:txBody>
      </p:sp>
      <p:sp>
        <p:nvSpPr>
          <p:cNvPr id="46" name="TextBox 45"/>
          <p:cNvSpPr txBox="1"/>
          <p:nvPr/>
        </p:nvSpPr>
        <p:spPr>
          <a:xfrm>
            <a:off x="7287768" y="3493008"/>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13</a:t>
            </a:r>
          </a:p>
        </p:txBody>
      </p:sp>
      <p:sp>
        <p:nvSpPr>
          <p:cNvPr id="47" name="Rectangle 46"/>
          <p:cNvSpPr/>
          <p:nvPr/>
        </p:nvSpPr>
        <p:spPr>
          <a:xfrm>
            <a:off x="667512" y="3721608"/>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22376" y="3822191"/>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08</a:t>
            </a:r>
          </a:p>
        </p:txBody>
      </p:sp>
      <p:sp>
        <p:nvSpPr>
          <p:cNvPr id="49" name="TextBox 48"/>
          <p:cNvSpPr txBox="1"/>
          <p:nvPr/>
        </p:nvSpPr>
        <p:spPr>
          <a:xfrm>
            <a:off x="1188720" y="3813048"/>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Good to know</a:t>
            </a:r>
          </a:p>
        </p:txBody>
      </p:sp>
      <p:sp>
        <p:nvSpPr>
          <p:cNvPr id="50" name="TextBox 49"/>
          <p:cNvSpPr txBox="1"/>
          <p:nvPr/>
        </p:nvSpPr>
        <p:spPr>
          <a:xfrm>
            <a:off x="3749039" y="3831335"/>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Honest limits, checks before building, what comes next</a:t>
            </a:r>
          </a:p>
        </p:txBody>
      </p:sp>
      <p:sp>
        <p:nvSpPr>
          <p:cNvPr id="51" name="TextBox 50"/>
          <p:cNvSpPr txBox="1"/>
          <p:nvPr/>
        </p:nvSpPr>
        <p:spPr>
          <a:xfrm>
            <a:off x="7287768" y="3831335"/>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15</a:t>
            </a:r>
          </a:p>
        </p:txBody>
      </p:sp>
      <p:sp>
        <p:nvSpPr>
          <p:cNvPr id="52" name="Rectangle 51"/>
          <p:cNvSpPr/>
          <p:nvPr/>
        </p:nvSpPr>
        <p:spPr>
          <a:xfrm>
            <a:off x="667512" y="4059935"/>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722376" y="4160520"/>
            <a:ext cx="27432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09</a:t>
            </a:r>
          </a:p>
        </p:txBody>
      </p:sp>
      <p:sp>
        <p:nvSpPr>
          <p:cNvPr id="54" name="TextBox 53"/>
          <p:cNvSpPr txBox="1"/>
          <p:nvPr/>
        </p:nvSpPr>
        <p:spPr>
          <a:xfrm>
            <a:off x="1188720" y="4151376"/>
            <a:ext cx="246888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The ask</a:t>
            </a:r>
          </a:p>
        </p:txBody>
      </p:sp>
      <p:sp>
        <p:nvSpPr>
          <p:cNvPr id="55" name="TextBox 54"/>
          <p:cNvSpPr txBox="1"/>
          <p:nvPr/>
        </p:nvSpPr>
        <p:spPr>
          <a:xfrm>
            <a:off x="3749039" y="4169663"/>
            <a:ext cx="3383280" cy="128016"/>
          </a:xfrm>
          <a:prstGeom prst="rect">
            <a:avLst/>
          </a:prstGeom>
          <a:noFill/>
        </p:spPr>
        <p:txBody>
          <a:bodyPr wrap="square" lIns="0" tIns="0" rIns="0" bIns="0" anchor="t">
            <a:spAutoFit/>
          </a:bodyPr>
          <a:lstStyle/>
          <a:p>
            <a:pPr algn="l">
              <a:lnSpc>
                <a:spcPct val="120000"/>
              </a:lnSpc>
            </a:pPr>
            <a:r>
              <a:rPr sz="680" b="0" i="0">
                <a:solidFill>
                  <a:srgbClr val="4A5668"/>
                </a:solidFill>
                <a:latin typeface="Inter"/>
              </a:rPr>
              <a:t>What we need to start</a:t>
            </a:r>
          </a:p>
        </p:txBody>
      </p:sp>
      <p:sp>
        <p:nvSpPr>
          <p:cNvPr id="56" name="TextBox 55"/>
          <p:cNvSpPr txBox="1"/>
          <p:nvPr/>
        </p:nvSpPr>
        <p:spPr>
          <a:xfrm>
            <a:off x="7287768" y="4169663"/>
            <a:ext cx="1188720" cy="128016"/>
          </a:xfrm>
          <a:prstGeom prst="rect">
            <a:avLst/>
          </a:prstGeom>
          <a:noFill/>
        </p:spPr>
        <p:txBody>
          <a:bodyPr wrap="square" lIns="0" tIns="0" rIns="0" bIns="0" anchor="t">
            <a:spAutoFit/>
          </a:bodyPr>
          <a:lstStyle/>
          <a:p>
            <a:pPr algn="r">
              <a:lnSpc>
                <a:spcPct val="120000"/>
              </a:lnSpc>
            </a:pPr>
            <a:r>
              <a:rPr sz="680" b="0" i="0">
                <a:solidFill>
                  <a:srgbClr val="2A5C9E"/>
                </a:solidFill>
                <a:latin typeface="JetBrains Mono"/>
              </a:rPr>
              <a:t>PAGE 16</a:t>
            </a:r>
          </a:p>
        </p:txBody>
      </p:sp>
      <p:sp>
        <p:nvSpPr>
          <p:cNvPr id="57" name="Rectangle 56"/>
          <p:cNvSpPr/>
          <p:nvPr/>
        </p:nvSpPr>
        <p:spPr>
          <a:xfrm>
            <a:off x="667512" y="4398264"/>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THE PROBLEM</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03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Most of the ledger pays on time.</a:t>
            </a:r>
          </a:p>
          <a:p>
            <a:pPr algn="l">
              <a:lnSpc>
                <a:spcPct val="115000"/>
              </a:lnSpc>
            </a:pPr>
            <a:r>
              <a:rPr sz="1780" b="1" i="0">
                <a:solidFill>
                  <a:srgbClr val="1A1A1E"/>
                </a:solidFill>
                <a:latin typeface="Inter"/>
              </a:rPr>
              <a:t>The risk sits in the exceptions.</a:t>
            </a:r>
          </a:p>
        </p:txBody>
      </p:sp>
      <p:sp>
        <p:nvSpPr>
          <p:cNvPr id="12" name="TextBox 11"/>
          <p:cNvSpPr txBox="1"/>
          <p:nvPr/>
        </p:nvSpPr>
        <p:spPr>
          <a:xfrm>
            <a:off x="667512" y="1325880"/>
            <a:ext cx="7132320" cy="457200"/>
          </a:xfrm>
          <a:prstGeom prst="rect">
            <a:avLst/>
          </a:prstGeom>
          <a:noFill/>
        </p:spPr>
        <p:txBody>
          <a:bodyPr wrap="square" lIns="0" tIns="0" rIns="0" bIns="0" anchor="t">
            <a:spAutoFit/>
          </a:bodyPr>
          <a:lstStyle/>
          <a:p>
            <a:pPr algn="l">
              <a:lnSpc>
                <a:spcPct val="145000"/>
              </a:lnSpc>
            </a:pPr>
            <a:r>
              <a:rPr sz="800" b="0" i="0">
                <a:solidFill>
                  <a:srgbClr val="4A5668"/>
                </a:solidFill>
                <a:latin typeface="Inter"/>
              </a:rPr>
              <a:t>Most past-due amounts are only a few days late. What costs time - and occasionally money - is the small set of accounts that need something other than a reminder, and today those are hard to spot.</a:t>
            </a:r>
          </a:p>
        </p:txBody>
      </p:sp>
      <p:sp>
        <p:nvSpPr>
          <p:cNvPr id="13" name="Rounded Rectangle 12"/>
          <p:cNvSpPr/>
          <p:nvPr/>
        </p:nvSpPr>
        <p:spPr>
          <a:xfrm>
            <a:off x="667512" y="1938528"/>
            <a:ext cx="1856231" cy="1874519"/>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938528"/>
            <a:ext cx="27432" cy="1874519"/>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 y="2103120"/>
            <a:ext cx="274320" cy="91440"/>
          </a:xfrm>
          <a:prstGeom prst="rect">
            <a:avLst/>
          </a:prstGeom>
          <a:noFill/>
        </p:spPr>
        <p:txBody>
          <a:bodyPr wrap="square" lIns="0" tIns="0" rIns="0" bIns="0" anchor="t">
            <a:spAutoFit/>
          </a:bodyPr>
          <a:lstStyle/>
          <a:p>
            <a:pPr algn="l">
              <a:lnSpc>
                <a:spcPct val="120000"/>
              </a:lnSpc>
            </a:pPr>
            <a:r>
              <a:rPr sz="550" b="1" i="0">
                <a:solidFill>
                  <a:srgbClr val="9A5620"/>
                </a:solidFill>
                <a:latin typeface="JetBrains Mono"/>
              </a:rPr>
              <a:t>01</a:t>
            </a:r>
          </a:p>
        </p:txBody>
      </p:sp>
      <p:sp>
        <p:nvSpPr>
          <p:cNvPr id="16" name="TextBox 15"/>
          <p:cNvSpPr txBox="1"/>
          <p:nvPr/>
        </p:nvSpPr>
        <p:spPr>
          <a:xfrm>
            <a:off x="850392" y="2249424"/>
            <a:ext cx="1554480" cy="365760"/>
          </a:xfrm>
          <a:prstGeom prst="rect">
            <a:avLst/>
          </a:prstGeom>
          <a:noFill/>
        </p:spPr>
        <p:txBody>
          <a:bodyPr wrap="square" lIns="0" tIns="0" rIns="0" bIns="0" anchor="t">
            <a:spAutoFit/>
          </a:bodyPr>
          <a:lstStyle/>
          <a:p>
            <a:pPr algn="l">
              <a:lnSpc>
                <a:spcPct val="115000"/>
              </a:lnSpc>
            </a:pPr>
            <a:r>
              <a:rPr sz="940" b="1" i="0">
                <a:solidFill>
                  <a:srgbClr val="1A1A1E"/>
                </a:solidFill>
                <a:latin typeface="Inter"/>
              </a:rPr>
              <a:t>Blocked for a missing PO</a:t>
            </a:r>
          </a:p>
        </p:txBody>
      </p:sp>
      <p:sp>
        <p:nvSpPr>
          <p:cNvPr id="17" name="TextBox 16"/>
          <p:cNvSpPr txBox="1"/>
          <p:nvPr/>
        </p:nvSpPr>
        <p:spPr>
          <a:xfrm>
            <a:off x="850392" y="2670048"/>
            <a:ext cx="1572768" cy="82296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Customers hold payment until they receive a PO number. It is usually found only after several reminders.</a:t>
            </a:r>
          </a:p>
        </p:txBody>
      </p:sp>
      <p:sp>
        <p:nvSpPr>
          <p:cNvPr id="18" name="Rectangle 17"/>
          <p:cNvSpPr/>
          <p:nvPr/>
        </p:nvSpPr>
        <p:spPr>
          <a:xfrm>
            <a:off x="850392" y="3474720"/>
            <a:ext cx="1517904"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50392" y="3547872"/>
            <a:ext cx="1572768" cy="128016"/>
          </a:xfrm>
          <a:prstGeom prst="rect">
            <a:avLst/>
          </a:prstGeom>
          <a:noFill/>
        </p:spPr>
        <p:txBody>
          <a:bodyPr wrap="square" lIns="0" tIns="0" rIns="0" bIns="0" anchor="t">
            <a:spAutoFit/>
          </a:bodyPr>
          <a:lstStyle/>
          <a:p>
            <a:pPr algn="l">
              <a:lnSpc>
                <a:spcPct val="120000"/>
              </a:lnSpc>
            </a:pPr>
            <a:r>
              <a:rPr sz="580" b="1" i="0">
                <a:solidFill>
                  <a:srgbClr val="9A5620"/>
                </a:solidFill>
                <a:latin typeface="JetBrains Mono"/>
              </a:rPr>
              <a:t>Seen in: collector notes</a:t>
            </a:r>
          </a:p>
        </p:txBody>
      </p:sp>
      <p:sp>
        <p:nvSpPr>
          <p:cNvPr id="20" name="Rounded Rectangle 19"/>
          <p:cNvSpPr/>
          <p:nvPr/>
        </p:nvSpPr>
        <p:spPr>
          <a:xfrm>
            <a:off x="2642616" y="1938528"/>
            <a:ext cx="1856231" cy="1874519"/>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2642616" y="1938528"/>
            <a:ext cx="27432" cy="1874519"/>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825496" y="2103120"/>
            <a:ext cx="274320" cy="91440"/>
          </a:xfrm>
          <a:prstGeom prst="rect">
            <a:avLst/>
          </a:prstGeom>
          <a:noFill/>
        </p:spPr>
        <p:txBody>
          <a:bodyPr wrap="square" lIns="0" tIns="0" rIns="0" bIns="0" anchor="t">
            <a:spAutoFit/>
          </a:bodyPr>
          <a:lstStyle/>
          <a:p>
            <a:pPr algn="l">
              <a:lnSpc>
                <a:spcPct val="120000"/>
              </a:lnSpc>
            </a:pPr>
            <a:r>
              <a:rPr sz="550" b="1" i="0">
                <a:solidFill>
                  <a:srgbClr val="9A5620"/>
                </a:solidFill>
                <a:latin typeface="JetBrains Mono"/>
              </a:rPr>
              <a:t>02</a:t>
            </a:r>
          </a:p>
        </p:txBody>
      </p:sp>
      <p:sp>
        <p:nvSpPr>
          <p:cNvPr id="23" name="TextBox 22"/>
          <p:cNvSpPr txBox="1"/>
          <p:nvPr/>
        </p:nvSpPr>
        <p:spPr>
          <a:xfrm>
            <a:off x="2825496" y="2249424"/>
            <a:ext cx="1554480" cy="365760"/>
          </a:xfrm>
          <a:prstGeom prst="rect">
            <a:avLst/>
          </a:prstGeom>
          <a:noFill/>
        </p:spPr>
        <p:txBody>
          <a:bodyPr wrap="square" lIns="0" tIns="0" rIns="0" bIns="0" anchor="t">
            <a:spAutoFit/>
          </a:bodyPr>
          <a:lstStyle/>
          <a:p>
            <a:pPr algn="l">
              <a:lnSpc>
                <a:spcPct val="115000"/>
              </a:lnSpc>
            </a:pPr>
            <a:r>
              <a:rPr sz="940" b="1" i="0">
                <a:solidFill>
                  <a:srgbClr val="1A1A1E"/>
                </a:solidFill>
                <a:latin typeface="Inter"/>
              </a:rPr>
              <a:t>Chasing the wrong thing</a:t>
            </a:r>
          </a:p>
        </p:txBody>
      </p:sp>
      <p:sp>
        <p:nvSpPr>
          <p:cNvPr id="24" name="TextBox 23"/>
          <p:cNvSpPr txBox="1"/>
          <p:nvPr/>
        </p:nvSpPr>
        <p:spPr>
          <a:xfrm>
            <a:off x="2825496" y="2670048"/>
            <a:ext cx="1572768" cy="82296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Some 'overdue' customers are really in credit, or have paid without a remittance. A reminder is the wrong action.</a:t>
            </a:r>
          </a:p>
        </p:txBody>
      </p:sp>
      <p:sp>
        <p:nvSpPr>
          <p:cNvPr id="25" name="Rectangle 24"/>
          <p:cNvSpPr/>
          <p:nvPr/>
        </p:nvSpPr>
        <p:spPr>
          <a:xfrm>
            <a:off x="2825496" y="3474720"/>
            <a:ext cx="1517904"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2825496" y="3547872"/>
            <a:ext cx="1572768" cy="128016"/>
          </a:xfrm>
          <a:prstGeom prst="rect">
            <a:avLst/>
          </a:prstGeom>
          <a:noFill/>
        </p:spPr>
        <p:txBody>
          <a:bodyPr wrap="square" lIns="0" tIns="0" rIns="0" bIns="0" anchor="t">
            <a:spAutoFit/>
          </a:bodyPr>
          <a:lstStyle/>
          <a:p>
            <a:pPr algn="l">
              <a:lnSpc>
                <a:spcPct val="120000"/>
              </a:lnSpc>
            </a:pPr>
            <a:r>
              <a:rPr sz="580" b="1" i="0">
                <a:solidFill>
                  <a:srgbClr val="9A5620"/>
                </a:solidFill>
                <a:latin typeface="JetBrains Mono"/>
              </a:rPr>
              <a:t>Seen in: credit-balance report</a:t>
            </a:r>
          </a:p>
        </p:txBody>
      </p:sp>
      <p:sp>
        <p:nvSpPr>
          <p:cNvPr id="27" name="Rounded Rectangle 26"/>
          <p:cNvSpPr/>
          <p:nvPr/>
        </p:nvSpPr>
        <p:spPr>
          <a:xfrm>
            <a:off x="4617720" y="1938528"/>
            <a:ext cx="1856231" cy="1874519"/>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4617720" y="1938528"/>
            <a:ext cx="27432" cy="1874519"/>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800600" y="2103120"/>
            <a:ext cx="274320" cy="91440"/>
          </a:xfrm>
          <a:prstGeom prst="rect">
            <a:avLst/>
          </a:prstGeom>
          <a:noFill/>
        </p:spPr>
        <p:txBody>
          <a:bodyPr wrap="square" lIns="0" tIns="0" rIns="0" bIns="0" anchor="t">
            <a:spAutoFit/>
          </a:bodyPr>
          <a:lstStyle/>
          <a:p>
            <a:pPr algn="l">
              <a:lnSpc>
                <a:spcPct val="120000"/>
              </a:lnSpc>
            </a:pPr>
            <a:r>
              <a:rPr sz="550" b="1" i="0">
                <a:solidFill>
                  <a:srgbClr val="9A5620"/>
                </a:solidFill>
                <a:latin typeface="JetBrains Mono"/>
              </a:rPr>
              <a:t>03</a:t>
            </a:r>
          </a:p>
        </p:txBody>
      </p:sp>
      <p:sp>
        <p:nvSpPr>
          <p:cNvPr id="30" name="TextBox 29"/>
          <p:cNvSpPr txBox="1"/>
          <p:nvPr/>
        </p:nvSpPr>
        <p:spPr>
          <a:xfrm>
            <a:off x="4800600" y="2249424"/>
            <a:ext cx="1554480" cy="365760"/>
          </a:xfrm>
          <a:prstGeom prst="rect">
            <a:avLst/>
          </a:prstGeom>
          <a:noFill/>
        </p:spPr>
        <p:txBody>
          <a:bodyPr wrap="square" lIns="0" tIns="0" rIns="0" bIns="0" anchor="t">
            <a:spAutoFit/>
          </a:bodyPr>
          <a:lstStyle/>
          <a:p>
            <a:pPr algn="l">
              <a:lnSpc>
                <a:spcPct val="115000"/>
              </a:lnSpc>
            </a:pPr>
            <a:r>
              <a:rPr sz="940" b="1" i="0">
                <a:solidFill>
                  <a:srgbClr val="1A1A1E"/>
                </a:solidFill>
                <a:latin typeface="Inter"/>
              </a:rPr>
              <a:t>Promises and disputes in shorthand</a:t>
            </a:r>
          </a:p>
        </p:txBody>
      </p:sp>
      <p:sp>
        <p:nvSpPr>
          <p:cNvPr id="31" name="TextBox 30"/>
          <p:cNvSpPr txBox="1"/>
          <p:nvPr/>
        </p:nvSpPr>
        <p:spPr>
          <a:xfrm>
            <a:off x="4800600" y="2670048"/>
            <a:ext cx="1572768" cy="82296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Promise-to-pay dates, remittances and disputes are typed as notes. Nobody is alerted when a promise passes.</a:t>
            </a:r>
          </a:p>
        </p:txBody>
      </p:sp>
      <p:sp>
        <p:nvSpPr>
          <p:cNvPr id="32" name="Rectangle 31"/>
          <p:cNvSpPr/>
          <p:nvPr/>
        </p:nvSpPr>
        <p:spPr>
          <a:xfrm>
            <a:off x="4800600" y="3474720"/>
            <a:ext cx="1517904"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800600" y="3547872"/>
            <a:ext cx="1572768" cy="128016"/>
          </a:xfrm>
          <a:prstGeom prst="rect">
            <a:avLst/>
          </a:prstGeom>
          <a:noFill/>
        </p:spPr>
        <p:txBody>
          <a:bodyPr wrap="square" lIns="0" tIns="0" rIns="0" bIns="0" anchor="t">
            <a:spAutoFit/>
          </a:bodyPr>
          <a:lstStyle/>
          <a:p>
            <a:pPr algn="l">
              <a:lnSpc>
                <a:spcPct val="120000"/>
              </a:lnSpc>
            </a:pPr>
            <a:r>
              <a:rPr sz="580" b="1" i="0">
                <a:solidFill>
                  <a:srgbClr val="9A5620"/>
                </a:solidFill>
                <a:latin typeface="JetBrains Mono"/>
              </a:rPr>
              <a:t>Seen in: Text field</a:t>
            </a:r>
          </a:p>
        </p:txBody>
      </p:sp>
      <p:sp>
        <p:nvSpPr>
          <p:cNvPr id="34" name="Rounded Rectangle 33"/>
          <p:cNvSpPr/>
          <p:nvPr/>
        </p:nvSpPr>
        <p:spPr>
          <a:xfrm>
            <a:off x="6592824" y="1938528"/>
            <a:ext cx="1856231" cy="1874519"/>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6592824" y="1938528"/>
            <a:ext cx="27432" cy="1874519"/>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775704" y="2103120"/>
            <a:ext cx="274320" cy="91440"/>
          </a:xfrm>
          <a:prstGeom prst="rect">
            <a:avLst/>
          </a:prstGeom>
          <a:noFill/>
        </p:spPr>
        <p:txBody>
          <a:bodyPr wrap="square" lIns="0" tIns="0" rIns="0" bIns="0" anchor="t">
            <a:spAutoFit/>
          </a:bodyPr>
          <a:lstStyle/>
          <a:p>
            <a:pPr algn="l">
              <a:lnSpc>
                <a:spcPct val="120000"/>
              </a:lnSpc>
            </a:pPr>
            <a:r>
              <a:rPr sz="550" b="1" i="0">
                <a:solidFill>
                  <a:srgbClr val="9A5620"/>
                </a:solidFill>
                <a:latin typeface="JetBrains Mono"/>
              </a:rPr>
              <a:t>04</a:t>
            </a:r>
          </a:p>
        </p:txBody>
      </p:sp>
      <p:sp>
        <p:nvSpPr>
          <p:cNvPr id="37" name="TextBox 36"/>
          <p:cNvSpPr txBox="1"/>
          <p:nvPr/>
        </p:nvSpPr>
        <p:spPr>
          <a:xfrm>
            <a:off x="6775704" y="2249424"/>
            <a:ext cx="1554480" cy="365760"/>
          </a:xfrm>
          <a:prstGeom prst="rect">
            <a:avLst/>
          </a:prstGeom>
          <a:noFill/>
        </p:spPr>
        <p:txBody>
          <a:bodyPr wrap="square" lIns="0" tIns="0" rIns="0" bIns="0" anchor="t">
            <a:spAutoFit/>
          </a:bodyPr>
          <a:lstStyle/>
          <a:p>
            <a:pPr algn="l">
              <a:lnSpc>
                <a:spcPct val="115000"/>
              </a:lnSpc>
            </a:pPr>
            <a:r>
              <a:rPr sz="940" b="1" i="0">
                <a:solidFill>
                  <a:srgbClr val="1A1A1E"/>
                </a:solidFill>
                <a:latin typeface="Inter"/>
              </a:rPr>
              <a:t>Credit and reserve risk</a:t>
            </a:r>
          </a:p>
        </p:txBody>
      </p:sp>
      <p:sp>
        <p:nvSpPr>
          <p:cNvPr id="38" name="TextBox 37"/>
          <p:cNvSpPr txBox="1"/>
          <p:nvPr/>
        </p:nvSpPr>
        <p:spPr>
          <a:xfrm>
            <a:off x="6775704" y="2670048"/>
            <a:ext cx="1572768" cy="82296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Accounts above their credit limit, and items drifting towards the 31-day bad-debt reserve band.</a:t>
            </a:r>
          </a:p>
        </p:txBody>
      </p:sp>
      <p:sp>
        <p:nvSpPr>
          <p:cNvPr id="39" name="Rectangle 38"/>
          <p:cNvSpPr/>
          <p:nvPr/>
        </p:nvSpPr>
        <p:spPr>
          <a:xfrm>
            <a:off x="6775704" y="3474720"/>
            <a:ext cx="1517904"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775704" y="3547872"/>
            <a:ext cx="1572768" cy="128016"/>
          </a:xfrm>
          <a:prstGeom prst="rect">
            <a:avLst/>
          </a:prstGeom>
          <a:noFill/>
        </p:spPr>
        <p:txBody>
          <a:bodyPr wrap="square" lIns="0" tIns="0" rIns="0" bIns="0" anchor="t">
            <a:spAutoFit/>
          </a:bodyPr>
          <a:lstStyle/>
          <a:p>
            <a:pPr algn="l">
              <a:lnSpc>
                <a:spcPct val="120000"/>
              </a:lnSpc>
            </a:pPr>
            <a:r>
              <a:rPr sz="580" b="1" i="0">
                <a:solidFill>
                  <a:srgbClr val="9A5620"/>
                </a:solidFill>
                <a:latin typeface="JetBrains Mono"/>
              </a:rPr>
              <a:t>Seen in: exposure and reserve sheets</a:t>
            </a:r>
          </a:p>
        </p:txBody>
      </p:sp>
      <p:sp>
        <p:nvSpPr>
          <p:cNvPr id="41" name="Rounded Rectangle 40"/>
          <p:cNvSpPr/>
          <p:nvPr/>
        </p:nvSpPr>
        <p:spPr>
          <a:xfrm>
            <a:off x="667512" y="3977639"/>
            <a:ext cx="7808975" cy="457200"/>
          </a:xfrm>
          <a:prstGeom prst="roundRect">
            <a:avLst>
              <a:gd name="adj" fmla="val 25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59536" y="3977639"/>
            <a:ext cx="4572000" cy="457200"/>
          </a:xfrm>
          <a:prstGeom prst="rect">
            <a:avLst/>
          </a:prstGeom>
          <a:noFill/>
        </p:spPr>
        <p:txBody>
          <a:bodyPr wrap="square" lIns="0" tIns="0" rIns="0" bIns="0" anchor="ctr">
            <a:spAutoFit/>
          </a:bodyPr>
          <a:lstStyle/>
          <a:p>
            <a:pPr algn="l">
              <a:lnSpc>
                <a:spcPct val="130000"/>
              </a:lnSpc>
            </a:pPr>
            <a:r>
              <a:rPr sz="819" b="0" i="0">
                <a:solidFill>
                  <a:srgbClr val="4A5668"/>
                </a:solidFill>
                <a:latin typeface="Inter"/>
              </a:rPr>
              <a:t>The cost is collector time spent on the wrong accounts, and exceptions found late.</a:t>
            </a:r>
          </a:p>
        </p:txBody>
      </p:sp>
      <p:sp>
        <p:nvSpPr>
          <p:cNvPr id="43" name="TextBox 42"/>
          <p:cNvSpPr txBox="1"/>
          <p:nvPr/>
        </p:nvSpPr>
        <p:spPr>
          <a:xfrm>
            <a:off x="5486400" y="3977639"/>
            <a:ext cx="2834640" cy="457200"/>
          </a:xfrm>
          <a:prstGeom prst="rect">
            <a:avLst/>
          </a:prstGeom>
          <a:noFill/>
        </p:spPr>
        <p:txBody>
          <a:bodyPr wrap="square" lIns="0" tIns="0" rIns="0" bIns="0" anchor="ctr">
            <a:spAutoFit/>
          </a:bodyPr>
          <a:lstStyle/>
          <a:p>
            <a:pPr algn="r">
              <a:lnSpc>
                <a:spcPct val="130000"/>
              </a:lnSpc>
            </a:pPr>
            <a:r>
              <a:rPr sz="819" b="1" i="0">
                <a:solidFill>
                  <a:srgbClr val="9A5620"/>
                </a:solidFill>
                <a:latin typeface="Inter"/>
              </a:rPr>
              <a:t>The fix is the right next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WHAT WE HAVE TODAY</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04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Today's tools show the ledger.</a:t>
            </a:r>
          </a:p>
          <a:p>
            <a:pPr algn="l">
              <a:lnSpc>
                <a:spcPct val="115000"/>
              </a:lnSpc>
            </a:pPr>
            <a:r>
              <a:rPr sz="1780" b="1" i="0">
                <a:solidFill>
                  <a:srgbClr val="1A1A1E"/>
                </a:solidFill>
                <a:latin typeface="Inter"/>
              </a:rPr>
              <a:t>They don't decide the next action.</a:t>
            </a:r>
          </a:p>
        </p:txBody>
      </p:sp>
      <p:sp>
        <p:nvSpPr>
          <p:cNvPr id="12" name="Rounded Rectangle 11"/>
          <p:cNvSpPr/>
          <p:nvPr/>
        </p:nvSpPr>
        <p:spPr>
          <a:xfrm>
            <a:off x="667512" y="1417320"/>
            <a:ext cx="3749039" cy="29260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67512" y="1417320"/>
            <a:ext cx="27432" cy="2926080"/>
          </a:xfrm>
          <a:prstGeom prst="roundRect">
            <a:avLst>
              <a:gd name="adj" fmla="val 50000"/>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68680" y="1572768"/>
            <a:ext cx="3200400" cy="109728"/>
          </a:xfrm>
          <a:prstGeom prst="rect">
            <a:avLst/>
          </a:prstGeom>
          <a:noFill/>
        </p:spPr>
        <p:txBody>
          <a:bodyPr wrap="square" lIns="0" tIns="0" rIns="0" bIns="0" anchor="t">
            <a:spAutoFit/>
          </a:bodyPr>
          <a:lstStyle/>
          <a:p>
            <a:pPr algn="l">
              <a:lnSpc>
                <a:spcPct val="120000"/>
              </a:lnSpc>
            </a:pPr>
            <a:r>
              <a:rPr sz="550" b="1" i="0">
                <a:solidFill>
                  <a:srgbClr val="5A6472"/>
                </a:solidFill>
                <a:latin typeface="JetBrains Mono"/>
              </a:rPr>
              <a:t>TODAY</a:t>
            </a:r>
          </a:p>
        </p:txBody>
      </p:sp>
      <p:sp>
        <p:nvSpPr>
          <p:cNvPr id="15" name="TextBox 14"/>
          <p:cNvSpPr txBox="1"/>
          <p:nvPr/>
        </p:nvSpPr>
        <p:spPr>
          <a:xfrm>
            <a:off x="868680" y="1810512"/>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Weekly overdue report</a:t>
            </a:r>
          </a:p>
        </p:txBody>
      </p:sp>
      <p:sp>
        <p:nvSpPr>
          <p:cNvPr id="16" name="TextBox 15"/>
          <p:cNvSpPr txBox="1"/>
          <p:nvPr/>
        </p:nvSpPr>
        <p:spPr>
          <a:xfrm>
            <a:off x="868680" y="2002536"/>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Overdue items by accounting clerk, sorted by days overdue.</a:t>
            </a:r>
          </a:p>
        </p:txBody>
      </p:sp>
      <p:sp>
        <p:nvSpPr>
          <p:cNvPr id="17" name="TextBox 16"/>
          <p:cNvSpPr txBox="1"/>
          <p:nvPr/>
        </p:nvSpPr>
        <p:spPr>
          <a:xfrm>
            <a:off x="868680" y="2414016"/>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Standard dunning</a:t>
            </a:r>
          </a:p>
        </p:txBody>
      </p:sp>
      <p:sp>
        <p:nvSpPr>
          <p:cNvPr id="18" name="TextBox 17"/>
          <p:cNvSpPr txBox="1"/>
          <p:nvPr/>
        </p:nvSpPr>
        <p:spPr>
          <a:xfrm>
            <a:off x="868680" y="2606040"/>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Reminder letters from the ERP (setup to be confirmed).</a:t>
            </a:r>
          </a:p>
        </p:txBody>
      </p:sp>
      <p:sp>
        <p:nvSpPr>
          <p:cNvPr id="19" name="TextBox 18"/>
          <p:cNvSpPr txBox="1"/>
          <p:nvPr/>
        </p:nvSpPr>
        <p:spPr>
          <a:xfrm>
            <a:off x="868680" y="3017520"/>
            <a:ext cx="3383280" cy="146304"/>
          </a:xfrm>
          <a:prstGeom prst="rect">
            <a:avLst/>
          </a:prstGeom>
          <a:noFill/>
        </p:spPr>
        <p:txBody>
          <a:bodyPr wrap="square" lIns="0" tIns="0" rIns="0" bIns="0" anchor="t">
            <a:spAutoFit/>
          </a:bodyPr>
          <a:lstStyle/>
          <a:p>
            <a:pPr algn="l">
              <a:lnSpc>
                <a:spcPct val="120000"/>
              </a:lnSpc>
            </a:pPr>
            <a:r>
              <a:rPr lang="en-US" sz="840" b="1" i="0" dirty="0">
                <a:solidFill>
                  <a:srgbClr val="1A1A1E"/>
                </a:solidFill>
                <a:latin typeface="Inter"/>
              </a:rPr>
              <a:t>Dashboard</a:t>
            </a:r>
            <a:r>
              <a:rPr sz="840" b="1" i="0" dirty="0">
                <a:solidFill>
                  <a:srgbClr val="1A1A1E"/>
                </a:solidFill>
                <a:latin typeface="Inter"/>
              </a:rPr>
              <a:t> sheets</a:t>
            </a:r>
          </a:p>
        </p:txBody>
      </p:sp>
      <p:sp>
        <p:nvSpPr>
          <p:cNvPr id="20" name="TextBox 19"/>
          <p:cNvSpPr txBox="1"/>
          <p:nvPr/>
        </p:nvSpPr>
        <p:spPr>
          <a:xfrm>
            <a:off x="868680" y="3209544"/>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Ageing, month-end, credit exposure, bad-debt reserve, credit balances.</a:t>
            </a:r>
          </a:p>
        </p:txBody>
      </p:sp>
      <p:sp>
        <p:nvSpPr>
          <p:cNvPr id="21" name="TextBox 20"/>
          <p:cNvSpPr txBox="1"/>
          <p:nvPr/>
        </p:nvSpPr>
        <p:spPr>
          <a:xfrm>
            <a:off x="868680" y="3621024"/>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Collector notes</a:t>
            </a:r>
          </a:p>
        </p:txBody>
      </p:sp>
      <p:sp>
        <p:nvSpPr>
          <p:cNvPr id="22" name="TextBox 21"/>
          <p:cNvSpPr txBox="1"/>
          <p:nvPr/>
        </p:nvSpPr>
        <p:spPr>
          <a:xfrm>
            <a:off x="868680" y="3813048"/>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Free-text shorthand per invoice: reminders, P2P dates, R/A, disputes.</a:t>
            </a:r>
          </a:p>
        </p:txBody>
      </p:sp>
      <p:sp>
        <p:nvSpPr>
          <p:cNvPr id="23" name="Rounded Rectangle 22"/>
          <p:cNvSpPr/>
          <p:nvPr/>
        </p:nvSpPr>
        <p:spPr>
          <a:xfrm>
            <a:off x="4727448" y="1417320"/>
            <a:ext cx="3749039" cy="29260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727448" y="1417320"/>
            <a:ext cx="27432" cy="292608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928616" y="1572768"/>
            <a:ext cx="3200400" cy="109728"/>
          </a:xfrm>
          <a:prstGeom prst="rect">
            <a:avLst/>
          </a:prstGeom>
          <a:noFill/>
        </p:spPr>
        <p:txBody>
          <a:bodyPr wrap="square" lIns="0" tIns="0" rIns="0" bIns="0" anchor="t">
            <a:spAutoFit/>
          </a:bodyPr>
          <a:lstStyle/>
          <a:p>
            <a:pPr algn="l">
              <a:lnSpc>
                <a:spcPct val="120000"/>
              </a:lnSpc>
            </a:pPr>
            <a:r>
              <a:rPr sz="550" b="1" i="0">
                <a:solidFill>
                  <a:srgbClr val="1428A0"/>
                </a:solidFill>
                <a:latin typeface="JetBrains Mono"/>
              </a:rPr>
              <a:t>WHAT THE COPILOT ADDS</a:t>
            </a:r>
          </a:p>
        </p:txBody>
      </p:sp>
      <p:sp>
        <p:nvSpPr>
          <p:cNvPr id="26" name="TextBox 25"/>
          <p:cNvSpPr txBox="1"/>
          <p:nvPr/>
        </p:nvSpPr>
        <p:spPr>
          <a:xfrm>
            <a:off x="4928616" y="1810512"/>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One list, every account, every week</a:t>
            </a:r>
          </a:p>
        </p:txBody>
      </p:sp>
      <p:sp>
        <p:nvSpPr>
          <p:cNvPr id="27" name="TextBox 26"/>
          <p:cNvSpPr txBox="1"/>
          <p:nvPr/>
        </p:nvSpPr>
        <p:spPr>
          <a:xfrm>
            <a:off x="4928616" y="2002536"/>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Combines the report, the sheets and the notes.</a:t>
            </a:r>
          </a:p>
        </p:txBody>
      </p:sp>
      <p:sp>
        <p:nvSpPr>
          <p:cNvPr id="28" name="TextBox 27"/>
          <p:cNvSpPr txBox="1"/>
          <p:nvPr/>
        </p:nvSpPr>
        <p:spPr>
          <a:xfrm>
            <a:off x="4928616" y="2414016"/>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The right action, not just 'overdue'</a:t>
            </a:r>
          </a:p>
        </p:txBody>
      </p:sp>
      <p:sp>
        <p:nvSpPr>
          <p:cNvPr id="29" name="TextBox 28"/>
          <p:cNvSpPr txBox="1"/>
          <p:nvPr/>
        </p:nvSpPr>
        <p:spPr>
          <a:xfrm>
            <a:off x="4928616" y="2606040"/>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Checks credits, unapplied cash, disputes, promises and limits first.</a:t>
            </a:r>
          </a:p>
        </p:txBody>
      </p:sp>
      <p:sp>
        <p:nvSpPr>
          <p:cNvPr id="30" name="TextBox 29"/>
          <p:cNvSpPr txBox="1"/>
          <p:nvPr/>
        </p:nvSpPr>
        <p:spPr>
          <a:xfrm>
            <a:off x="4928616" y="3017520"/>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Notes turned into status</a:t>
            </a:r>
          </a:p>
        </p:txBody>
      </p:sp>
      <p:sp>
        <p:nvSpPr>
          <p:cNvPr id="31" name="TextBox 30"/>
          <p:cNvSpPr txBox="1"/>
          <p:nvPr/>
        </p:nvSpPr>
        <p:spPr>
          <a:xfrm>
            <a:off x="4928616" y="3209544"/>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Reads the shorthand: promise passed, remittance received, dispute open.</a:t>
            </a:r>
          </a:p>
        </p:txBody>
      </p:sp>
      <p:sp>
        <p:nvSpPr>
          <p:cNvPr id="32" name="TextBox 31"/>
          <p:cNvSpPr txBox="1"/>
          <p:nvPr/>
        </p:nvSpPr>
        <p:spPr>
          <a:xfrm>
            <a:off x="4928616" y="3621024"/>
            <a:ext cx="3383280" cy="146304"/>
          </a:xfrm>
          <a:prstGeom prst="rect">
            <a:avLst/>
          </a:prstGeom>
          <a:noFill/>
        </p:spPr>
        <p:txBody>
          <a:bodyPr wrap="square" lIns="0" tIns="0" rIns="0" bIns="0" anchor="t">
            <a:spAutoFit/>
          </a:bodyPr>
          <a:lstStyle/>
          <a:p>
            <a:pPr algn="l">
              <a:lnSpc>
                <a:spcPct val="120000"/>
              </a:lnSpc>
            </a:pPr>
            <a:r>
              <a:rPr sz="840" b="1" i="0">
                <a:solidFill>
                  <a:srgbClr val="1A1A1E"/>
                </a:solidFill>
                <a:latin typeface="Inter"/>
              </a:rPr>
              <a:t>Words ready to send</a:t>
            </a:r>
          </a:p>
        </p:txBody>
      </p:sp>
      <p:sp>
        <p:nvSpPr>
          <p:cNvPr id="33" name="TextBox 32"/>
          <p:cNvSpPr txBox="1"/>
          <p:nvPr/>
        </p:nvSpPr>
        <p:spPr>
          <a:xfrm>
            <a:off x="4928616" y="3813048"/>
            <a:ext cx="3383280" cy="274320"/>
          </a:xfrm>
          <a:prstGeom prst="rect">
            <a:avLst/>
          </a:prstGeom>
          <a:noFill/>
        </p:spPr>
        <p:txBody>
          <a:bodyPr wrap="square" lIns="0" tIns="0" rIns="0" bIns="0" anchor="t">
            <a:spAutoFit/>
          </a:bodyPr>
          <a:lstStyle/>
          <a:p>
            <a:pPr algn="l">
              <a:lnSpc>
                <a:spcPct val="135000"/>
              </a:lnSpc>
            </a:pPr>
            <a:r>
              <a:rPr sz="660" b="0" i="0">
                <a:solidFill>
                  <a:srgbClr val="4A5668"/>
                </a:solidFill>
                <a:latin typeface="Inter"/>
              </a:rPr>
              <a:t>Brief before the call; reminder, PO request or check-in email.</a:t>
            </a:r>
          </a:p>
        </p:txBody>
      </p:sp>
      <p:sp>
        <p:nvSpPr>
          <p:cNvPr id="34" name="TextBox 33"/>
          <p:cNvSpPr txBox="1"/>
          <p:nvPr/>
        </p:nvSpPr>
        <p:spPr>
          <a:xfrm>
            <a:off x="4416552" y="2697480"/>
            <a:ext cx="310896" cy="274320"/>
          </a:xfrm>
          <a:prstGeom prst="rect">
            <a:avLst/>
          </a:prstGeom>
          <a:noFill/>
        </p:spPr>
        <p:txBody>
          <a:bodyPr wrap="square" lIns="0" tIns="0" rIns="0" bIns="0" anchor="t">
            <a:spAutoFit/>
          </a:bodyPr>
          <a:lstStyle/>
          <a:p>
            <a:pPr algn="ctr">
              <a:lnSpc>
                <a:spcPct val="120000"/>
              </a:lnSpc>
            </a:pPr>
            <a:r>
              <a:rPr sz="1600" b="1" i="0">
                <a:solidFill>
                  <a:srgbClr val="1428A0"/>
                </a:solidFill>
                <a:latin typeface="Inter"/>
              </a:rPr>
              <a:t>→</a:t>
            </a:r>
          </a:p>
        </p:txBody>
      </p:sp>
      <p:sp>
        <p:nvSpPr>
          <p:cNvPr id="35" name="TextBox 34"/>
          <p:cNvSpPr txBox="1"/>
          <p:nvPr/>
        </p:nvSpPr>
        <p:spPr>
          <a:xfrm>
            <a:off x="667512" y="4553712"/>
            <a:ext cx="7772400" cy="109728"/>
          </a:xfrm>
          <a:prstGeom prst="rect">
            <a:avLst/>
          </a:prstGeom>
          <a:noFill/>
        </p:spPr>
        <p:txBody>
          <a:bodyPr wrap="square" lIns="0" tIns="0" rIns="0" bIns="0" anchor="t">
            <a:spAutoFit/>
          </a:bodyPr>
          <a:lstStyle/>
          <a:p>
            <a:pPr algn="l">
              <a:lnSpc>
                <a:spcPct val="120000"/>
              </a:lnSpc>
            </a:pPr>
            <a:r>
              <a:rPr sz="550" b="0" i="1">
                <a:solidFill>
                  <a:srgbClr val="5A6472"/>
                </a:solidFill>
                <a:latin typeface="Inter"/>
              </a:rPr>
              <a:t>The copilot does not replace the reports or dunning - it reads the same data and turns it into a worklist.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THE DATA WE ALREADY HAVE</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05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The data it needs already exists.</a:t>
            </a:r>
          </a:p>
        </p:txBody>
      </p:sp>
      <p:sp>
        <p:nvSpPr>
          <p:cNvPr id="12" name="TextBox 11"/>
          <p:cNvSpPr txBox="1"/>
          <p:nvPr/>
        </p:nvSpPr>
        <p:spPr>
          <a:xfrm>
            <a:off x="667512" y="1005840"/>
            <a:ext cx="7132320" cy="457200"/>
          </a:xfrm>
          <a:prstGeom prst="rect">
            <a:avLst/>
          </a:prstGeom>
          <a:noFill/>
        </p:spPr>
        <p:txBody>
          <a:bodyPr wrap="square" lIns="0" tIns="0" rIns="0" bIns="0" anchor="t">
            <a:spAutoFit/>
          </a:bodyPr>
          <a:lstStyle/>
          <a:p>
            <a:pPr algn="l">
              <a:lnSpc>
                <a:spcPct val="145000"/>
              </a:lnSpc>
            </a:pPr>
            <a:r>
              <a:rPr sz="800" b="0" i="0">
                <a:solidFill>
                  <a:srgbClr val="4A5668"/>
                </a:solidFill>
                <a:latin typeface="Inter"/>
              </a:rPr>
              <a:t>Everything comes from the existing Power BI AR model, plus the credit limit already shown in Qlik. The copilot only reads - no new system, no extra data entry.</a:t>
            </a:r>
          </a:p>
        </p:txBody>
      </p:sp>
      <p:sp>
        <p:nvSpPr>
          <p:cNvPr id="13" name="Rounded Rectangle 12"/>
          <p:cNvSpPr/>
          <p:nvPr/>
        </p:nvSpPr>
        <p:spPr>
          <a:xfrm>
            <a:off x="667512" y="1600200"/>
            <a:ext cx="1856231" cy="20574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600200"/>
            <a:ext cx="27432" cy="20574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2103" y="1783080"/>
            <a:ext cx="1554480" cy="91440"/>
          </a:xfrm>
          <a:prstGeom prst="rect">
            <a:avLst/>
          </a:prstGeom>
          <a:noFill/>
        </p:spPr>
        <p:txBody>
          <a:bodyPr wrap="square" lIns="0" tIns="0" rIns="0" bIns="0" anchor="t">
            <a:spAutoFit/>
          </a:bodyPr>
          <a:lstStyle/>
          <a:p>
            <a:pPr algn="l">
              <a:lnSpc>
                <a:spcPct val="120000"/>
              </a:lnSpc>
            </a:pPr>
            <a:r>
              <a:rPr sz="530" b="1" i="0">
                <a:solidFill>
                  <a:srgbClr val="1428A0"/>
                </a:solidFill>
                <a:latin typeface="JetBrains Mono"/>
              </a:rPr>
              <a:t>SOURCE</a:t>
            </a:r>
          </a:p>
        </p:txBody>
      </p:sp>
      <p:sp>
        <p:nvSpPr>
          <p:cNvPr id="16" name="TextBox 15"/>
          <p:cNvSpPr txBox="1"/>
          <p:nvPr/>
        </p:nvSpPr>
        <p:spPr>
          <a:xfrm>
            <a:off x="832103" y="1938528"/>
            <a:ext cx="1600200" cy="201168"/>
          </a:xfrm>
          <a:prstGeom prst="rect">
            <a:avLst/>
          </a:prstGeom>
          <a:noFill/>
        </p:spPr>
        <p:txBody>
          <a:bodyPr wrap="square" lIns="0" tIns="0" rIns="0" bIns="0" anchor="t">
            <a:spAutoFit/>
          </a:bodyPr>
          <a:lstStyle/>
          <a:p>
            <a:pPr algn="l">
              <a:lnSpc>
                <a:spcPct val="120000"/>
              </a:lnSpc>
            </a:pPr>
            <a:r>
              <a:rPr sz="1000" b="1" i="0">
                <a:solidFill>
                  <a:srgbClr val="1A1A1E"/>
                </a:solidFill>
                <a:latin typeface="Inter"/>
              </a:rPr>
              <a:t>Invoice lines</a:t>
            </a:r>
          </a:p>
        </p:txBody>
      </p:sp>
      <p:sp>
        <p:nvSpPr>
          <p:cNvPr id="17" name="TextBox 16"/>
          <p:cNvSpPr txBox="1"/>
          <p:nvPr/>
        </p:nvSpPr>
        <p:spPr>
          <a:xfrm>
            <a:off x="832103" y="2240280"/>
            <a:ext cx="1572768" cy="50292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What is owed, when it was due, and how fast each customer really pays.</a:t>
            </a:r>
          </a:p>
        </p:txBody>
      </p:sp>
      <p:sp>
        <p:nvSpPr>
          <p:cNvPr id="18" name="Rectangle 17"/>
          <p:cNvSpPr/>
          <p:nvPr/>
        </p:nvSpPr>
        <p:spPr>
          <a:xfrm>
            <a:off x="832103" y="2788920"/>
            <a:ext cx="1536192"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32103" y="2880360"/>
            <a:ext cx="1572768" cy="731520"/>
          </a:xfrm>
          <a:prstGeom prst="rect">
            <a:avLst/>
          </a:prstGeom>
          <a:noFill/>
        </p:spPr>
        <p:txBody>
          <a:bodyPr wrap="square" lIns="0" tIns="0" rIns="0" bIns="0" anchor="t">
            <a:spAutoFit/>
          </a:bodyPr>
          <a:lstStyle/>
          <a:p>
            <a:pPr algn="l">
              <a:lnSpc>
                <a:spcPct val="145000"/>
              </a:lnSpc>
            </a:pPr>
            <a:r>
              <a:rPr sz="590" b="0" i="0">
                <a:solidFill>
                  <a:srgbClr val="5A6472"/>
                </a:solidFill>
                <a:latin typeface="JetBrains Mono"/>
              </a:rPr>
              <a:t>Amount · due date · days past due · terms · claim flag · PO number · reference · agreed vs actual days</a:t>
            </a:r>
          </a:p>
        </p:txBody>
      </p:sp>
      <p:sp>
        <p:nvSpPr>
          <p:cNvPr id="20" name="Rounded Rectangle 19"/>
          <p:cNvSpPr/>
          <p:nvPr/>
        </p:nvSpPr>
        <p:spPr>
          <a:xfrm>
            <a:off x="2642616" y="1600200"/>
            <a:ext cx="1856231" cy="20574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2642616" y="1600200"/>
            <a:ext cx="27432" cy="205740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807208" y="1783080"/>
            <a:ext cx="1554480" cy="91440"/>
          </a:xfrm>
          <a:prstGeom prst="rect">
            <a:avLst/>
          </a:prstGeom>
          <a:noFill/>
        </p:spPr>
        <p:txBody>
          <a:bodyPr wrap="square" lIns="0" tIns="0" rIns="0" bIns="0" anchor="t">
            <a:spAutoFit/>
          </a:bodyPr>
          <a:lstStyle/>
          <a:p>
            <a:pPr algn="l">
              <a:lnSpc>
                <a:spcPct val="120000"/>
              </a:lnSpc>
            </a:pPr>
            <a:r>
              <a:rPr sz="530" b="1" i="0">
                <a:solidFill>
                  <a:srgbClr val="5F8B2F"/>
                </a:solidFill>
                <a:latin typeface="JetBrains Mono"/>
              </a:rPr>
              <a:t>SOURCE</a:t>
            </a:r>
          </a:p>
        </p:txBody>
      </p:sp>
      <p:sp>
        <p:nvSpPr>
          <p:cNvPr id="23" name="TextBox 22"/>
          <p:cNvSpPr txBox="1"/>
          <p:nvPr/>
        </p:nvSpPr>
        <p:spPr>
          <a:xfrm>
            <a:off x="2807208" y="1938528"/>
            <a:ext cx="1600200" cy="201168"/>
          </a:xfrm>
          <a:prstGeom prst="rect">
            <a:avLst/>
          </a:prstGeom>
          <a:noFill/>
        </p:spPr>
        <p:txBody>
          <a:bodyPr wrap="square" lIns="0" tIns="0" rIns="0" bIns="0" anchor="t">
            <a:spAutoFit/>
          </a:bodyPr>
          <a:lstStyle/>
          <a:p>
            <a:pPr algn="l">
              <a:lnSpc>
                <a:spcPct val="120000"/>
              </a:lnSpc>
            </a:pPr>
            <a:r>
              <a:rPr sz="1000" b="1" i="0">
                <a:solidFill>
                  <a:srgbClr val="1A1A1E"/>
                </a:solidFill>
                <a:latin typeface="Inter"/>
              </a:rPr>
              <a:t>Collector notes</a:t>
            </a:r>
          </a:p>
        </p:txBody>
      </p:sp>
      <p:sp>
        <p:nvSpPr>
          <p:cNvPr id="24" name="TextBox 23"/>
          <p:cNvSpPr txBox="1"/>
          <p:nvPr/>
        </p:nvSpPr>
        <p:spPr>
          <a:xfrm>
            <a:off x="2807208" y="2240280"/>
            <a:ext cx="1572768" cy="50292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The Text field: reminders, promises to pay, remittances, disputes - in shorthand.</a:t>
            </a:r>
          </a:p>
        </p:txBody>
      </p:sp>
      <p:sp>
        <p:nvSpPr>
          <p:cNvPr id="25" name="Rectangle 24"/>
          <p:cNvSpPr/>
          <p:nvPr/>
        </p:nvSpPr>
        <p:spPr>
          <a:xfrm>
            <a:off x="2807208" y="2788920"/>
            <a:ext cx="1536192"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2807208" y="2880360"/>
            <a:ext cx="1572768" cy="731520"/>
          </a:xfrm>
          <a:prstGeom prst="rect">
            <a:avLst/>
          </a:prstGeom>
          <a:noFill/>
        </p:spPr>
        <p:txBody>
          <a:bodyPr wrap="square" lIns="0" tIns="0" rIns="0" bIns="0" anchor="t">
            <a:spAutoFit/>
          </a:bodyPr>
          <a:lstStyle/>
          <a:p>
            <a:pPr algn="l">
              <a:lnSpc>
                <a:spcPct val="145000"/>
              </a:lnSpc>
            </a:pPr>
            <a:r>
              <a:rPr sz="590" b="0" i="0">
                <a:solidFill>
                  <a:srgbClr val="5A6472"/>
                </a:solidFill>
                <a:latin typeface="JetBrains Mono"/>
              </a:rPr>
              <a:t>e.g. 13.09 P2P 17.09 · 28.08 R/A received · resdiff: rebate netted</a:t>
            </a:r>
          </a:p>
        </p:txBody>
      </p:sp>
      <p:sp>
        <p:nvSpPr>
          <p:cNvPr id="27" name="Rounded Rectangle 26"/>
          <p:cNvSpPr/>
          <p:nvPr/>
        </p:nvSpPr>
        <p:spPr>
          <a:xfrm>
            <a:off x="4617720" y="1600200"/>
            <a:ext cx="1856231" cy="20574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4617720" y="1600200"/>
            <a:ext cx="27432" cy="20574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782312" y="1783080"/>
            <a:ext cx="1554480" cy="91440"/>
          </a:xfrm>
          <a:prstGeom prst="rect">
            <a:avLst/>
          </a:prstGeom>
          <a:noFill/>
        </p:spPr>
        <p:txBody>
          <a:bodyPr wrap="square" lIns="0" tIns="0" rIns="0" bIns="0" anchor="t">
            <a:spAutoFit/>
          </a:bodyPr>
          <a:lstStyle/>
          <a:p>
            <a:pPr algn="l">
              <a:lnSpc>
                <a:spcPct val="120000"/>
              </a:lnSpc>
            </a:pPr>
            <a:r>
              <a:rPr sz="530" b="1" i="0">
                <a:solidFill>
                  <a:srgbClr val="1428A0"/>
                </a:solidFill>
                <a:latin typeface="JetBrains Mono"/>
              </a:rPr>
              <a:t>SOURCE</a:t>
            </a:r>
          </a:p>
        </p:txBody>
      </p:sp>
      <p:sp>
        <p:nvSpPr>
          <p:cNvPr id="30" name="TextBox 29"/>
          <p:cNvSpPr txBox="1"/>
          <p:nvPr/>
        </p:nvSpPr>
        <p:spPr>
          <a:xfrm>
            <a:off x="4782312" y="1938528"/>
            <a:ext cx="1600200" cy="201168"/>
          </a:xfrm>
          <a:prstGeom prst="rect">
            <a:avLst/>
          </a:prstGeom>
          <a:noFill/>
        </p:spPr>
        <p:txBody>
          <a:bodyPr wrap="square" lIns="0" tIns="0" rIns="0" bIns="0" anchor="t">
            <a:spAutoFit/>
          </a:bodyPr>
          <a:lstStyle/>
          <a:p>
            <a:pPr algn="l">
              <a:lnSpc>
                <a:spcPct val="120000"/>
              </a:lnSpc>
            </a:pPr>
            <a:r>
              <a:rPr sz="1000" b="1" i="0">
                <a:solidFill>
                  <a:srgbClr val="1A1A1E"/>
                </a:solidFill>
                <a:latin typeface="Inter"/>
              </a:rPr>
              <a:t>Customers</a:t>
            </a:r>
          </a:p>
        </p:txBody>
      </p:sp>
      <p:sp>
        <p:nvSpPr>
          <p:cNvPr id="31" name="TextBox 30"/>
          <p:cNvSpPr txBox="1"/>
          <p:nvPr/>
        </p:nvSpPr>
        <p:spPr>
          <a:xfrm>
            <a:off x="4782312" y="2240280"/>
            <a:ext cx="1572768" cy="50292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Who owns the account and how to address them.</a:t>
            </a:r>
          </a:p>
        </p:txBody>
      </p:sp>
      <p:sp>
        <p:nvSpPr>
          <p:cNvPr id="32" name="Rectangle 31"/>
          <p:cNvSpPr/>
          <p:nvPr/>
        </p:nvSpPr>
        <p:spPr>
          <a:xfrm>
            <a:off x="4782312" y="2788920"/>
            <a:ext cx="1536192"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782312" y="2880360"/>
            <a:ext cx="1572768" cy="731520"/>
          </a:xfrm>
          <a:prstGeom prst="rect">
            <a:avLst/>
          </a:prstGeom>
          <a:noFill/>
        </p:spPr>
        <p:txBody>
          <a:bodyPr wrap="square" lIns="0" tIns="0" rIns="0" bIns="0" anchor="t">
            <a:spAutoFit/>
          </a:bodyPr>
          <a:lstStyle/>
          <a:p>
            <a:pPr algn="l">
              <a:lnSpc>
                <a:spcPct val="145000"/>
              </a:lnSpc>
            </a:pPr>
            <a:r>
              <a:rPr sz="590" b="0" i="0">
                <a:solidFill>
                  <a:srgbClr val="5A6472"/>
                </a:solidFill>
                <a:latin typeface="JetBrains Mono"/>
              </a:rPr>
              <a:t>Collector · country · customer type · credit limit (Qlik)</a:t>
            </a:r>
          </a:p>
        </p:txBody>
      </p:sp>
      <p:sp>
        <p:nvSpPr>
          <p:cNvPr id="34" name="Rounded Rectangle 33"/>
          <p:cNvSpPr/>
          <p:nvPr/>
        </p:nvSpPr>
        <p:spPr>
          <a:xfrm>
            <a:off x="6592824" y="1600200"/>
            <a:ext cx="1856231" cy="20574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6592824" y="1600200"/>
            <a:ext cx="27432" cy="20574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757416" y="1783080"/>
            <a:ext cx="1554480" cy="91440"/>
          </a:xfrm>
          <a:prstGeom prst="rect">
            <a:avLst/>
          </a:prstGeom>
          <a:noFill/>
        </p:spPr>
        <p:txBody>
          <a:bodyPr wrap="square" lIns="0" tIns="0" rIns="0" bIns="0" anchor="t">
            <a:spAutoFit/>
          </a:bodyPr>
          <a:lstStyle/>
          <a:p>
            <a:pPr algn="l">
              <a:lnSpc>
                <a:spcPct val="120000"/>
              </a:lnSpc>
            </a:pPr>
            <a:r>
              <a:rPr sz="530" b="1" i="0">
                <a:solidFill>
                  <a:srgbClr val="1428A0"/>
                </a:solidFill>
                <a:latin typeface="JetBrains Mono"/>
              </a:rPr>
              <a:t>SOURCE</a:t>
            </a:r>
          </a:p>
        </p:txBody>
      </p:sp>
      <p:sp>
        <p:nvSpPr>
          <p:cNvPr id="37" name="TextBox 36"/>
          <p:cNvSpPr txBox="1"/>
          <p:nvPr/>
        </p:nvSpPr>
        <p:spPr>
          <a:xfrm>
            <a:off x="6757416" y="1938528"/>
            <a:ext cx="1600200" cy="201168"/>
          </a:xfrm>
          <a:prstGeom prst="rect">
            <a:avLst/>
          </a:prstGeom>
          <a:noFill/>
        </p:spPr>
        <p:txBody>
          <a:bodyPr wrap="square" lIns="0" tIns="0" rIns="0" bIns="0" anchor="t">
            <a:spAutoFit/>
          </a:bodyPr>
          <a:lstStyle/>
          <a:p>
            <a:pPr algn="l">
              <a:lnSpc>
                <a:spcPct val="120000"/>
              </a:lnSpc>
            </a:pPr>
            <a:r>
              <a:rPr sz="1000" b="1" i="0">
                <a:solidFill>
                  <a:srgbClr val="1A1A1E"/>
                </a:solidFill>
                <a:latin typeface="Inter"/>
              </a:rPr>
              <a:t>Calendar and currency</a:t>
            </a:r>
          </a:p>
        </p:txBody>
      </p:sp>
      <p:sp>
        <p:nvSpPr>
          <p:cNvPr id="38" name="TextBox 37"/>
          <p:cNvSpPr txBox="1"/>
          <p:nvPr/>
        </p:nvSpPr>
        <p:spPr>
          <a:xfrm>
            <a:off x="6757416" y="2240280"/>
            <a:ext cx="1572768" cy="502920"/>
          </a:xfrm>
          <a:prstGeom prst="rect">
            <a:avLst/>
          </a:prstGeom>
          <a:noFill/>
        </p:spPr>
        <p:txBody>
          <a:bodyPr wrap="square" lIns="0" tIns="0" rIns="0" bIns="0" anchor="t">
            <a:spAutoFit/>
          </a:bodyPr>
          <a:lstStyle/>
          <a:p>
            <a:pPr algn="l">
              <a:lnSpc>
                <a:spcPct val="145000"/>
              </a:lnSpc>
            </a:pPr>
            <a:r>
              <a:rPr sz="650" b="0" i="0">
                <a:solidFill>
                  <a:srgbClr val="4A5668"/>
                </a:solidFill>
                <a:latin typeface="Inter"/>
              </a:rPr>
              <a:t>Weeks and months for trends; amounts in SEK or invoice currency.</a:t>
            </a:r>
          </a:p>
        </p:txBody>
      </p:sp>
      <p:sp>
        <p:nvSpPr>
          <p:cNvPr id="39" name="Rectangle 38"/>
          <p:cNvSpPr/>
          <p:nvPr/>
        </p:nvSpPr>
        <p:spPr>
          <a:xfrm>
            <a:off x="6757416" y="2788920"/>
            <a:ext cx="1536192"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757416" y="2880360"/>
            <a:ext cx="1572768" cy="731520"/>
          </a:xfrm>
          <a:prstGeom prst="rect">
            <a:avLst/>
          </a:prstGeom>
          <a:noFill/>
        </p:spPr>
        <p:txBody>
          <a:bodyPr wrap="square" lIns="0" tIns="0" rIns="0" bIns="0" anchor="t">
            <a:spAutoFit/>
          </a:bodyPr>
          <a:lstStyle/>
          <a:p>
            <a:pPr algn="l">
              <a:lnSpc>
                <a:spcPct val="145000"/>
              </a:lnSpc>
            </a:pPr>
            <a:r>
              <a:rPr sz="590" b="0" i="0">
                <a:solidFill>
                  <a:srgbClr val="5A6472"/>
                </a:solidFill>
                <a:latin typeface="JetBrains Mono"/>
              </a:rPr>
              <a:t>Week · month · quarter · currency</a:t>
            </a:r>
          </a:p>
        </p:txBody>
      </p:sp>
      <p:sp>
        <p:nvSpPr>
          <p:cNvPr id="41" name="Rounded Rectangle 40"/>
          <p:cNvSpPr/>
          <p:nvPr/>
        </p:nvSpPr>
        <p:spPr>
          <a:xfrm>
            <a:off x="667512" y="3858768"/>
            <a:ext cx="7808975" cy="457200"/>
          </a:xfrm>
          <a:prstGeom prst="roundRect">
            <a:avLst>
              <a:gd name="adj" fmla="val 25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59536" y="3858768"/>
            <a:ext cx="1645920" cy="457200"/>
          </a:xfrm>
          <a:prstGeom prst="rect">
            <a:avLst/>
          </a:prstGeom>
          <a:noFill/>
        </p:spPr>
        <p:txBody>
          <a:bodyPr wrap="square" lIns="0" tIns="0" rIns="0" bIns="0" anchor="ctr">
            <a:spAutoFit/>
          </a:bodyPr>
          <a:lstStyle/>
          <a:p>
            <a:pPr algn="l">
              <a:lnSpc>
                <a:spcPct val="120000"/>
              </a:lnSpc>
            </a:pPr>
            <a:r>
              <a:rPr sz="550" b="1" i="0">
                <a:solidFill>
                  <a:srgbClr val="1428A0"/>
                </a:solidFill>
                <a:latin typeface="JetBrains Mono"/>
              </a:rPr>
              <a:t>A QUESTION IT CAN ANSWER</a:t>
            </a:r>
          </a:p>
        </p:txBody>
      </p:sp>
      <p:sp>
        <p:nvSpPr>
          <p:cNvPr id="43" name="TextBox 42"/>
          <p:cNvSpPr txBox="1"/>
          <p:nvPr/>
        </p:nvSpPr>
        <p:spPr>
          <a:xfrm>
            <a:off x="2514600" y="3858768"/>
            <a:ext cx="5760720" cy="457200"/>
          </a:xfrm>
          <a:prstGeom prst="rect">
            <a:avLst/>
          </a:prstGeom>
          <a:noFill/>
        </p:spPr>
        <p:txBody>
          <a:bodyPr wrap="square" lIns="0" tIns="0" rIns="0" bIns="0" anchor="ctr">
            <a:spAutoFit/>
          </a:bodyPr>
          <a:lstStyle/>
          <a:p>
            <a:pPr algn="l">
              <a:lnSpc>
                <a:spcPct val="120000"/>
              </a:lnSpc>
            </a:pPr>
            <a:r>
              <a:rPr sz="880" b="1" i="0">
                <a:solidFill>
                  <a:srgbClr val="1A1A1E"/>
                </a:solidFill>
                <a:latin typeface="Inter"/>
              </a:rPr>
              <a:t>"Which overdue invoices are blocked because the PO is missing - and which promises passed this week?"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THE PROPOSAL</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06 / 16</a:t>
            </a:r>
          </a:p>
        </p:txBody>
      </p:sp>
      <p:sp>
        <p:nvSpPr>
          <p:cNvPr id="11" name="TextBox 10"/>
          <p:cNvSpPr txBox="1"/>
          <p:nvPr/>
        </p:nvSpPr>
        <p:spPr>
          <a:xfrm>
            <a:off x="649224" y="530352"/>
            <a:ext cx="5486400" cy="402336"/>
          </a:xfrm>
          <a:prstGeom prst="rect">
            <a:avLst/>
          </a:prstGeom>
          <a:noFill/>
        </p:spPr>
        <p:txBody>
          <a:bodyPr wrap="square" lIns="0" tIns="0" rIns="0" bIns="0" anchor="t">
            <a:spAutoFit/>
          </a:bodyPr>
          <a:lstStyle/>
          <a:p>
            <a:pPr algn="l">
              <a:lnSpc>
                <a:spcPct val="120000"/>
              </a:lnSpc>
            </a:pPr>
            <a:r>
              <a:rPr sz="1780" b="1" i="0">
                <a:solidFill>
                  <a:srgbClr val="1A1A1E"/>
                </a:solidFill>
                <a:latin typeface="Inter"/>
              </a:rPr>
              <a:t>Collections Copilot</a:t>
            </a:r>
          </a:p>
        </p:txBody>
      </p:sp>
      <p:sp>
        <p:nvSpPr>
          <p:cNvPr id="12" name="TextBox 11"/>
          <p:cNvSpPr txBox="1"/>
          <p:nvPr/>
        </p:nvSpPr>
        <p:spPr>
          <a:xfrm>
            <a:off x="649224" y="1042415"/>
            <a:ext cx="7772400" cy="402336"/>
          </a:xfrm>
          <a:prstGeom prst="rect">
            <a:avLst/>
          </a:prstGeom>
          <a:noFill/>
        </p:spPr>
        <p:txBody>
          <a:bodyPr wrap="square" lIns="0" tIns="0" rIns="0" bIns="0" anchor="t">
            <a:spAutoFit/>
          </a:bodyPr>
          <a:lstStyle/>
          <a:p>
            <a:pPr algn="l">
              <a:lnSpc>
                <a:spcPct val="120000"/>
              </a:lnSpc>
            </a:pPr>
            <a:r>
              <a:rPr sz="1450" b="0" i="0">
                <a:solidFill>
                  <a:srgbClr val="1A1A1E"/>
                </a:solidFill>
                <a:latin typeface="Inter"/>
              </a:rPr>
              <a:t>The right next action for every account, with the words ready.</a:t>
            </a:r>
          </a:p>
        </p:txBody>
      </p:sp>
      <p:sp>
        <p:nvSpPr>
          <p:cNvPr id="13" name="TextBox 12"/>
          <p:cNvSpPr txBox="1"/>
          <p:nvPr/>
        </p:nvSpPr>
        <p:spPr>
          <a:xfrm>
            <a:off x="667512" y="1554480"/>
            <a:ext cx="7589520" cy="457200"/>
          </a:xfrm>
          <a:prstGeom prst="rect">
            <a:avLst/>
          </a:prstGeom>
          <a:noFill/>
        </p:spPr>
        <p:txBody>
          <a:bodyPr wrap="square" lIns="0" tIns="0" rIns="0" bIns="0" anchor="t">
            <a:spAutoFit/>
          </a:bodyPr>
          <a:lstStyle/>
          <a:p>
            <a:pPr algn="l">
              <a:lnSpc>
                <a:spcPct val="150000"/>
              </a:lnSpc>
            </a:pPr>
            <a:r>
              <a:rPr sz="830" b="0" i="0">
                <a:solidFill>
                  <a:srgbClr val="4A5668"/>
                </a:solidFill>
                <a:latin typeface="Inter"/>
              </a:rPr>
              <a:t>Every week the copilot checks every account and its notes, </a:t>
            </a:r>
            <a:r>
              <a:rPr sz="830" b="1" i="0">
                <a:solidFill>
                  <a:srgbClr val="1A1A1E"/>
                </a:solidFill>
                <a:latin typeface="Inter"/>
              </a:rPr>
              <a:t>decides what each one needs - which is often not a reminder - and drafts the words.</a:t>
            </a:r>
            <a:r>
              <a:rPr sz="830" b="0" i="0">
                <a:solidFill>
                  <a:srgbClr val="4A5668"/>
                </a:solidFill>
                <a:latin typeface="Inter"/>
              </a:rPr>
              <a:t> The collector stays in charge of every contact.</a:t>
            </a:r>
          </a:p>
        </p:txBody>
      </p:sp>
      <p:sp>
        <p:nvSpPr>
          <p:cNvPr id="14" name="Rounded Rectangle 13"/>
          <p:cNvSpPr/>
          <p:nvPr/>
        </p:nvSpPr>
        <p:spPr>
          <a:xfrm>
            <a:off x="667512" y="2148840"/>
            <a:ext cx="2478024"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67512" y="2148840"/>
            <a:ext cx="27432" cy="11430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7824" y="2304288"/>
            <a:ext cx="274320" cy="91440"/>
          </a:xfrm>
          <a:prstGeom prst="rect">
            <a:avLst/>
          </a:prstGeom>
          <a:noFill/>
        </p:spPr>
        <p:txBody>
          <a:bodyPr wrap="square" lIns="0" tIns="0" rIns="0" bIns="0" anchor="t">
            <a:spAutoFit/>
          </a:bodyPr>
          <a:lstStyle/>
          <a:p>
            <a:pPr algn="l">
              <a:lnSpc>
                <a:spcPct val="120000"/>
              </a:lnSpc>
            </a:pPr>
            <a:r>
              <a:rPr sz="550" b="1" i="0">
                <a:solidFill>
                  <a:srgbClr val="1428A0"/>
                </a:solidFill>
                <a:latin typeface="JetBrains Mono"/>
              </a:rPr>
              <a:t>01</a:t>
            </a:r>
          </a:p>
        </p:txBody>
      </p:sp>
      <p:sp>
        <p:nvSpPr>
          <p:cNvPr id="17" name="TextBox 16"/>
          <p:cNvSpPr txBox="1"/>
          <p:nvPr/>
        </p:nvSpPr>
        <p:spPr>
          <a:xfrm>
            <a:off x="877824" y="2450592"/>
            <a:ext cx="2011680" cy="18288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Action list</a:t>
            </a:r>
          </a:p>
        </p:txBody>
      </p:sp>
      <p:sp>
        <p:nvSpPr>
          <p:cNvPr id="18" name="TextBox 17"/>
          <p:cNvSpPr txBox="1"/>
          <p:nvPr/>
        </p:nvSpPr>
        <p:spPr>
          <a:xfrm>
            <a:off x="877824" y="2724912"/>
            <a:ext cx="2103120" cy="502920"/>
          </a:xfrm>
          <a:prstGeom prst="rect">
            <a:avLst/>
          </a:prstGeom>
          <a:noFill/>
        </p:spPr>
        <p:txBody>
          <a:bodyPr wrap="square" lIns="0" tIns="0" rIns="0" bIns="0" anchor="t">
            <a:spAutoFit/>
          </a:bodyPr>
          <a:lstStyle/>
          <a:p>
            <a:pPr algn="l">
              <a:lnSpc>
                <a:spcPct val="145000"/>
              </a:lnSpc>
            </a:pPr>
            <a:r>
              <a:rPr sz="660" b="0" i="0">
                <a:solidFill>
                  <a:srgbClr val="4A5668"/>
                </a:solidFill>
                <a:latin typeface="Inter"/>
              </a:rPr>
              <a:t>Each account with one action and a plain-language reason, ordered by money and urgency.</a:t>
            </a:r>
          </a:p>
        </p:txBody>
      </p:sp>
      <p:sp>
        <p:nvSpPr>
          <p:cNvPr id="19" name="Rounded Rectangle 18"/>
          <p:cNvSpPr/>
          <p:nvPr/>
        </p:nvSpPr>
        <p:spPr>
          <a:xfrm>
            <a:off x="3310128" y="2148840"/>
            <a:ext cx="2478024"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3310128" y="2148840"/>
            <a:ext cx="27432" cy="11430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520440" y="2304288"/>
            <a:ext cx="274320" cy="91440"/>
          </a:xfrm>
          <a:prstGeom prst="rect">
            <a:avLst/>
          </a:prstGeom>
          <a:noFill/>
        </p:spPr>
        <p:txBody>
          <a:bodyPr wrap="square" lIns="0" tIns="0" rIns="0" bIns="0" anchor="t">
            <a:spAutoFit/>
          </a:bodyPr>
          <a:lstStyle/>
          <a:p>
            <a:pPr algn="l">
              <a:lnSpc>
                <a:spcPct val="120000"/>
              </a:lnSpc>
            </a:pPr>
            <a:r>
              <a:rPr sz="550" b="1" i="0">
                <a:solidFill>
                  <a:srgbClr val="1428A0"/>
                </a:solidFill>
                <a:latin typeface="JetBrains Mono"/>
              </a:rPr>
              <a:t>02</a:t>
            </a:r>
          </a:p>
        </p:txBody>
      </p:sp>
      <p:sp>
        <p:nvSpPr>
          <p:cNvPr id="22" name="TextBox 21"/>
          <p:cNvSpPr txBox="1"/>
          <p:nvPr/>
        </p:nvSpPr>
        <p:spPr>
          <a:xfrm>
            <a:off x="3520440" y="2450592"/>
            <a:ext cx="2011680" cy="18288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Account brief</a:t>
            </a:r>
          </a:p>
        </p:txBody>
      </p:sp>
      <p:sp>
        <p:nvSpPr>
          <p:cNvPr id="23" name="TextBox 22"/>
          <p:cNvSpPr txBox="1"/>
          <p:nvPr/>
        </p:nvSpPr>
        <p:spPr>
          <a:xfrm>
            <a:off x="3520440" y="2724912"/>
            <a:ext cx="2103120" cy="502920"/>
          </a:xfrm>
          <a:prstGeom prst="rect">
            <a:avLst/>
          </a:prstGeom>
          <a:noFill/>
        </p:spPr>
        <p:txBody>
          <a:bodyPr wrap="square" lIns="0" tIns="0" rIns="0" bIns="0" anchor="t">
            <a:spAutoFit/>
          </a:bodyPr>
          <a:lstStyle/>
          <a:p>
            <a:pPr algn="l">
              <a:lnSpc>
                <a:spcPct val="145000"/>
              </a:lnSpc>
            </a:pPr>
            <a:r>
              <a:rPr sz="660" b="0" i="0">
                <a:solidFill>
                  <a:srgbClr val="4A5668"/>
                </a:solidFill>
                <a:latin typeface="Inter"/>
              </a:rPr>
              <a:t>One screen before the call: balance, overdue items, payment trend, and a summary of the notes.</a:t>
            </a:r>
          </a:p>
        </p:txBody>
      </p:sp>
      <p:sp>
        <p:nvSpPr>
          <p:cNvPr id="24" name="Rounded Rectangle 23"/>
          <p:cNvSpPr/>
          <p:nvPr/>
        </p:nvSpPr>
        <p:spPr>
          <a:xfrm>
            <a:off x="5952744" y="2148840"/>
            <a:ext cx="2478024"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5952744" y="2148840"/>
            <a:ext cx="27432" cy="11430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163056" y="2304288"/>
            <a:ext cx="274320" cy="91440"/>
          </a:xfrm>
          <a:prstGeom prst="rect">
            <a:avLst/>
          </a:prstGeom>
          <a:noFill/>
        </p:spPr>
        <p:txBody>
          <a:bodyPr wrap="square" lIns="0" tIns="0" rIns="0" bIns="0" anchor="t">
            <a:spAutoFit/>
          </a:bodyPr>
          <a:lstStyle/>
          <a:p>
            <a:pPr algn="l">
              <a:lnSpc>
                <a:spcPct val="120000"/>
              </a:lnSpc>
            </a:pPr>
            <a:r>
              <a:rPr sz="550" b="1" i="0">
                <a:solidFill>
                  <a:srgbClr val="1428A0"/>
                </a:solidFill>
                <a:latin typeface="JetBrains Mono"/>
              </a:rPr>
              <a:t>03</a:t>
            </a:r>
          </a:p>
        </p:txBody>
      </p:sp>
      <p:sp>
        <p:nvSpPr>
          <p:cNvPr id="27" name="TextBox 26"/>
          <p:cNvSpPr txBox="1"/>
          <p:nvPr/>
        </p:nvSpPr>
        <p:spPr>
          <a:xfrm>
            <a:off x="6163056" y="2450592"/>
            <a:ext cx="2011680" cy="18288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Draft email</a:t>
            </a:r>
          </a:p>
        </p:txBody>
      </p:sp>
      <p:sp>
        <p:nvSpPr>
          <p:cNvPr id="28" name="TextBox 27"/>
          <p:cNvSpPr txBox="1"/>
          <p:nvPr/>
        </p:nvSpPr>
        <p:spPr>
          <a:xfrm>
            <a:off x="6163056" y="2724912"/>
            <a:ext cx="2103120" cy="502920"/>
          </a:xfrm>
          <a:prstGeom prst="rect">
            <a:avLst/>
          </a:prstGeom>
          <a:noFill/>
        </p:spPr>
        <p:txBody>
          <a:bodyPr wrap="square" lIns="0" tIns="0" rIns="0" bIns="0" anchor="t">
            <a:spAutoFit/>
          </a:bodyPr>
          <a:lstStyle/>
          <a:p>
            <a:pPr algn="l">
              <a:lnSpc>
                <a:spcPct val="145000"/>
              </a:lnSpc>
            </a:pPr>
            <a:r>
              <a:rPr sz="660" b="0" i="0">
                <a:solidFill>
                  <a:srgbClr val="4A5668"/>
                </a:solidFill>
                <a:latin typeface="Inter"/>
              </a:rPr>
              <a:t>Reminder, PO request or friendly check-in - in English or Swedish, with exact invoice details.</a:t>
            </a:r>
          </a:p>
        </p:txBody>
      </p:sp>
      <p:sp>
        <p:nvSpPr>
          <p:cNvPr id="29" name="TextBox 28"/>
          <p:cNvSpPr txBox="1"/>
          <p:nvPr/>
        </p:nvSpPr>
        <p:spPr>
          <a:xfrm>
            <a:off x="667512" y="3493008"/>
            <a:ext cx="4572000" cy="91440"/>
          </a:xfrm>
          <a:prstGeom prst="rect">
            <a:avLst/>
          </a:prstGeom>
          <a:noFill/>
        </p:spPr>
        <p:txBody>
          <a:bodyPr wrap="square" lIns="0" tIns="0" rIns="0" bIns="0" anchor="t">
            <a:spAutoFit/>
          </a:bodyPr>
          <a:lstStyle/>
          <a:p>
            <a:pPr algn="l">
              <a:lnSpc>
                <a:spcPct val="120000"/>
              </a:lnSpc>
            </a:pPr>
            <a:r>
              <a:rPr sz="550" b="1" i="0">
                <a:solidFill>
                  <a:srgbClr val="5A6472"/>
                </a:solidFill>
                <a:latin typeface="JetBrains Mono"/>
              </a:rPr>
              <a:t>THE ACTIONS IT CAN RECOMMEND</a:t>
            </a:r>
          </a:p>
        </p:txBody>
      </p:sp>
      <p:sp>
        <p:nvSpPr>
          <p:cNvPr id="30" name="Rounded Rectangle 29"/>
          <p:cNvSpPr/>
          <p:nvPr/>
        </p:nvSpPr>
        <p:spPr>
          <a:xfrm>
            <a:off x="667512" y="3675887"/>
            <a:ext cx="965606"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67512" y="3675887"/>
            <a:ext cx="965606"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Payment reminder</a:t>
            </a:r>
          </a:p>
        </p:txBody>
      </p:sp>
      <p:sp>
        <p:nvSpPr>
          <p:cNvPr id="32" name="Rounded Rectangle 31"/>
          <p:cNvSpPr/>
          <p:nvPr/>
        </p:nvSpPr>
        <p:spPr>
          <a:xfrm>
            <a:off x="1706270" y="3675887"/>
            <a:ext cx="1221638"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706270" y="3675887"/>
            <a:ext cx="1221638"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Reminder + request PO</a:t>
            </a:r>
          </a:p>
        </p:txBody>
      </p:sp>
      <p:sp>
        <p:nvSpPr>
          <p:cNvPr id="34" name="Rounded Rectangle 33"/>
          <p:cNvSpPr/>
          <p:nvPr/>
        </p:nvSpPr>
        <p:spPr>
          <a:xfrm>
            <a:off x="3001060" y="3675887"/>
            <a:ext cx="965606"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3001060" y="3675887"/>
            <a:ext cx="965606"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Pre-due reminder</a:t>
            </a:r>
          </a:p>
        </p:txBody>
      </p:sp>
      <p:sp>
        <p:nvSpPr>
          <p:cNvPr id="36" name="Rounded Rectangle 35"/>
          <p:cNvSpPr/>
          <p:nvPr/>
        </p:nvSpPr>
        <p:spPr>
          <a:xfrm>
            <a:off x="4039819" y="3675887"/>
            <a:ext cx="1016812" cy="182880"/>
          </a:xfrm>
          <a:prstGeom prst="roundRect">
            <a:avLst>
              <a:gd name="adj" fmla="val 50000"/>
            </a:avLst>
          </a:prstGeom>
          <a:solidFill>
            <a:srgbClr val="F4F6FA"/>
          </a:solidFill>
          <a:ln w="9525">
            <a:solidFill>
              <a:srgbClr val="5F8B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039819" y="3675887"/>
            <a:ext cx="1016812" cy="182880"/>
          </a:xfrm>
          <a:prstGeom prst="rect">
            <a:avLst/>
          </a:prstGeom>
          <a:noFill/>
        </p:spPr>
        <p:txBody>
          <a:bodyPr wrap="square" lIns="0" tIns="0" rIns="0" bIns="0" anchor="ctr">
            <a:spAutoFit/>
          </a:bodyPr>
          <a:lstStyle/>
          <a:p>
            <a:pPr algn="ctr">
              <a:lnSpc>
                <a:spcPct val="120000"/>
              </a:lnSpc>
            </a:pPr>
            <a:r>
              <a:rPr sz="600" b="1" i="0">
                <a:solidFill>
                  <a:srgbClr val="5F8B2F"/>
                </a:solidFill>
                <a:latin typeface="Inter"/>
              </a:rPr>
              <a:t>Friendly check-in</a:t>
            </a:r>
          </a:p>
        </p:txBody>
      </p:sp>
      <p:sp>
        <p:nvSpPr>
          <p:cNvPr id="38" name="Rounded Rectangle 37"/>
          <p:cNvSpPr/>
          <p:nvPr/>
        </p:nvSpPr>
        <p:spPr>
          <a:xfrm>
            <a:off x="5129784" y="3675887"/>
            <a:ext cx="1221638" cy="182880"/>
          </a:xfrm>
          <a:prstGeom prst="roundRect">
            <a:avLst>
              <a:gd name="adj" fmla="val 50000"/>
            </a:avLst>
          </a:prstGeom>
          <a:solidFill>
            <a:srgbClr val="F4F6FA"/>
          </a:solidFill>
          <a:ln w="9525">
            <a:solidFill>
              <a:srgbClr val="C1702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129784" y="3675887"/>
            <a:ext cx="1221638" cy="182880"/>
          </a:xfrm>
          <a:prstGeom prst="rect">
            <a:avLst/>
          </a:prstGeom>
          <a:noFill/>
        </p:spPr>
        <p:txBody>
          <a:bodyPr wrap="square" lIns="0" tIns="0" rIns="0" bIns="0" anchor="ctr">
            <a:spAutoFit/>
          </a:bodyPr>
          <a:lstStyle/>
          <a:p>
            <a:pPr algn="ctr">
              <a:lnSpc>
                <a:spcPct val="120000"/>
              </a:lnSpc>
            </a:pPr>
            <a:r>
              <a:rPr sz="600" b="1" i="0">
                <a:solidFill>
                  <a:srgbClr val="C1702D"/>
                </a:solidFill>
                <a:latin typeface="Inter"/>
              </a:rPr>
              <a:t>Resolve dispute first</a:t>
            </a:r>
          </a:p>
        </p:txBody>
      </p:sp>
      <p:sp>
        <p:nvSpPr>
          <p:cNvPr id="40" name="Rounded Rectangle 39"/>
          <p:cNvSpPr/>
          <p:nvPr/>
        </p:nvSpPr>
        <p:spPr>
          <a:xfrm>
            <a:off x="6424574" y="3675887"/>
            <a:ext cx="1324051" cy="182880"/>
          </a:xfrm>
          <a:prstGeom prst="roundRect">
            <a:avLst>
              <a:gd name="adj" fmla="val 50000"/>
            </a:avLst>
          </a:prstGeom>
          <a:solidFill>
            <a:srgbClr val="F4F6FA"/>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424574" y="3675887"/>
            <a:ext cx="1324051" cy="182880"/>
          </a:xfrm>
          <a:prstGeom prst="rect">
            <a:avLst/>
          </a:prstGeom>
          <a:noFill/>
        </p:spPr>
        <p:txBody>
          <a:bodyPr wrap="square" lIns="0" tIns="0" rIns="0" bIns="0" anchor="ctr">
            <a:spAutoFit/>
          </a:bodyPr>
          <a:lstStyle/>
          <a:p>
            <a:pPr algn="ctr">
              <a:lnSpc>
                <a:spcPct val="120000"/>
              </a:lnSpc>
            </a:pPr>
            <a:r>
              <a:rPr sz="600" b="1" i="0">
                <a:solidFill>
                  <a:srgbClr val="B03A2E"/>
                </a:solidFill>
                <a:latin typeface="Inter"/>
              </a:rPr>
              <a:t>Escalate broken promise</a:t>
            </a:r>
          </a:p>
        </p:txBody>
      </p:sp>
      <p:sp>
        <p:nvSpPr>
          <p:cNvPr id="42" name="Rounded Rectangle 41"/>
          <p:cNvSpPr/>
          <p:nvPr/>
        </p:nvSpPr>
        <p:spPr>
          <a:xfrm>
            <a:off x="667512" y="3922775"/>
            <a:ext cx="1324051" cy="182880"/>
          </a:xfrm>
          <a:prstGeom prst="roundRect">
            <a:avLst>
              <a:gd name="adj" fmla="val 50000"/>
            </a:avLst>
          </a:prstGeom>
          <a:solidFill>
            <a:srgbClr val="F4F6FA"/>
          </a:solidFill>
          <a:ln w="952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67512" y="3922775"/>
            <a:ext cx="1324051" cy="182880"/>
          </a:xfrm>
          <a:prstGeom prst="rect">
            <a:avLst/>
          </a:prstGeom>
          <a:noFill/>
        </p:spPr>
        <p:txBody>
          <a:bodyPr wrap="square" lIns="0" tIns="0" rIns="0" bIns="0" anchor="ctr">
            <a:spAutoFit/>
          </a:bodyPr>
          <a:lstStyle/>
          <a:p>
            <a:pPr algn="ctr">
              <a:lnSpc>
                <a:spcPct val="120000"/>
              </a:lnSpc>
            </a:pPr>
            <a:r>
              <a:rPr sz="600" b="1" i="0">
                <a:solidFill>
                  <a:srgbClr val="5A6472"/>
                </a:solidFill>
                <a:latin typeface="Inter"/>
              </a:rPr>
              <a:t>Allocate unapplied cash</a:t>
            </a:r>
          </a:p>
        </p:txBody>
      </p:sp>
      <p:sp>
        <p:nvSpPr>
          <p:cNvPr id="44" name="Rounded Rectangle 43"/>
          <p:cNvSpPr/>
          <p:nvPr/>
        </p:nvSpPr>
        <p:spPr>
          <a:xfrm>
            <a:off x="2064715" y="3922775"/>
            <a:ext cx="1733702" cy="182880"/>
          </a:xfrm>
          <a:prstGeom prst="roundRect">
            <a:avLst>
              <a:gd name="adj" fmla="val 50000"/>
            </a:avLst>
          </a:prstGeom>
          <a:solidFill>
            <a:srgbClr val="F4F6FA"/>
          </a:solidFill>
          <a:ln w="952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2064715" y="3922775"/>
            <a:ext cx="1733702" cy="182880"/>
          </a:xfrm>
          <a:prstGeom prst="rect">
            <a:avLst/>
          </a:prstGeom>
          <a:noFill/>
        </p:spPr>
        <p:txBody>
          <a:bodyPr wrap="square" lIns="0" tIns="0" rIns="0" bIns="0" anchor="ctr">
            <a:spAutoFit/>
          </a:bodyPr>
          <a:lstStyle/>
          <a:p>
            <a:pPr algn="ctr">
              <a:lnSpc>
                <a:spcPct val="120000"/>
              </a:lnSpc>
            </a:pPr>
            <a:r>
              <a:rPr sz="600" b="1" i="0">
                <a:solidFill>
                  <a:srgbClr val="5A6472"/>
                </a:solidFill>
                <a:latin typeface="Inter"/>
              </a:rPr>
              <a:t>Reconcile credits - don't chase</a:t>
            </a:r>
          </a:p>
        </p:txBody>
      </p:sp>
      <p:sp>
        <p:nvSpPr>
          <p:cNvPr id="46" name="Rounded Rectangle 45"/>
          <p:cNvSpPr/>
          <p:nvPr/>
        </p:nvSpPr>
        <p:spPr>
          <a:xfrm>
            <a:off x="3871569" y="3922775"/>
            <a:ext cx="1119225" cy="182880"/>
          </a:xfrm>
          <a:prstGeom prst="roundRect">
            <a:avLst>
              <a:gd name="adj" fmla="val 50000"/>
            </a:avLst>
          </a:prstGeom>
          <a:solidFill>
            <a:srgbClr val="F4F6FA"/>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3871569" y="3922775"/>
            <a:ext cx="1119225" cy="182880"/>
          </a:xfrm>
          <a:prstGeom prst="rect">
            <a:avLst/>
          </a:prstGeom>
          <a:noFill/>
        </p:spPr>
        <p:txBody>
          <a:bodyPr wrap="square" lIns="0" tIns="0" rIns="0" bIns="0" anchor="ctr">
            <a:spAutoFit/>
          </a:bodyPr>
          <a:lstStyle/>
          <a:p>
            <a:pPr algn="ctr">
              <a:lnSpc>
                <a:spcPct val="120000"/>
              </a:lnSpc>
            </a:pPr>
            <a:r>
              <a:rPr sz="600" b="1" i="0">
                <a:solidFill>
                  <a:srgbClr val="B03A2E"/>
                </a:solidFill>
                <a:latin typeface="Inter"/>
              </a:rPr>
              <a:t>Credit limit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HOW IT WORKS</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07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Rules do the maths and choose the action.</a:t>
            </a:r>
          </a:p>
          <a:p>
            <a:pPr algn="l">
              <a:lnSpc>
                <a:spcPct val="115000"/>
              </a:lnSpc>
            </a:pPr>
            <a:r>
              <a:rPr sz="1780" b="1" i="0">
                <a:solidFill>
                  <a:srgbClr val="1A1A1E"/>
                </a:solidFill>
                <a:latin typeface="Inter"/>
              </a:rPr>
              <a:t>GenAI reads the notes and writes the words.</a:t>
            </a:r>
          </a:p>
        </p:txBody>
      </p:sp>
      <p:sp>
        <p:nvSpPr>
          <p:cNvPr id="12" name="TextBox 11"/>
          <p:cNvSpPr txBox="1"/>
          <p:nvPr/>
        </p:nvSpPr>
        <p:spPr>
          <a:xfrm>
            <a:off x="722376" y="1417320"/>
            <a:ext cx="18288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1</a:t>
            </a:r>
          </a:p>
        </p:txBody>
      </p:sp>
      <p:sp>
        <p:nvSpPr>
          <p:cNvPr id="13" name="TextBox 12"/>
          <p:cNvSpPr txBox="1"/>
          <p:nvPr/>
        </p:nvSpPr>
        <p:spPr>
          <a:xfrm>
            <a:off x="996696" y="1408176"/>
            <a:ext cx="137160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Read</a:t>
            </a:r>
          </a:p>
        </p:txBody>
      </p:sp>
      <p:sp>
        <p:nvSpPr>
          <p:cNvPr id="14" name="TextBox 13"/>
          <p:cNvSpPr txBox="1"/>
          <p:nvPr/>
        </p:nvSpPr>
        <p:spPr>
          <a:xfrm>
            <a:off x="2423160" y="1417320"/>
            <a:ext cx="4846320" cy="274320"/>
          </a:xfrm>
          <a:prstGeom prst="rect">
            <a:avLst/>
          </a:prstGeom>
          <a:noFill/>
        </p:spPr>
        <p:txBody>
          <a:bodyPr wrap="square" lIns="0" tIns="0" rIns="0" bIns="0" anchor="t">
            <a:spAutoFit/>
          </a:bodyPr>
          <a:lstStyle/>
          <a:p>
            <a:pPr algn="l">
              <a:lnSpc>
                <a:spcPct val="130000"/>
              </a:lnSpc>
            </a:pPr>
            <a:r>
              <a:rPr sz="680" b="0" i="0">
                <a:solidFill>
                  <a:srgbClr val="4A5668"/>
                </a:solidFill>
                <a:latin typeface="Inter"/>
              </a:rPr>
              <a:t>Open items, payment history, credit limit and collector notes from the AR model.</a:t>
            </a:r>
          </a:p>
        </p:txBody>
      </p:sp>
      <p:sp>
        <p:nvSpPr>
          <p:cNvPr id="15" name="Rounded Rectangle 14"/>
          <p:cNvSpPr/>
          <p:nvPr/>
        </p:nvSpPr>
        <p:spPr>
          <a:xfrm>
            <a:off x="7726679" y="1408176"/>
            <a:ext cx="731520" cy="155448"/>
          </a:xfrm>
          <a:prstGeom prst="roundRect">
            <a:avLst>
              <a:gd name="adj" fmla="val 50000"/>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26679" y="1408176"/>
            <a:ext cx="731520" cy="155448"/>
          </a:xfrm>
          <a:prstGeom prst="rect">
            <a:avLst/>
          </a:prstGeom>
          <a:noFill/>
        </p:spPr>
        <p:txBody>
          <a:bodyPr wrap="square" lIns="0" tIns="0" rIns="0" bIns="0" anchor="ctr">
            <a:spAutoFit/>
          </a:bodyPr>
          <a:lstStyle/>
          <a:p>
            <a:pPr algn="ctr">
              <a:lnSpc>
                <a:spcPct val="120000"/>
              </a:lnSpc>
            </a:pPr>
            <a:r>
              <a:rPr sz="530" b="1" i="0">
                <a:solidFill>
                  <a:srgbClr val="FFFFFF"/>
                </a:solidFill>
                <a:latin typeface="JetBrains Mono"/>
              </a:rPr>
              <a:t>DATA</a:t>
            </a:r>
          </a:p>
        </p:txBody>
      </p:sp>
      <p:sp>
        <p:nvSpPr>
          <p:cNvPr id="17" name="Rectangle 16"/>
          <p:cNvSpPr/>
          <p:nvPr/>
        </p:nvSpPr>
        <p:spPr>
          <a:xfrm>
            <a:off x="667512" y="1719072"/>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22376" y="1847088"/>
            <a:ext cx="18288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2</a:t>
            </a:r>
          </a:p>
        </p:txBody>
      </p:sp>
      <p:sp>
        <p:nvSpPr>
          <p:cNvPr id="19" name="TextBox 18"/>
          <p:cNvSpPr txBox="1"/>
          <p:nvPr/>
        </p:nvSpPr>
        <p:spPr>
          <a:xfrm>
            <a:off x="996696" y="1837944"/>
            <a:ext cx="137160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Calculate</a:t>
            </a:r>
          </a:p>
        </p:txBody>
      </p:sp>
      <p:sp>
        <p:nvSpPr>
          <p:cNvPr id="20" name="TextBox 19"/>
          <p:cNvSpPr txBox="1"/>
          <p:nvPr/>
        </p:nvSpPr>
        <p:spPr>
          <a:xfrm>
            <a:off x="2423160" y="1847088"/>
            <a:ext cx="4846320" cy="274320"/>
          </a:xfrm>
          <a:prstGeom prst="rect">
            <a:avLst/>
          </a:prstGeom>
          <a:noFill/>
        </p:spPr>
        <p:txBody>
          <a:bodyPr wrap="square" lIns="0" tIns="0" rIns="0" bIns="0" anchor="t">
            <a:spAutoFit/>
          </a:bodyPr>
          <a:lstStyle/>
          <a:p>
            <a:pPr algn="l">
              <a:lnSpc>
                <a:spcPct val="130000"/>
              </a:lnSpc>
            </a:pPr>
            <a:r>
              <a:rPr sz="680" b="0" i="0">
                <a:solidFill>
                  <a:srgbClr val="4A5668"/>
                </a:solidFill>
                <a:latin typeface="Inter"/>
              </a:rPr>
              <a:t>Overdue amounts, days late, payment trend vs the customer's own history, credits, cash on account.</a:t>
            </a:r>
          </a:p>
        </p:txBody>
      </p:sp>
      <p:sp>
        <p:nvSpPr>
          <p:cNvPr id="21" name="Rounded Rectangle 20"/>
          <p:cNvSpPr/>
          <p:nvPr/>
        </p:nvSpPr>
        <p:spPr>
          <a:xfrm>
            <a:off x="7726679" y="1837944"/>
            <a:ext cx="731520" cy="155448"/>
          </a:xfrm>
          <a:prstGeom prst="roundRect">
            <a:avLst>
              <a:gd name="adj" fmla="val 50000"/>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726679" y="1837944"/>
            <a:ext cx="731520" cy="155448"/>
          </a:xfrm>
          <a:prstGeom prst="rect">
            <a:avLst/>
          </a:prstGeom>
          <a:noFill/>
        </p:spPr>
        <p:txBody>
          <a:bodyPr wrap="square" lIns="0" tIns="0" rIns="0" bIns="0" anchor="ctr">
            <a:spAutoFit/>
          </a:bodyPr>
          <a:lstStyle/>
          <a:p>
            <a:pPr algn="ctr">
              <a:lnSpc>
                <a:spcPct val="120000"/>
              </a:lnSpc>
            </a:pPr>
            <a:r>
              <a:rPr sz="530" b="1" i="0">
                <a:solidFill>
                  <a:srgbClr val="FFFFFF"/>
                </a:solidFill>
                <a:latin typeface="JetBrains Mono"/>
              </a:rPr>
              <a:t>RULES</a:t>
            </a:r>
          </a:p>
        </p:txBody>
      </p:sp>
      <p:sp>
        <p:nvSpPr>
          <p:cNvPr id="23" name="Rectangle 22"/>
          <p:cNvSpPr/>
          <p:nvPr/>
        </p:nvSpPr>
        <p:spPr>
          <a:xfrm>
            <a:off x="667512" y="2148840"/>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30936" y="2185416"/>
            <a:ext cx="7882127" cy="384048"/>
          </a:xfrm>
          <a:prstGeom prst="roundRect">
            <a:avLst>
              <a:gd name="adj" fmla="val 15000"/>
            </a:avLst>
          </a:prstGeom>
          <a:solidFill>
            <a:srgbClr val="EE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22376" y="2276856"/>
            <a:ext cx="18288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3</a:t>
            </a:r>
          </a:p>
        </p:txBody>
      </p:sp>
      <p:sp>
        <p:nvSpPr>
          <p:cNvPr id="26" name="TextBox 25"/>
          <p:cNvSpPr txBox="1"/>
          <p:nvPr/>
        </p:nvSpPr>
        <p:spPr>
          <a:xfrm>
            <a:off x="996696" y="2267712"/>
            <a:ext cx="137160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Read the notes</a:t>
            </a:r>
          </a:p>
        </p:txBody>
      </p:sp>
      <p:sp>
        <p:nvSpPr>
          <p:cNvPr id="27" name="TextBox 26"/>
          <p:cNvSpPr txBox="1"/>
          <p:nvPr/>
        </p:nvSpPr>
        <p:spPr>
          <a:xfrm>
            <a:off x="2423160" y="2276856"/>
            <a:ext cx="4846320" cy="274320"/>
          </a:xfrm>
          <a:prstGeom prst="rect">
            <a:avLst/>
          </a:prstGeom>
          <a:noFill/>
        </p:spPr>
        <p:txBody>
          <a:bodyPr wrap="square" lIns="0" tIns="0" rIns="0" bIns="0" anchor="t">
            <a:spAutoFit/>
          </a:bodyPr>
          <a:lstStyle/>
          <a:p>
            <a:pPr algn="l">
              <a:lnSpc>
                <a:spcPct val="130000"/>
              </a:lnSpc>
            </a:pPr>
            <a:r>
              <a:rPr sz="680" b="0" i="0">
                <a:solidFill>
                  <a:srgbClr val="4A5668"/>
                </a:solidFill>
                <a:latin typeface="Inter"/>
              </a:rPr>
              <a:t>Turn shorthand into status: promise date and whether it passed, remittance received, dispute reason.</a:t>
            </a:r>
          </a:p>
        </p:txBody>
      </p:sp>
      <p:sp>
        <p:nvSpPr>
          <p:cNvPr id="28" name="Rounded Rectangle 27"/>
          <p:cNvSpPr/>
          <p:nvPr/>
        </p:nvSpPr>
        <p:spPr>
          <a:xfrm>
            <a:off x="7726679" y="2267712"/>
            <a:ext cx="731520" cy="155448"/>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726679" y="2267712"/>
            <a:ext cx="731520" cy="155448"/>
          </a:xfrm>
          <a:prstGeom prst="rect">
            <a:avLst/>
          </a:prstGeom>
          <a:noFill/>
        </p:spPr>
        <p:txBody>
          <a:bodyPr wrap="square" lIns="0" tIns="0" rIns="0" bIns="0" anchor="ctr">
            <a:spAutoFit/>
          </a:bodyPr>
          <a:lstStyle/>
          <a:p>
            <a:pPr algn="ctr">
              <a:lnSpc>
                <a:spcPct val="120000"/>
              </a:lnSpc>
            </a:pPr>
            <a:r>
              <a:rPr sz="530" b="1" i="0">
                <a:solidFill>
                  <a:srgbClr val="FFFFFF"/>
                </a:solidFill>
                <a:latin typeface="JetBrains Mono"/>
              </a:rPr>
              <a:t>GENAI</a:t>
            </a:r>
          </a:p>
        </p:txBody>
      </p:sp>
      <p:sp>
        <p:nvSpPr>
          <p:cNvPr id="30" name="Rectangle 29"/>
          <p:cNvSpPr/>
          <p:nvPr/>
        </p:nvSpPr>
        <p:spPr>
          <a:xfrm>
            <a:off x="667512" y="2578608"/>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22376" y="2706624"/>
            <a:ext cx="18288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4</a:t>
            </a:r>
          </a:p>
        </p:txBody>
      </p:sp>
      <p:sp>
        <p:nvSpPr>
          <p:cNvPr id="32" name="TextBox 31"/>
          <p:cNvSpPr txBox="1"/>
          <p:nvPr/>
        </p:nvSpPr>
        <p:spPr>
          <a:xfrm>
            <a:off x="996696" y="2697480"/>
            <a:ext cx="137160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Decide the action</a:t>
            </a:r>
          </a:p>
        </p:txBody>
      </p:sp>
      <p:sp>
        <p:nvSpPr>
          <p:cNvPr id="33" name="TextBox 32"/>
          <p:cNvSpPr txBox="1"/>
          <p:nvPr/>
        </p:nvSpPr>
        <p:spPr>
          <a:xfrm>
            <a:off x="2423160" y="2706624"/>
            <a:ext cx="4846320" cy="274320"/>
          </a:xfrm>
          <a:prstGeom prst="rect">
            <a:avLst/>
          </a:prstGeom>
          <a:noFill/>
        </p:spPr>
        <p:txBody>
          <a:bodyPr wrap="square" lIns="0" tIns="0" rIns="0" bIns="0" anchor="t">
            <a:spAutoFit/>
          </a:bodyPr>
          <a:lstStyle/>
          <a:p>
            <a:pPr algn="l">
              <a:lnSpc>
                <a:spcPct val="130000"/>
              </a:lnSpc>
            </a:pPr>
            <a:r>
              <a:rPr sz="680" b="0" i="0">
                <a:solidFill>
                  <a:srgbClr val="4A5668"/>
                </a:solidFill>
                <a:latin typeface="Inter"/>
              </a:rPr>
              <a:t>Fixed order: allocate cash › reconcile credits › broken promise › credit limit › dispute › reminder.</a:t>
            </a:r>
          </a:p>
        </p:txBody>
      </p:sp>
      <p:sp>
        <p:nvSpPr>
          <p:cNvPr id="34" name="Rounded Rectangle 33"/>
          <p:cNvSpPr/>
          <p:nvPr/>
        </p:nvSpPr>
        <p:spPr>
          <a:xfrm>
            <a:off x="7726679" y="2697480"/>
            <a:ext cx="731520" cy="155448"/>
          </a:xfrm>
          <a:prstGeom prst="roundRect">
            <a:avLst>
              <a:gd name="adj" fmla="val 50000"/>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726679" y="2697480"/>
            <a:ext cx="731520" cy="155448"/>
          </a:xfrm>
          <a:prstGeom prst="rect">
            <a:avLst/>
          </a:prstGeom>
          <a:noFill/>
        </p:spPr>
        <p:txBody>
          <a:bodyPr wrap="square" lIns="0" tIns="0" rIns="0" bIns="0" anchor="ctr">
            <a:spAutoFit/>
          </a:bodyPr>
          <a:lstStyle/>
          <a:p>
            <a:pPr algn="ctr">
              <a:lnSpc>
                <a:spcPct val="120000"/>
              </a:lnSpc>
            </a:pPr>
            <a:r>
              <a:rPr sz="530" b="1" i="0">
                <a:solidFill>
                  <a:srgbClr val="FFFFFF"/>
                </a:solidFill>
                <a:latin typeface="JetBrains Mono"/>
              </a:rPr>
              <a:t>RULES</a:t>
            </a:r>
          </a:p>
        </p:txBody>
      </p:sp>
      <p:sp>
        <p:nvSpPr>
          <p:cNvPr id="36" name="Rectangle 35"/>
          <p:cNvSpPr/>
          <p:nvPr/>
        </p:nvSpPr>
        <p:spPr>
          <a:xfrm>
            <a:off x="667512" y="3008376"/>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630936" y="3044951"/>
            <a:ext cx="7882127" cy="384048"/>
          </a:xfrm>
          <a:prstGeom prst="roundRect">
            <a:avLst>
              <a:gd name="adj" fmla="val 15000"/>
            </a:avLst>
          </a:prstGeom>
          <a:solidFill>
            <a:srgbClr val="EE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22376" y="3136391"/>
            <a:ext cx="18288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5</a:t>
            </a:r>
          </a:p>
        </p:txBody>
      </p:sp>
      <p:sp>
        <p:nvSpPr>
          <p:cNvPr id="39" name="TextBox 38"/>
          <p:cNvSpPr txBox="1"/>
          <p:nvPr/>
        </p:nvSpPr>
        <p:spPr>
          <a:xfrm>
            <a:off x="996696" y="3127248"/>
            <a:ext cx="137160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Write</a:t>
            </a:r>
          </a:p>
        </p:txBody>
      </p:sp>
      <p:sp>
        <p:nvSpPr>
          <p:cNvPr id="40" name="TextBox 39"/>
          <p:cNvSpPr txBox="1"/>
          <p:nvPr/>
        </p:nvSpPr>
        <p:spPr>
          <a:xfrm>
            <a:off x="2423160" y="3136391"/>
            <a:ext cx="4846320" cy="274320"/>
          </a:xfrm>
          <a:prstGeom prst="rect">
            <a:avLst/>
          </a:prstGeom>
          <a:noFill/>
        </p:spPr>
        <p:txBody>
          <a:bodyPr wrap="square" lIns="0" tIns="0" rIns="0" bIns="0" anchor="t">
            <a:spAutoFit/>
          </a:bodyPr>
          <a:lstStyle/>
          <a:p>
            <a:pPr algn="l">
              <a:lnSpc>
                <a:spcPct val="130000"/>
              </a:lnSpc>
            </a:pPr>
            <a:r>
              <a:rPr sz="680" b="0" i="0">
                <a:solidFill>
                  <a:srgbClr val="4A5668"/>
                </a:solidFill>
                <a:latin typeface="Inter"/>
              </a:rPr>
              <a:t>Brief, talking points and email wording - from the calculated facts only.</a:t>
            </a:r>
          </a:p>
        </p:txBody>
      </p:sp>
      <p:sp>
        <p:nvSpPr>
          <p:cNvPr id="41" name="Rounded Rectangle 40"/>
          <p:cNvSpPr/>
          <p:nvPr/>
        </p:nvSpPr>
        <p:spPr>
          <a:xfrm>
            <a:off x="7726679" y="3127248"/>
            <a:ext cx="731520" cy="155448"/>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726679" y="3127248"/>
            <a:ext cx="731520" cy="155448"/>
          </a:xfrm>
          <a:prstGeom prst="rect">
            <a:avLst/>
          </a:prstGeom>
          <a:noFill/>
        </p:spPr>
        <p:txBody>
          <a:bodyPr wrap="square" lIns="0" tIns="0" rIns="0" bIns="0" anchor="ctr">
            <a:spAutoFit/>
          </a:bodyPr>
          <a:lstStyle/>
          <a:p>
            <a:pPr algn="ctr">
              <a:lnSpc>
                <a:spcPct val="120000"/>
              </a:lnSpc>
            </a:pPr>
            <a:r>
              <a:rPr sz="530" b="1" i="0">
                <a:solidFill>
                  <a:srgbClr val="FFFFFF"/>
                </a:solidFill>
                <a:latin typeface="JetBrains Mono"/>
              </a:rPr>
              <a:t>GENAI</a:t>
            </a:r>
          </a:p>
        </p:txBody>
      </p:sp>
      <p:sp>
        <p:nvSpPr>
          <p:cNvPr id="43" name="Rectangle 42"/>
          <p:cNvSpPr/>
          <p:nvPr/>
        </p:nvSpPr>
        <p:spPr>
          <a:xfrm>
            <a:off x="667512" y="3438144"/>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22376" y="3566159"/>
            <a:ext cx="182880" cy="146304"/>
          </a:xfrm>
          <a:prstGeom prst="rect">
            <a:avLst/>
          </a:prstGeom>
          <a:noFill/>
        </p:spPr>
        <p:txBody>
          <a:bodyPr wrap="square" lIns="0" tIns="0" rIns="0" bIns="0" anchor="t">
            <a:spAutoFit/>
          </a:bodyPr>
          <a:lstStyle/>
          <a:p>
            <a:pPr algn="l">
              <a:lnSpc>
                <a:spcPct val="120000"/>
              </a:lnSpc>
            </a:pPr>
            <a:r>
              <a:rPr sz="780" b="1" i="0">
                <a:solidFill>
                  <a:srgbClr val="2A5C9E"/>
                </a:solidFill>
                <a:latin typeface="JetBrains Mono"/>
              </a:rPr>
              <a:t>6</a:t>
            </a:r>
          </a:p>
        </p:txBody>
      </p:sp>
      <p:sp>
        <p:nvSpPr>
          <p:cNvPr id="45" name="TextBox 44"/>
          <p:cNvSpPr txBox="1"/>
          <p:nvPr/>
        </p:nvSpPr>
        <p:spPr>
          <a:xfrm>
            <a:off x="996696" y="3557015"/>
            <a:ext cx="1371600" cy="164592"/>
          </a:xfrm>
          <a:prstGeom prst="rect">
            <a:avLst/>
          </a:prstGeom>
          <a:noFill/>
        </p:spPr>
        <p:txBody>
          <a:bodyPr wrap="square" lIns="0" tIns="0" rIns="0" bIns="0" anchor="t">
            <a:spAutoFit/>
          </a:bodyPr>
          <a:lstStyle/>
          <a:p>
            <a:pPr algn="l">
              <a:lnSpc>
                <a:spcPct val="120000"/>
              </a:lnSpc>
            </a:pPr>
            <a:r>
              <a:rPr sz="890" b="1" i="0">
                <a:solidFill>
                  <a:srgbClr val="1A1A1E"/>
                </a:solidFill>
                <a:latin typeface="Inter"/>
              </a:rPr>
              <a:t>Review and send</a:t>
            </a:r>
          </a:p>
        </p:txBody>
      </p:sp>
      <p:sp>
        <p:nvSpPr>
          <p:cNvPr id="46" name="TextBox 45"/>
          <p:cNvSpPr txBox="1"/>
          <p:nvPr/>
        </p:nvSpPr>
        <p:spPr>
          <a:xfrm>
            <a:off x="2423160" y="3566159"/>
            <a:ext cx="4846320" cy="274320"/>
          </a:xfrm>
          <a:prstGeom prst="rect">
            <a:avLst/>
          </a:prstGeom>
          <a:noFill/>
        </p:spPr>
        <p:txBody>
          <a:bodyPr wrap="square" lIns="0" tIns="0" rIns="0" bIns="0" anchor="t">
            <a:spAutoFit/>
          </a:bodyPr>
          <a:lstStyle/>
          <a:p>
            <a:pPr algn="l">
              <a:lnSpc>
                <a:spcPct val="130000"/>
              </a:lnSpc>
            </a:pPr>
            <a:r>
              <a:rPr sz="680" b="0" i="0">
                <a:solidFill>
                  <a:srgbClr val="4A5668"/>
                </a:solidFill>
                <a:latin typeface="Inter"/>
              </a:rPr>
              <a:t>The collector reads, edits and sends. Nothing goes out automatically.</a:t>
            </a:r>
          </a:p>
        </p:txBody>
      </p:sp>
      <p:sp>
        <p:nvSpPr>
          <p:cNvPr id="47" name="Rounded Rectangle 46"/>
          <p:cNvSpPr/>
          <p:nvPr/>
        </p:nvSpPr>
        <p:spPr>
          <a:xfrm>
            <a:off x="7726679" y="3557015"/>
            <a:ext cx="731520" cy="155448"/>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726679" y="3557015"/>
            <a:ext cx="731520" cy="155448"/>
          </a:xfrm>
          <a:prstGeom prst="rect">
            <a:avLst/>
          </a:prstGeom>
          <a:noFill/>
        </p:spPr>
        <p:txBody>
          <a:bodyPr wrap="square" lIns="0" tIns="0" rIns="0" bIns="0" anchor="ctr">
            <a:spAutoFit/>
          </a:bodyPr>
          <a:lstStyle/>
          <a:p>
            <a:pPr algn="ctr">
              <a:lnSpc>
                <a:spcPct val="120000"/>
              </a:lnSpc>
            </a:pPr>
            <a:r>
              <a:rPr sz="530" b="1" i="0">
                <a:solidFill>
                  <a:srgbClr val="FFFFFF"/>
                </a:solidFill>
                <a:latin typeface="JetBrains Mono"/>
              </a:rPr>
              <a:t>PERSON</a:t>
            </a:r>
          </a:p>
        </p:txBody>
      </p:sp>
      <p:sp>
        <p:nvSpPr>
          <p:cNvPr id="49" name="TextBox 48"/>
          <p:cNvSpPr txBox="1"/>
          <p:nvPr/>
        </p:nvSpPr>
        <p:spPr>
          <a:xfrm>
            <a:off x="667512" y="4069080"/>
            <a:ext cx="7772400" cy="320040"/>
          </a:xfrm>
          <a:prstGeom prst="rect">
            <a:avLst/>
          </a:prstGeom>
          <a:noFill/>
        </p:spPr>
        <p:txBody>
          <a:bodyPr wrap="square" lIns="0" tIns="0" rIns="0" bIns="0" anchor="t">
            <a:spAutoFit/>
          </a:bodyPr>
          <a:lstStyle/>
          <a:p>
            <a:pPr algn="l">
              <a:lnSpc>
                <a:spcPct val="140000"/>
              </a:lnSpc>
            </a:pPr>
            <a:r>
              <a:rPr sz="720" b="1" i="0">
                <a:solidFill>
                  <a:srgbClr val="1428A0"/>
                </a:solidFill>
                <a:latin typeface="Inter"/>
              </a:rPr>
              <a:t>Key rule: </a:t>
            </a:r>
            <a:r>
              <a:rPr sz="720" b="0" i="0">
                <a:solidFill>
                  <a:srgbClr val="1428A0"/>
                </a:solidFill>
                <a:latin typeface="Inter"/>
              </a:rPr>
              <a:t>GenAI never calculates or changes an amount or date - it only reads notes and writes words. Payment-provider and consumer-finance settlements are left out: they clear automatically within days.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DEMONSTRATION  ·  1 OF 4  ·  THIS WEEK'S ACTIONS</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08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Monday: one list, and the right action for each account.</a:t>
            </a:r>
          </a:p>
        </p:txBody>
      </p:sp>
      <p:sp>
        <p:nvSpPr>
          <p:cNvPr id="12" name="Rounded Rectangle 11"/>
          <p:cNvSpPr/>
          <p:nvPr/>
        </p:nvSpPr>
        <p:spPr>
          <a:xfrm>
            <a:off x="667512" y="987552"/>
            <a:ext cx="7808975" cy="3493008"/>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67512" y="987552"/>
            <a:ext cx="27432" cy="3493008"/>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50392" y="1115568"/>
            <a:ext cx="2286000" cy="91440"/>
          </a:xfrm>
          <a:prstGeom prst="rect">
            <a:avLst/>
          </a:prstGeom>
          <a:noFill/>
        </p:spPr>
        <p:txBody>
          <a:bodyPr wrap="square" lIns="0" tIns="0" rIns="0" bIns="0" anchor="t">
            <a:spAutoFit/>
          </a:bodyPr>
          <a:lstStyle/>
          <a:p>
            <a:pPr algn="l">
              <a:lnSpc>
                <a:spcPct val="120000"/>
              </a:lnSpc>
            </a:pPr>
            <a:r>
              <a:rPr sz="520" b="1" i="0">
                <a:solidFill>
                  <a:srgbClr val="5A6472"/>
                </a:solidFill>
                <a:latin typeface="JetBrains Mono"/>
              </a:rPr>
              <a:t>CUSTOMER</a:t>
            </a:r>
          </a:p>
        </p:txBody>
      </p:sp>
      <p:sp>
        <p:nvSpPr>
          <p:cNvPr id="15" name="TextBox 14"/>
          <p:cNvSpPr txBox="1"/>
          <p:nvPr/>
        </p:nvSpPr>
        <p:spPr>
          <a:xfrm>
            <a:off x="2578608" y="1115568"/>
            <a:ext cx="2286000" cy="91440"/>
          </a:xfrm>
          <a:prstGeom prst="rect">
            <a:avLst/>
          </a:prstGeom>
          <a:noFill/>
        </p:spPr>
        <p:txBody>
          <a:bodyPr wrap="square" lIns="0" tIns="0" rIns="0" bIns="0" anchor="t">
            <a:spAutoFit/>
          </a:bodyPr>
          <a:lstStyle/>
          <a:p>
            <a:pPr algn="l">
              <a:lnSpc>
                <a:spcPct val="120000"/>
              </a:lnSpc>
            </a:pPr>
            <a:r>
              <a:rPr sz="520" b="1" i="0">
                <a:solidFill>
                  <a:srgbClr val="5A6472"/>
                </a:solidFill>
                <a:latin typeface="JetBrains Mono"/>
              </a:rPr>
              <a:t>COLLECTOR</a:t>
            </a:r>
          </a:p>
        </p:txBody>
      </p:sp>
      <p:sp>
        <p:nvSpPr>
          <p:cNvPr id="16" name="TextBox 15"/>
          <p:cNvSpPr txBox="1"/>
          <p:nvPr/>
        </p:nvSpPr>
        <p:spPr>
          <a:xfrm>
            <a:off x="3310128" y="1115568"/>
            <a:ext cx="2286000" cy="91440"/>
          </a:xfrm>
          <a:prstGeom prst="rect">
            <a:avLst/>
          </a:prstGeom>
          <a:noFill/>
        </p:spPr>
        <p:txBody>
          <a:bodyPr wrap="square" lIns="0" tIns="0" rIns="0" bIns="0" anchor="t">
            <a:spAutoFit/>
          </a:bodyPr>
          <a:lstStyle/>
          <a:p>
            <a:pPr algn="l">
              <a:lnSpc>
                <a:spcPct val="120000"/>
              </a:lnSpc>
            </a:pPr>
            <a:r>
              <a:rPr sz="520" b="1" i="0">
                <a:solidFill>
                  <a:srgbClr val="5A6472"/>
                </a:solidFill>
                <a:latin typeface="JetBrains Mono"/>
              </a:rPr>
              <a:t>ACTION</a:t>
            </a:r>
          </a:p>
        </p:txBody>
      </p:sp>
      <p:sp>
        <p:nvSpPr>
          <p:cNvPr id="17" name="TextBox 16"/>
          <p:cNvSpPr txBox="1"/>
          <p:nvPr/>
        </p:nvSpPr>
        <p:spPr>
          <a:xfrm>
            <a:off x="5074920" y="1115568"/>
            <a:ext cx="2286000" cy="91440"/>
          </a:xfrm>
          <a:prstGeom prst="rect">
            <a:avLst/>
          </a:prstGeom>
          <a:noFill/>
        </p:spPr>
        <p:txBody>
          <a:bodyPr wrap="square" lIns="0" tIns="0" rIns="0" bIns="0" anchor="t">
            <a:spAutoFit/>
          </a:bodyPr>
          <a:lstStyle/>
          <a:p>
            <a:pPr algn="l">
              <a:lnSpc>
                <a:spcPct val="120000"/>
              </a:lnSpc>
            </a:pPr>
            <a:r>
              <a:rPr sz="520" b="1" i="0">
                <a:solidFill>
                  <a:srgbClr val="5A6472"/>
                </a:solidFill>
                <a:latin typeface="JetBrains Mono"/>
              </a:rPr>
              <a:t>WHY  ·  CALCULATED FACTS, WORDED BY AI</a:t>
            </a:r>
          </a:p>
        </p:txBody>
      </p:sp>
      <p:sp>
        <p:nvSpPr>
          <p:cNvPr id="18" name="Rectangle 17"/>
          <p:cNvSpPr/>
          <p:nvPr/>
        </p:nvSpPr>
        <p:spPr>
          <a:xfrm>
            <a:off x="850392" y="1280160"/>
            <a:ext cx="7461504"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50392" y="1389888"/>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Tallvik Distribution AB</a:t>
            </a:r>
          </a:p>
        </p:txBody>
      </p:sp>
      <p:sp>
        <p:nvSpPr>
          <p:cNvPr id="20" name="TextBox 19"/>
          <p:cNvSpPr txBox="1"/>
          <p:nvPr/>
        </p:nvSpPr>
        <p:spPr>
          <a:xfrm>
            <a:off x="2578608" y="1399032"/>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Oskar</a:t>
            </a:r>
          </a:p>
        </p:txBody>
      </p:sp>
      <p:sp>
        <p:nvSpPr>
          <p:cNvPr id="21" name="Rounded Rectangle 20"/>
          <p:cNvSpPr/>
          <p:nvPr/>
        </p:nvSpPr>
        <p:spPr>
          <a:xfrm>
            <a:off x="3310128" y="1380744"/>
            <a:ext cx="1645920"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310128" y="1380744"/>
            <a:ext cx="1645920"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Payment reminder</a:t>
            </a:r>
          </a:p>
        </p:txBody>
      </p:sp>
      <p:sp>
        <p:nvSpPr>
          <p:cNvPr id="23" name="TextBox 22"/>
          <p:cNvSpPr txBox="1"/>
          <p:nvPr/>
        </p:nvSpPr>
        <p:spPr>
          <a:xfrm>
            <a:off x="5074920" y="1371600"/>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2.55M overdue on 8 invoices; habitually pays about 26 days late.</a:t>
            </a:r>
          </a:p>
        </p:txBody>
      </p:sp>
      <p:sp>
        <p:nvSpPr>
          <p:cNvPr id="24" name="Rectangle 23"/>
          <p:cNvSpPr/>
          <p:nvPr/>
        </p:nvSpPr>
        <p:spPr>
          <a:xfrm>
            <a:off x="850392" y="1641348"/>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1696212"/>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Kolvik Telecom AB</a:t>
            </a:r>
          </a:p>
        </p:txBody>
      </p:sp>
      <p:sp>
        <p:nvSpPr>
          <p:cNvPr id="26" name="TextBox 25"/>
          <p:cNvSpPr txBox="1"/>
          <p:nvPr/>
        </p:nvSpPr>
        <p:spPr>
          <a:xfrm>
            <a:off x="2578608" y="1705356"/>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Linnea</a:t>
            </a:r>
          </a:p>
        </p:txBody>
      </p:sp>
      <p:sp>
        <p:nvSpPr>
          <p:cNvPr id="27" name="Rounded Rectangle 26"/>
          <p:cNvSpPr/>
          <p:nvPr/>
        </p:nvSpPr>
        <p:spPr>
          <a:xfrm>
            <a:off x="3310128" y="1687068"/>
            <a:ext cx="1645920"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310128" y="1687068"/>
            <a:ext cx="1645920"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Reminder + request PO</a:t>
            </a:r>
          </a:p>
        </p:txBody>
      </p:sp>
      <p:sp>
        <p:nvSpPr>
          <p:cNvPr id="29" name="TextBox 28"/>
          <p:cNvSpPr txBox="1"/>
          <p:nvPr/>
        </p:nvSpPr>
        <p:spPr>
          <a:xfrm>
            <a:off x="5074920" y="1677924"/>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772k overdue on 2 invoices with no PO. PO-less invoices are paid ~22 days later.</a:t>
            </a:r>
          </a:p>
        </p:txBody>
      </p:sp>
      <p:sp>
        <p:nvSpPr>
          <p:cNvPr id="30" name="Rectangle 29"/>
          <p:cNvSpPr/>
          <p:nvPr/>
        </p:nvSpPr>
        <p:spPr>
          <a:xfrm>
            <a:off x="850392" y="1947672"/>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50392" y="2002536"/>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Brightvale Retail AB</a:t>
            </a:r>
          </a:p>
        </p:txBody>
      </p:sp>
      <p:sp>
        <p:nvSpPr>
          <p:cNvPr id="32" name="TextBox 31"/>
          <p:cNvSpPr txBox="1"/>
          <p:nvPr/>
        </p:nvSpPr>
        <p:spPr>
          <a:xfrm>
            <a:off x="2578608" y="2011680"/>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Linnea</a:t>
            </a:r>
          </a:p>
        </p:txBody>
      </p:sp>
      <p:sp>
        <p:nvSpPr>
          <p:cNvPr id="33" name="Rounded Rectangle 32"/>
          <p:cNvSpPr/>
          <p:nvPr/>
        </p:nvSpPr>
        <p:spPr>
          <a:xfrm>
            <a:off x="3310128" y="1993392"/>
            <a:ext cx="1645920"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3310128" y="1993392"/>
            <a:ext cx="1645920"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Payment reminder</a:t>
            </a:r>
          </a:p>
        </p:txBody>
      </p:sp>
      <p:sp>
        <p:nvSpPr>
          <p:cNvPr id="35" name="TextBox 34"/>
          <p:cNvSpPr txBox="1"/>
          <p:nvPr/>
        </p:nvSpPr>
        <p:spPr>
          <a:xfrm>
            <a:off x="5074920" y="1984248"/>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629k overdue. Now paying 9 days late - it used to pay 4 days early.</a:t>
            </a:r>
          </a:p>
        </p:txBody>
      </p:sp>
      <p:sp>
        <p:nvSpPr>
          <p:cNvPr id="36" name="Rectangle 35"/>
          <p:cNvSpPr/>
          <p:nvPr/>
        </p:nvSpPr>
        <p:spPr>
          <a:xfrm>
            <a:off x="850392" y="2253996"/>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50392" y="2308860"/>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Vassbo Trading AB</a:t>
            </a:r>
          </a:p>
        </p:txBody>
      </p:sp>
      <p:sp>
        <p:nvSpPr>
          <p:cNvPr id="38" name="TextBox 37"/>
          <p:cNvSpPr txBox="1"/>
          <p:nvPr/>
        </p:nvSpPr>
        <p:spPr>
          <a:xfrm>
            <a:off x="2578608" y="2318004"/>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Oskar</a:t>
            </a:r>
          </a:p>
        </p:txBody>
      </p:sp>
      <p:sp>
        <p:nvSpPr>
          <p:cNvPr id="39" name="Rounded Rectangle 38"/>
          <p:cNvSpPr/>
          <p:nvPr/>
        </p:nvSpPr>
        <p:spPr>
          <a:xfrm>
            <a:off x="3310128" y="2299716"/>
            <a:ext cx="1645920" cy="182880"/>
          </a:xfrm>
          <a:prstGeom prst="roundRect">
            <a:avLst>
              <a:gd name="adj" fmla="val 50000"/>
            </a:avLst>
          </a:prstGeom>
          <a:solidFill>
            <a:srgbClr val="F4F6FA"/>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310128" y="2299716"/>
            <a:ext cx="1645920" cy="182880"/>
          </a:xfrm>
          <a:prstGeom prst="rect">
            <a:avLst/>
          </a:prstGeom>
          <a:noFill/>
        </p:spPr>
        <p:txBody>
          <a:bodyPr wrap="square" lIns="0" tIns="0" rIns="0" bIns="0" anchor="ctr">
            <a:spAutoFit/>
          </a:bodyPr>
          <a:lstStyle/>
          <a:p>
            <a:pPr algn="ctr">
              <a:lnSpc>
                <a:spcPct val="120000"/>
              </a:lnSpc>
            </a:pPr>
            <a:r>
              <a:rPr sz="600" b="1" i="0">
                <a:solidFill>
                  <a:srgbClr val="B03A2E"/>
                </a:solidFill>
                <a:latin typeface="Inter"/>
              </a:rPr>
              <a:t>Escalate broken promise</a:t>
            </a:r>
          </a:p>
        </p:txBody>
      </p:sp>
      <p:sp>
        <p:nvSpPr>
          <p:cNvPr id="41" name="TextBox 40"/>
          <p:cNvSpPr txBox="1"/>
          <p:nvPr/>
        </p:nvSpPr>
        <p:spPr>
          <a:xfrm>
            <a:off x="5074920" y="2290572"/>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448k overdue, oldest 53 days. Promised 16.09 and 17.09 - not paid.</a:t>
            </a:r>
          </a:p>
        </p:txBody>
      </p:sp>
      <p:sp>
        <p:nvSpPr>
          <p:cNvPr id="42" name="Rectangle 41"/>
          <p:cNvSpPr/>
          <p:nvPr/>
        </p:nvSpPr>
        <p:spPr>
          <a:xfrm>
            <a:off x="850392" y="2560320"/>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50392" y="2615184"/>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Holmvik Stores AB</a:t>
            </a:r>
          </a:p>
        </p:txBody>
      </p:sp>
      <p:sp>
        <p:nvSpPr>
          <p:cNvPr id="44" name="TextBox 43"/>
          <p:cNvSpPr txBox="1"/>
          <p:nvPr/>
        </p:nvSpPr>
        <p:spPr>
          <a:xfrm>
            <a:off x="2578608" y="2624328"/>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Linnea</a:t>
            </a:r>
          </a:p>
        </p:txBody>
      </p:sp>
      <p:sp>
        <p:nvSpPr>
          <p:cNvPr id="45" name="Rounded Rectangle 44"/>
          <p:cNvSpPr/>
          <p:nvPr/>
        </p:nvSpPr>
        <p:spPr>
          <a:xfrm>
            <a:off x="3310128" y="2606040"/>
            <a:ext cx="1645920" cy="182880"/>
          </a:xfrm>
          <a:prstGeom prst="roundRect">
            <a:avLst>
              <a:gd name="adj" fmla="val 50000"/>
            </a:avLst>
          </a:prstGeom>
          <a:solidFill>
            <a:srgbClr val="F4F6FA"/>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3310128" y="2606040"/>
            <a:ext cx="1645920" cy="182880"/>
          </a:xfrm>
          <a:prstGeom prst="rect">
            <a:avLst/>
          </a:prstGeom>
          <a:noFill/>
        </p:spPr>
        <p:txBody>
          <a:bodyPr wrap="square" lIns="0" tIns="0" rIns="0" bIns="0" anchor="ctr">
            <a:spAutoFit/>
          </a:bodyPr>
          <a:lstStyle/>
          <a:p>
            <a:pPr algn="ctr">
              <a:lnSpc>
                <a:spcPct val="120000"/>
              </a:lnSpc>
            </a:pPr>
            <a:r>
              <a:rPr sz="600" b="1" i="0">
                <a:solidFill>
                  <a:srgbClr val="B03A2E"/>
                </a:solidFill>
                <a:latin typeface="Inter"/>
              </a:rPr>
              <a:t>Credit limit review</a:t>
            </a:r>
          </a:p>
        </p:txBody>
      </p:sp>
      <p:sp>
        <p:nvSpPr>
          <p:cNvPr id="47" name="TextBox 46"/>
          <p:cNvSpPr txBox="1"/>
          <p:nvPr/>
        </p:nvSpPr>
        <p:spPr>
          <a:xfrm>
            <a:off x="5074920" y="2596896"/>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Open balance is 155% of the credit limit.</a:t>
            </a:r>
          </a:p>
        </p:txBody>
      </p:sp>
      <p:sp>
        <p:nvSpPr>
          <p:cNvPr id="48" name="Rectangle 47"/>
          <p:cNvSpPr/>
          <p:nvPr/>
        </p:nvSpPr>
        <p:spPr>
          <a:xfrm>
            <a:off x="850392" y="2866644"/>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50392" y="2921508"/>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Ekhagen Electronics AB</a:t>
            </a:r>
          </a:p>
        </p:txBody>
      </p:sp>
      <p:sp>
        <p:nvSpPr>
          <p:cNvPr id="50" name="TextBox 49"/>
          <p:cNvSpPr txBox="1"/>
          <p:nvPr/>
        </p:nvSpPr>
        <p:spPr>
          <a:xfrm>
            <a:off x="2578608" y="2930652"/>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Linnea</a:t>
            </a:r>
          </a:p>
        </p:txBody>
      </p:sp>
      <p:sp>
        <p:nvSpPr>
          <p:cNvPr id="51" name="Rounded Rectangle 50"/>
          <p:cNvSpPr/>
          <p:nvPr/>
        </p:nvSpPr>
        <p:spPr>
          <a:xfrm>
            <a:off x="3310128" y="2912364"/>
            <a:ext cx="1645920" cy="182880"/>
          </a:xfrm>
          <a:prstGeom prst="roundRect">
            <a:avLst>
              <a:gd name="adj" fmla="val 50000"/>
            </a:avLst>
          </a:prstGeom>
          <a:solidFill>
            <a:srgbClr val="F4F6FA"/>
          </a:solidFill>
          <a:ln w="952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3310128" y="2912364"/>
            <a:ext cx="1645920" cy="182880"/>
          </a:xfrm>
          <a:prstGeom prst="rect">
            <a:avLst/>
          </a:prstGeom>
          <a:noFill/>
        </p:spPr>
        <p:txBody>
          <a:bodyPr wrap="square" lIns="0" tIns="0" rIns="0" bIns="0" anchor="ctr">
            <a:spAutoFit/>
          </a:bodyPr>
          <a:lstStyle/>
          <a:p>
            <a:pPr algn="ctr">
              <a:lnSpc>
                <a:spcPct val="120000"/>
              </a:lnSpc>
            </a:pPr>
            <a:r>
              <a:rPr sz="600" b="1" i="0">
                <a:solidFill>
                  <a:srgbClr val="5A6472"/>
                </a:solidFill>
                <a:latin typeface="Inter"/>
              </a:rPr>
              <a:t>Allocate unapplied cash</a:t>
            </a:r>
          </a:p>
        </p:txBody>
      </p:sp>
      <p:sp>
        <p:nvSpPr>
          <p:cNvPr id="53" name="TextBox 52"/>
          <p:cNvSpPr txBox="1"/>
          <p:nvPr/>
        </p:nvSpPr>
        <p:spPr>
          <a:xfrm>
            <a:off x="5074920" y="2903220"/>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209k 'overdue' - but SEK 209k is sitting unallocated on account. Don't chase.</a:t>
            </a:r>
          </a:p>
        </p:txBody>
      </p:sp>
      <p:sp>
        <p:nvSpPr>
          <p:cNvPr id="54" name="Rectangle 53"/>
          <p:cNvSpPr/>
          <p:nvPr/>
        </p:nvSpPr>
        <p:spPr>
          <a:xfrm>
            <a:off x="850392" y="3172968"/>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50392" y="3227832"/>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Havtorn Home Oy</a:t>
            </a:r>
          </a:p>
        </p:txBody>
      </p:sp>
      <p:sp>
        <p:nvSpPr>
          <p:cNvPr id="56" name="TextBox 55"/>
          <p:cNvSpPr txBox="1"/>
          <p:nvPr/>
        </p:nvSpPr>
        <p:spPr>
          <a:xfrm>
            <a:off x="2578608" y="3236976"/>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Oskar</a:t>
            </a:r>
          </a:p>
        </p:txBody>
      </p:sp>
      <p:sp>
        <p:nvSpPr>
          <p:cNvPr id="57" name="Rounded Rectangle 56"/>
          <p:cNvSpPr/>
          <p:nvPr/>
        </p:nvSpPr>
        <p:spPr>
          <a:xfrm>
            <a:off x="3310128" y="3218688"/>
            <a:ext cx="1645920" cy="182880"/>
          </a:xfrm>
          <a:prstGeom prst="roundRect">
            <a:avLst>
              <a:gd name="adj" fmla="val 50000"/>
            </a:avLst>
          </a:prstGeom>
          <a:solidFill>
            <a:srgbClr val="F4F6FA"/>
          </a:solidFill>
          <a:ln w="9525">
            <a:solidFill>
              <a:srgbClr val="2A5C9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3310128" y="3218688"/>
            <a:ext cx="1645920" cy="182880"/>
          </a:xfrm>
          <a:prstGeom prst="rect">
            <a:avLst/>
          </a:prstGeom>
          <a:noFill/>
        </p:spPr>
        <p:txBody>
          <a:bodyPr wrap="square" lIns="0" tIns="0" rIns="0" bIns="0" anchor="ctr">
            <a:spAutoFit/>
          </a:bodyPr>
          <a:lstStyle/>
          <a:p>
            <a:pPr algn="ctr">
              <a:lnSpc>
                <a:spcPct val="120000"/>
              </a:lnSpc>
            </a:pPr>
            <a:r>
              <a:rPr sz="600" b="1" i="0">
                <a:solidFill>
                  <a:srgbClr val="2A5C9E"/>
                </a:solidFill>
                <a:latin typeface="Inter"/>
              </a:rPr>
              <a:t>Pre-due reminder</a:t>
            </a:r>
          </a:p>
        </p:txBody>
      </p:sp>
      <p:sp>
        <p:nvSpPr>
          <p:cNvPr id="59" name="TextBox 58"/>
          <p:cNvSpPr txBox="1"/>
          <p:nvPr/>
        </p:nvSpPr>
        <p:spPr>
          <a:xfrm>
            <a:off x="5074920" y="3209544"/>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130k falls due this week; recent payments arrived 9 days late.</a:t>
            </a:r>
          </a:p>
        </p:txBody>
      </p:sp>
      <p:sp>
        <p:nvSpPr>
          <p:cNvPr id="60" name="Rectangle 59"/>
          <p:cNvSpPr/>
          <p:nvPr/>
        </p:nvSpPr>
        <p:spPr>
          <a:xfrm>
            <a:off x="850392" y="3479292"/>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850392" y="3534156"/>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Lunnvik Service ApS</a:t>
            </a:r>
          </a:p>
        </p:txBody>
      </p:sp>
      <p:sp>
        <p:nvSpPr>
          <p:cNvPr id="62" name="TextBox 61"/>
          <p:cNvSpPr txBox="1"/>
          <p:nvPr/>
        </p:nvSpPr>
        <p:spPr>
          <a:xfrm>
            <a:off x="2578608" y="3543300"/>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Freja</a:t>
            </a:r>
          </a:p>
        </p:txBody>
      </p:sp>
      <p:sp>
        <p:nvSpPr>
          <p:cNvPr id="63" name="Rounded Rectangle 62"/>
          <p:cNvSpPr/>
          <p:nvPr/>
        </p:nvSpPr>
        <p:spPr>
          <a:xfrm>
            <a:off x="3310128" y="3525012"/>
            <a:ext cx="1645920" cy="182880"/>
          </a:xfrm>
          <a:prstGeom prst="roundRect">
            <a:avLst>
              <a:gd name="adj" fmla="val 50000"/>
            </a:avLst>
          </a:prstGeom>
          <a:solidFill>
            <a:srgbClr val="F4F6FA"/>
          </a:solidFill>
          <a:ln w="9525">
            <a:solidFill>
              <a:srgbClr val="C1702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3310128" y="3525012"/>
            <a:ext cx="1645920" cy="182880"/>
          </a:xfrm>
          <a:prstGeom prst="rect">
            <a:avLst/>
          </a:prstGeom>
          <a:noFill/>
        </p:spPr>
        <p:txBody>
          <a:bodyPr wrap="square" lIns="0" tIns="0" rIns="0" bIns="0" anchor="ctr">
            <a:spAutoFit/>
          </a:bodyPr>
          <a:lstStyle/>
          <a:p>
            <a:pPr algn="ctr">
              <a:lnSpc>
                <a:spcPct val="120000"/>
              </a:lnSpc>
            </a:pPr>
            <a:r>
              <a:rPr sz="600" b="1" i="0">
                <a:solidFill>
                  <a:srgbClr val="C1702D"/>
                </a:solidFill>
                <a:latin typeface="Inter"/>
              </a:rPr>
              <a:t>Resolve dispute first</a:t>
            </a:r>
          </a:p>
        </p:txBody>
      </p:sp>
      <p:sp>
        <p:nvSpPr>
          <p:cNvPr id="65" name="TextBox 64"/>
          <p:cNvSpPr txBox="1"/>
          <p:nvPr/>
        </p:nvSpPr>
        <p:spPr>
          <a:xfrm>
            <a:off x="5074920" y="3515868"/>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SEK 14k overdue, all of it under dispute.</a:t>
            </a:r>
          </a:p>
        </p:txBody>
      </p:sp>
      <p:sp>
        <p:nvSpPr>
          <p:cNvPr id="66" name="Rectangle 65"/>
          <p:cNvSpPr/>
          <p:nvPr/>
        </p:nvSpPr>
        <p:spPr>
          <a:xfrm>
            <a:off x="850392" y="3785615"/>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850392" y="3840480"/>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Fjordlys Elektronikk AS</a:t>
            </a:r>
          </a:p>
        </p:txBody>
      </p:sp>
      <p:sp>
        <p:nvSpPr>
          <p:cNvPr id="68" name="TextBox 67"/>
          <p:cNvSpPr txBox="1"/>
          <p:nvPr/>
        </p:nvSpPr>
        <p:spPr>
          <a:xfrm>
            <a:off x="2578608" y="3849624"/>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Freja</a:t>
            </a:r>
          </a:p>
        </p:txBody>
      </p:sp>
      <p:sp>
        <p:nvSpPr>
          <p:cNvPr id="69" name="Rounded Rectangle 68"/>
          <p:cNvSpPr/>
          <p:nvPr/>
        </p:nvSpPr>
        <p:spPr>
          <a:xfrm>
            <a:off x="3310128" y="3831335"/>
            <a:ext cx="1645920" cy="182880"/>
          </a:xfrm>
          <a:prstGeom prst="roundRect">
            <a:avLst>
              <a:gd name="adj" fmla="val 50000"/>
            </a:avLst>
          </a:prstGeom>
          <a:solidFill>
            <a:srgbClr val="F4F6FA"/>
          </a:solidFill>
          <a:ln w="9525">
            <a:solidFill>
              <a:srgbClr val="5F8B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3310128" y="3831335"/>
            <a:ext cx="1645920" cy="182880"/>
          </a:xfrm>
          <a:prstGeom prst="rect">
            <a:avLst/>
          </a:prstGeom>
          <a:noFill/>
        </p:spPr>
        <p:txBody>
          <a:bodyPr wrap="square" lIns="0" tIns="0" rIns="0" bIns="0" anchor="ctr">
            <a:spAutoFit/>
          </a:bodyPr>
          <a:lstStyle/>
          <a:p>
            <a:pPr algn="ctr">
              <a:lnSpc>
                <a:spcPct val="120000"/>
              </a:lnSpc>
            </a:pPr>
            <a:r>
              <a:rPr sz="600" b="1" i="0">
                <a:solidFill>
                  <a:srgbClr val="5F8B2F"/>
                </a:solidFill>
                <a:latin typeface="Inter"/>
              </a:rPr>
              <a:t>Friendly check-in</a:t>
            </a:r>
          </a:p>
        </p:txBody>
      </p:sp>
      <p:sp>
        <p:nvSpPr>
          <p:cNvPr id="71" name="TextBox 70"/>
          <p:cNvSpPr txBox="1"/>
          <p:nvPr/>
        </p:nvSpPr>
        <p:spPr>
          <a:xfrm>
            <a:off x="5074920" y="3822191"/>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First late payment in 6 months (SEK 16k).</a:t>
            </a:r>
          </a:p>
        </p:txBody>
      </p:sp>
      <p:sp>
        <p:nvSpPr>
          <p:cNvPr id="72" name="Rectangle 71"/>
          <p:cNvSpPr/>
          <p:nvPr/>
        </p:nvSpPr>
        <p:spPr>
          <a:xfrm>
            <a:off x="850392" y="4091939"/>
            <a:ext cx="7461504" cy="4572"/>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850392" y="4146804"/>
            <a:ext cx="1691640" cy="146304"/>
          </a:xfrm>
          <a:prstGeom prst="rect">
            <a:avLst/>
          </a:prstGeom>
          <a:noFill/>
        </p:spPr>
        <p:txBody>
          <a:bodyPr wrap="square" lIns="0" tIns="0" rIns="0" bIns="0" anchor="t">
            <a:spAutoFit/>
          </a:bodyPr>
          <a:lstStyle/>
          <a:p>
            <a:pPr algn="l">
              <a:lnSpc>
                <a:spcPct val="120000"/>
              </a:lnSpc>
            </a:pPr>
            <a:r>
              <a:rPr sz="720" b="1" i="0">
                <a:solidFill>
                  <a:srgbClr val="1A1A1E"/>
                </a:solidFill>
                <a:latin typeface="Inter"/>
              </a:rPr>
              <a:t>Gransta Varuhus AB</a:t>
            </a:r>
          </a:p>
        </p:txBody>
      </p:sp>
      <p:sp>
        <p:nvSpPr>
          <p:cNvPr id="74" name="TextBox 73"/>
          <p:cNvSpPr txBox="1"/>
          <p:nvPr/>
        </p:nvSpPr>
        <p:spPr>
          <a:xfrm>
            <a:off x="2578608" y="4155948"/>
            <a:ext cx="685800" cy="128016"/>
          </a:xfrm>
          <a:prstGeom prst="rect">
            <a:avLst/>
          </a:prstGeom>
          <a:noFill/>
        </p:spPr>
        <p:txBody>
          <a:bodyPr wrap="square" lIns="0" tIns="0" rIns="0" bIns="0" anchor="t">
            <a:spAutoFit/>
          </a:bodyPr>
          <a:lstStyle/>
          <a:p>
            <a:pPr algn="l">
              <a:lnSpc>
                <a:spcPct val="120000"/>
              </a:lnSpc>
            </a:pPr>
            <a:r>
              <a:rPr sz="650" b="0" i="0">
                <a:solidFill>
                  <a:srgbClr val="4A5668"/>
                </a:solidFill>
                <a:latin typeface="Inter"/>
              </a:rPr>
              <a:t>-</a:t>
            </a:r>
          </a:p>
        </p:txBody>
      </p:sp>
      <p:sp>
        <p:nvSpPr>
          <p:cNvPr id="75" name="Rounded Rectangle 74"/>
          <p:cNvSpPr/>
          <p:nvPr/>
        </p:nvSpPr>
        <p:spPr>
          <a:xfrm>
            <a:off x="3310128" y="4137659"/>
            <a:ext cx="1645920" cy="182880"/>
          </a:xfrm>
          <a:prstGeom prst="roundRect">
            <a:avLst>
              <a:gd name="adj" fmla="val 50000"/>
            </a:avLst>
          </a:prstGeom>
          <a:solidFill>
            <a:srgbClr val="F4F6FA"/>
          </a:solidFill>
          <a:ln w="9525">
            <a:solidFill>
              <a:srgbClr val="7A7F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3310128" y="4137659"/>
            <a:ext cx="1645920" cy="182880"/>
          </a:xfrm>
          <a:prstGeom prst="rect">
            <a:avLst/>
          </a:prstGeom>
          <a:noFill/>
        </p:spPr>
        <p:txBody>
          <a:bodyPr wrap="square" lIns="0" tIns="0" rIns="0" bIns="0" anchor="ctr">
            <a:spAutoFit/>
          </a:bodyPr>
          <a:lstStyle/>
          <a:p>
            <a:pPr algn="ctr">
              <a:lnSpc>
                <a:spcPct val="120000"/>
              </a:lnSpc>
            </a:pPr>
            <a:r>
              <a:rPr sz="600" b="1" i="0">
                <a:solidFill>
                  <a:srgbClr val="7A7F8A"/>
                </a:solidFill>
                <a:latin typeface="Inter"/>
              </a:rPr>
              <a:t>No action</a:t>
            </a:r>
          </a:p>
        </p:txBody>
      </p:sp>
      <p:sp>
        <p:nvSpPr>
          <p:cNvPr id="77" name="TextBox 76"/>
          <p:cNvSpPr txBox="1"/>
          <p:nvPr/>
        </p:nvSpPr>
        <p:spPr>
          <a:xfrm>
            <a:off x="5074920" y="4128515"/>
            <a:ext cx="3246120" cy="274320"/>
          </a:xfrm>
          <a:prstGeom prst="rect">
            <a:avLst/>
          </a:prstGeom>
          <a:noFill/>
        </p:spPr>
        <p:txBody>
          <a:bodyPr wrap="square" lIns="0" tIns="0" rIns="0" bIns="0" anchor="t">
            <a:spAutoFit/>
          </a:bodyPr>
          <a:lstStyle/>
          <a:p>
            <a:pPr algn="l">
              <a:lnSpc>
                <a:spcPct val="125000"/>
              </a:lnSpc>
            </a:pPr>
            <a:r>
              <a:rPr sz="620" b="0" i="0">
                <a:solidFill>
                  <a:srgbClr val="1A1A1E"/>
                </a:solidFill>
                <a:latin typeface="Inter"/>
              </a:rPr>
              <a:t>Largest open balance (SEK 20.2M) - nothing overdue, always pays early.</a:t>
            </a:r>
          </a:p>
        </p:txBody>
      </p:sp>
      <p:sp>
        <p:nvSpPr>
          <p:cNvPr id="78" name="TextBox 77"/>
          <p:cNvSpPr txBox="1"/>
          <p:nvPr/>
        </p:nvSpPr>
        <p:spPr>
          <a:xfrm>
            <a:off x="667512" y="4553712"/>
            <a:ext cx="7772400" cy="109728"/>
          </a:xfrm>
          <a:prstGeom prst="rect">
            <a:avLst/>
          </a:prstGeom>
          <a:noFill/>
        </p:spPr>
        <p:txBody>
          <a:bodyPr wrap="square" lIns="0" tIns="0" rIns="0" bIns="0" anchor="t">
            <a:spAutoFit/>
          </a:bodyPr>
          <a:lstStyle/>
          <a:p>
            <a:pPr algn="l">
              <a:lnSpc>
                <a:spcPct val="120000"/>
              </a:lnSpc>
            </a:pPr>
            <a:r>
              <a:rPr sz="550" b="0" i="1">
                <a:solidFill>
                  <a:srgbClr val="5A6472"/>
                </a:solidFill>
                <a:latin typeface="Inter"/>
              </a:rPr>
              <a:t>Demo accounts from the synthetic portfolio (one per pattern). Illustrative, synthetic data - customer names, amounts and identifiers are fictional.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DEMONSTRATION  ·  2 OF 4  ·  THE ACCOUNT BRIEF</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09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Before the call: a one-screen brief.</a:t>
            </a:r>
          </a:p>
        </p:txBody>
      </p:sp>
      <p:sp>
        <p:nvSpPr>
          <p:cNvPr id="12" name="TextBox 11"/>
          <p:cNvSpPr txBox="1"/>
          <p:nvPr/>
        </p:nvSpPr>
        <p:spPr>
          <a:xfrm>
            <a:off x="667512" y="1005840"/>
            <a:ext cx="7772400" cy="182880"/>
          </a:xfrm>
          <a:prstGeom prst="rect">
            <a:avLst/>
          </a:prstGeom>
          <a:noFill/>
        </p:spPr>
        <p:txBody>
          <a:bodyPr wrap="square" lIns="0" tIns="0" rIns="0" bIns="0" anchor="t">
            <a:spAutoFit/>
          </a:bodyPr>
          <a:lstStyle/>
          <a:p>
            <a:pPr algn="l">
              <a:lnSpc>
                <a:spcPct val="120000"/>
              </a:lnSpc>
            </a:pPr>
            <a:r>
              <a:rPr sz="830" b="1" i="0">
                <a:solidFill>
                  <a:srgbClr val="1A1A1E"/>
                </a:solidFill>
                <a:latin typeface="Inter"/>
              </a:rPr>
              <a:t>Brightvale Retail AB</a:t>
            </a:r>
            <a:r>
              <a:rPr sz="830" b="0" i="0">
                <a:solidFill>
                  <a:srgbClr val="4A5668"/>
                </a:solidFill>
                <a:latin typeface="Inter"/>
              </a:rPr>
              <a:t>   ·   Retailer   ·   Sweden   ·   Payment terms: 30 days   ·   Collector: Linnea</a:t>
            </a:r>
          </a:p>
        </p:txBody>
      </p:sp>
      <p:sp>
        <p:nvSpPr>
          <p:cNvPr id="13" name="Rounded Rectangle 12"/>
          <p:cNvSpPr/>
          <p:nvPr/>
        </p:nvSpPr>
        <p:spPr>
          <a:xfrm>
            <a:off x="667512" y="1298448"/>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298448"/>
            <a:ext cx="27432" cy="86868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 y="1417320"/>
            <a:ext cx="1645920" cy="292608"/>
          </a:xfrm>
          <a:prstGeom prst="rect">
            <a:avLst/>
          </a:prstGeom>
          <a:noFill/>
        </p:spPr>
        <p:txBody>
          <a:bodyPr wrap="square" lIns="0" tIns="0" rIns="0" bIns="0" anchor="t">
            <a:spAutoFit/>
          </a:bodyPr>
          <a:lstStyle/>
          <a:p>
            <a:pPr algn="l">
              <a:lnSpc>
                <a:spcPct val="120000"/>
              </a:lnSpc>
            </a:pPr>
            <a:r>
              <a:rPr sz="1550" b="1" i="0">
                <a:solidFill>
                  <a:srgbClr val="1428A0"/>
                </a:solidFill>
                <a:latin typeface="Inter"/>
              </a:rPr>
              <a:t>SEK 1.02M</a:t>
            </a:r>
          </a:p>
        </p:txBody>
      </p:sp>
      <p:sp>
        <p:nvSpPr>
          <p:cNvPr id="16" name="TextBox 15"/>
          <p:cNvSpPr txBox="1"/>
          <p:nvPr/>
        </p:nvSpPr>
        <p:spPr>
          <a:xfrm>
            <a:off x="850392" y="1755648"/>
            <a:ext cx="1645920" cy="128016"/>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open balance</a:t>
            </a:r>
          </a:p>
        </p:txBody>
      </p:sp>
      <p:sp>
        <p:nvSpPr>
          <p:cNvPr id="17" name="TextBox 16"/>
          <p:cNvSpPr txBox="1"/>
          <p:nvPr/>
        </p:nvSpPr>
        <p:spPr>
          <a:xfrm>
            <a:off x="850392" y="1920240"/>
            <a:ext cx="1645920" cy="109728"/>
          </a:xfrm>
          <a:prstGeom prst="rect">
            <a:avLst/>
          </a:prstGeom>
          <a:noFill/>
        </p:spPr>
        <p:txBody>
          <a:bodyPr wrap="square" lIns="0" tIns="0" rIns="0" bIns="0" anchor="t">
            <a:spAutoFit/>
          </a:bodyPr>
          <a:lstStyle/>
          <a:p>
            <a:pPr algn="l">
              <a:lnSpc>
                <a:spcPct val="120000"/>
              </a:lnSpc>
            </a:pPr>
            <a:r>
              <a:rPr sz="600" b="0" i="0">
                <a:solidFill>
                  <a:srgbClr val="4A5668"/>
                </a:solidFill>
                <a:latin typeface="Inter"/>
              </a:rPr>
              <a:t>13 open items</a:t>
            </a:r>
          </a:p>
        </p:txBody>
      </p:sp>
      <p:sp>
        <p:nvSpPr>
          <p:cNvPr id="18" name="Rounded Rectangle 17"/>
          <p:cNvSpPr/>
          <p:nvPr/>
        </p:nvSpPr>
        <p:spPr>
          <a:xfrm>
            <a:off x="2642616" y="1298448"/>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2642616" y="1298448"/>
            <a:ext cx="27432" cy="8686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25496" y="1417320"/>
            <a:ext cx="1645920" cy="292608"/>
          </a:xfrm>
          <a:prstGeom prst="rect">
            <a:avLst/>
          </a:prstGeom>
          <a:noFill/>
        </p:spPr>
        <p:txBody>
          <a:bodyPr wrap="square" lIns="0" tIns="0" rIns="0" bIns="0" anchor="t">
            <a:spAutoFit/>
          </a:bodyPr>
          <a:lstStyle/>
          <a:p>
            <a:pPr algn="l">
              <a:lnSpc>
                <a:spcPct val="120000"/>
              </a:lnSpc>
            </a:pPr>
            <a:r>
              <a:rPr sz="1550" b="1" i="0">
                <a:solidFill>
                  <a:srgbClr val="C1702D"/>
                </a:solidFill>
                <a:latin typeface="Inter"/>
              </a:rPr>
              <a:t>SEK 629k</a:t>
            </a:r>
          </a:p>
        </p:txBody>
      </p:sp>
      <p:sp>
        <p:nvSpPr>
          <p:cNvPr id="21" name="TextBox 20"/>
          <p:cNvSpPr txBox="1"/>
          <p:nvPr/>
        </p:nvSpPr>
        <p:spPr>
          <a:xfrm>
            <a:off x="2825496" y="1755648"/>
            <a:ext cx="1645920" cy="128016"/>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overdue</a:t>
            </a:r>
          </a:p>
        </p:txBody>
      </p:sp>
      <p:sp>
        <p:nvSpPr>
          <p:cNvPr id="22" name="TextBox 21"/>
          <p:cNvSpPr txBox="1"/>
          <p:nvPr/>
        </p:nvSpPr>
        <p:spPr>
          <a:xfrm>
            <a:off x="2825496" y="1920240"/>
            <a:ext cx="1645920" cy="109728"/>
          </a:xfrm>
          <a:prstGeom prst="rect">
            <a:avLst/>
          </a:prstGeom>
          <a:noFill/>
        </p:spPr>
        <p:txBody>
          <a:bodyPr wrap="square" lIns="0" tIns="0" rIns="0" bIns="0" anchor="t">
            <a:spAutoFit/>
          </a:bodyPr>
          <a:lstStyle/>
          <a:p>
            <a:pPr algn="l">
              <a:lnSpc>
                <a:spcPct val="120000"/>
              </a:lnSpc>
            </a:pPr>
            <a:r>
              <a:rPr sz="600" b="0" i="0">
                <a:solidFill>
                  <a:srgbClr val="4A5668"/>
                </a:solidFill>
                <a:latin typeface="Inter"/>
              </a:rPr>
              <a:t>6 invoices, oldest 12 days</a:t>
            </a:r>
          </a:p>
        </p:txBody>
      </p:sp>
      <p:sp>
        <p:nvSpPr>
          <p:cNvPr id="23" name="Rounded Rectangle 22"/>
          <p:cNvSpPr/>
          <p:nvPr/>
        </p:nvSpPr>
        <p:spPr>
          <a:xfrm>
            <a:off x="4617720" y="1298448"/>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617720" y="1298448"/>
            <a:ext cx="27432" cy="8686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0600" y="1417320"/>
            <a:ext cx="1645920" cy="292608"/>
          </a:xfrm>
          <a:prstGeom prst="rect">
            <a:avLst/>
          </a:prstGeom>
          <a:noFill/>
        </p:spPr>
        <p:txBody>
          <a:bodyPr wrap="square" lIns="0" tIns="0" rIns="0" bIns="0" anchor="t">
            <a:spAutoFit/>
          </a:bodyPr>
          <a:lstStyle/>
          <a:p>
            <a:pPr algn="l">
              <a:lnSpc>
                <a:spcPct val="120000"/>
              </a:lnSpc>
            </a:pPr>
            <a:r>
              <a:rPr sz="1550" b="1" i="0">
                <a:solidFill>
                  <a:srgbClr val="C1702D"/>
                </a:solidFill>
                <a:latin typeface="Inter"/>
              </a:rPr>
              <a:t>9 days late</a:t>
            </a:r>
          </a:p>
        </p:txBody>
      </p:sp>
      <p:sp>
        <p:nvSpPr>
          <p:cNvPr id="26" name="TextBox 25"/>
          <p:cNvSpPr txBox="1"/>
          <p:nvPr/>
        </p:nvSpPr>
        <p:spPr>
          <a:xfrm>
            <a:off x="4800600" y="1755648"/>
            <a:ext cx="1645920" cy="128016"/>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recent payments</a:t>
            </a:r>
          </a:p>
        </p:txBody>
      </p:sp>
      <p:sp>
        <p:nvSpPr>
          <p:cNvPr id="27" name="TextBox 26"/>
          <p:cNvSpPr txBox="1"/>
          <p:nvPr/>
        </p:nvSpPr>
        <p:spPr>
          <a:xfrm>
            <a:off x="4800600" y="1920240"/>
            <a:ext cx="1645920" cy="109728"/>
          </a:xfrm>
          <a:prstGeom prst="rect">
            <a:avLst/>
          </a:prstGeom>
          <a:noFill/>
        </p:spPr>
        <p:txBody>
          <a:bodyPr wrap="square" lIns="0" tIns="0" rIns="0" bIns="0" anchor="t">
            <a:spAutoFit/>
          </a:bodyPr>
          <a:lstStyle/>
          <a:p>
            <a:pPr algn="l">
              <a:lnSpc>
                <a:spcPct val="120000"/>
              </a:lnSpc>
            </a:pPr>
            <a:r>
              <a:rPr sz="600" b="0" i="0">
                <a:solidFill>
                  <a:srgbClr val="4A5668"/>
                </a:solidFill>
                <a:latin typeface="Inter"/>
              </a:rPr>
              <a:t>used to be 4 days early</a:t>
            </a:r>
          </a:p>
        </p:txBody>
      </p:sp>
      <p:sp>
        <p:nvSpPr>
          <p:cNvPr id="28" name="Rounded Rectangle 27"/>
          <p:cNvSpPr/>
          <p:nvPr/>
        </p:nvSpPr>
        <p:spPr>
          <a:xfrm>
            <a:off x="6592824" y="1298448"/>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6592824" y="1298448"/>
            <a:ext cx="27432" cy="8686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775704" y="1417320"/>
            <a:ext cx="1645920" cy="292608"/>
          </a:xfrm>
          <a:prstGeom prst="rect">
            <a:avLst/>
          </a:prstGeom>
          <a:noFill/>
        </p:spPr>
        <p:txBody>
          <a:bodyPr wrap="square" lIns="0" tIns="0" rIns="0" bIns="0" anchor="t">
            <a:spAutoFit/>
          </a:bodyPr>
          <a:lstStyle/>
          <a:p>
            <a:pPr algn="l">
              <a:lnSpc>
                <a:spcPct val="120000"/>
              </a:lnSpc>
            </a:pPr>
            <a:r>
              <a:rPr sz="1550" b="1" i="0">
                <a:solidFill>
                  <a:srgbClr val="5F8B2F"/>
                </a:solidFill>
                <a:latin typeface="Inter"/>
              </a:rPr>
              <a:t>40%</a:t>
            </a:r>
          </a:p>
        </p:txBody>
      </p:sp>
      <p:sp>
        <p:nvSpPr>
          <p:cNvPr id="31" name="TextBox 30"/>
          <p:cNvSpPr txBox="1"/>
          <p:nvPr/>
        </p:nvSpPr>
        <p:spPr>
          <a:xfrm>
            <a:off x="6775704" y="1755648"/>
            <a:ext cx="1645920" cy="128016"/>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of credit limit used</a:t>
            </a:r>
          </a:p>
        </p:txBody>
      </p:sp>
      <p:sp>
        <p:nvSpPr>
          <p:cNvPr id="32" name="TextBox 31"/>
          <p:cNvSpPr txBox="1"/>
          <p:nvPr/>
        </p:nvSpPr>
        <p:spPr>
          <a:xfrm>
            <a:off x="6775704" y="1920240"/>
            <a:ext cx="1645920" cy="109728"/>
          </a:xfrm>
          <a:prstGeom prst="rect">
            <a:avLst/>
          </a:prstGeom>
          <a:noFill/>
        </p:spPr>
        <p:txBody>
          <a:bodyPr wrap="square" lIns="0" tIns="0" rIns="0" bIns="0" anchor="t">
            <a:spAutoFit/>
          </a:bodyPr>
          <a:lstStyle/>
          <a:p>
            <a:pPr algn="l">
              <a:lnSpc>
                <a:spcPct val="120000"/>
              </a:lnSpc>
            </a:pPr>
            <a:r>
              <a:rPr sz="600" b="0" i="0">
                <a:solidFill>
                  <a:srgbClr val="4A5668"/>
                </a:solidFill>
                <a:latin typeface="Inter"/>
              </a:rPr>
              <a:t>limit SEK 2.55M</a:t>
            </a:r>
          </a:p>
        </p:txBody>
      </p:sp>
      <p:sp>
        <p:nvSpPr>
          <p:cNvPr id="33" name="TextBox 32"/>
          <p:cNvSpPr txBox="1"/>
          <p:nvPr/>
        </p:nvSpPr>
        <p:spPr>
          <a:xfrm>
            <a:off x="667512" y="2359152"/>
            <a:ext cx="3840480" cy="91440"/>
          </a:xfrm>
          <a:prstGeom prst="rect">
            <a:avLst/>
          </a:prstGeom>
          <a:noFill/>
        </p:spPr>
        <p:txBody>
          <a:bodyPr wrap="square" lIns="0" tIns="0" rIns="0" bIns="0" anchor="t">
            <a:spAutoFit/>
          </a:bodyPr>
          <a:lstStyle/>
          <a:p>
            <a:pPr algn="l">
              <a:lnSpc>
                <a:spcPct val="120000"/>
              </a:lnSpc>
            </a:pPr>
            <a:r>
              <a:rPr sz="530" b="1" i="0">
                <a:solidFill>
                  <a:srgbClr val="5A6472"/>
                </a:solidFill>
                <a:latin typeface="JetBrains Mono"/>
              </a:rPr>
              <a:t>DAYS PAID AFTER DUE DATE  -  BY MONTH</a:t>
            </a:r>
          </a:p>
        </p:txBody>
      </p:sp>
      <p:sp>
        <p:nvSpPr>
          <p:cNvPr id="34" name="Rectangle 33"/>
          <p:cNvSpPr/>
          <p:nvPr/>
        </p:nvSpPr>
        <p:spPr>
          <a:xfrm>
            <a:off x="713232" y="3493008"/>
            <a:ext cx="3657600" cy="10972"/>
          </a:xfrm>
          <a:prstGeom prst="rect">
            <a:avLst/>
          </a:prstGeom>
          <a:solidFill>
            <a:srgbClr val="1A1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3383280" y="2359152"/>
            <a:ext cx="1005840" cy="91440"/>
          </a:xfrm>
          <a:prstGeom prst="rect">
            <a:avLst/>
          </a:prstGeom>
          <a:noFill/>
        </p:spPr>
        <p:txBody>
          <a:bodyPr wrap="square" lIns="0" tIns="0" rIns="0" bIns="0" anchor="t">
            <a:spAutoFit/>
          </a:bodyPr>
          <a:lstStyle/>
          <a:p>
            <a:pPr algn="r">
              <a:lnSpc>
                <a:spcPct val="120000"/>
              </a:lnSpc>
            </a:pPr>
            <a:r>
              <a:rPr sz="530" b="1" i="0">
                <a:solidFill>
                  <a:srgbClr val="1A1A1E"/>
                </a:solidFill>
                <a:latin typeface="JetBrains Mono"/>
              </a:rPr>
              <a:t>━ DUE DATE</a:t>
            </a:r>
          </a:p>
        </p:txBody>
      </p:sp>
      <p:sp>
        <p:nvSpPr>
          <p:cNvPr id="36" name="Rectangle 35"/>
          <p:cNvSpPr/>
          <p:nvPr/>
        </p:nvSpPr>
        <p:spPr>
          <a:xfrm>
            <a:off x="868680" y="3503980"/>
            <a:ext cx="365760" cy="310896"/>
          </a:xfrm>
          <a:prstGeom prst="rect">
            <a:avLst/>
          </a:prstGeom>
          <a:solidFill>
            <a:srgbClr val="9FB7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13815" y="3833164"/>
            <a:ext cx="475488" cy="109728"/>
          </a:xfrm>
          <a:prstGeom prst="rect">
            <a:avLst/>
          </a:prstGeom>
          <a:noFill/>
        </p:spPr>
        <p:txBody>
          <a:bodyPr wrap="square" lIns="0" tIns="0" rIns="0" bIns="0" anchor="t">
            <a:spAutoFit/>
          </a:bodyPr>
          <a:lstStyle/>
          <a:p>
            <a:pPr algn="ctr">
              <a:lnSpc>
                <a:spcPct val="120000"/>
              </a:lnSpc>
            </a:pPr>
            <a:r>
              <a:rPr sz="630" b="1" i="0">
                <a:solidFill>
                  <a:srgbClr val="1A1A1E"/>
                </a:solidFill>
                <a:latin typeface="Inter"/>
              </a:rPr>
              <a:t>-4</a:t>
            </a:r>
          </a:p>
        </p:txBody>
      </p:sp>
      <p:sp>
        <p:nvSpPr>
          <p:cNvPr id="38" name="TextBox 37"/>
          <p:cNvSpPr txBox="1"/>
          <p:nvPr/>
        </p:nvSpPr>
        <p:spPr>
          <a:xfrm>
            <a:off x="813815" y="4160520"/>
            <a:ext cx="475488" cy="109728"/>
          </a:xfrm>
          <a:prstGeom prst="rect">
            <a:avLst/>
          </a:prstGeom>
          <a:noFill/>
        </p:spPr>
        <p:txBody>
          <a:bodyPr wrap="square" lIns="0" tIns="0" rIns="0" bIns="0" anchor="t">
            <a:spAutoFit/>
          </a:bodyPr>
          <a:lstStyle/>
          <a:p>
            <a:pPr algn="ctr">
              <a:lnSpc>
                <a:spcPct val="120000"/>
              </a:lnSpc>
            </a:pPr>
            <a:r>
              <a:rPr sz="530" b="0" i="0">
                <a:solidFill>
                  <a:srgbClr val="5A6472"/>
                </a:solidFill>
                <a:latin typeface="JetBrains Mono"/>
              </a:rPr>
              <a:t>APR</a:t>
            </a:r>
          </a:p>
        </p:txBody>
      </p:sp>
      <p:sp>
        <p:nvSpPr>
          <p:cNvPr id="39" name="Rectangle 38"/>
          <p:cNvSpPr/>
          <p:nvPr/>
        </p:nvSpPr>
        <p:spPr>
          <a:xfrm>
            <a:off x="1453895" y="3503980"/>
            <a:ext cx="365760" cy="155448"/>
          </a:xfrm>
          <a:prstGeom prst="rect">
            <a:avLst/>
          </a:prstGeom>
          <a:solidFill>
            <a:srgbClr val="9FB7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399031" y="3677716"/>
            <a:ext cx="475488" cy="109728"/>
          </a:xfrm>
          <a:prstGeom prst="rect">
            <a:avLst/>
          </a:prstGeom>
          <a:noFill/>
        </p:spPr>
        <p:txBody>
          <a:bodyPr wrap="square" lIns="0" tIns="0" rIns="0" bIns="0" anchor="t">
            <a:spAutoFit/>
          </a:bodyPr>
          <a:lstStyle/>
          <a:p>
            <a:pPr algn="ctr">
              <a:lnSpc>
                <a:spcPct val="120000"/>
              </a:lnSpc>
            </a:pPr>
            <a:r>
              <a:rPr sz="630" b="1" i="0">
                <a:solidFill>
                  <a:srgbClr val="1A1A1E"/>
                </a:solidFill>
                <a:latin typeface="Inter"/>
              </a:rPr>
              <a:t>-2</a:t>
            </a:r>
          </a:p>
        </p:txBody>
      </p:sp>
      <p:sp>
        <p:nvSpPr>
          <p:cNvPr id="41" name="TextBox 40"/>
          <p:cNvSpPr txBox="1"/>
          <p:nvPr/>
        </p:nvSpPr>
        <p:spPr>
          <a:xfrm>
            <a:off x="1399031" y="4160520"/>
            <a:ext cx="475488" cy="109728"/>
          </a:xfrm>
          <a:prstGeom prst="rect">
            <a:avLst/>
          </a:prstGeom>
          <a:noFill/>
        </p:spPr>
        <p:txBody>
          <a:bodyPr wrap="square" lIns="0" tIns="0" rIns="0" bIns="0" anchor="t">
            <a:spAutoFit/>
          </a:bodyPr>
          <a:lstStyle/>
          <a:p>
            <a:pPr algn="ctr">
              <a:lnSpc>
                <a:spcPct val="120000"/>
              </a:lnSpc>
            </a:pPr>
            <a:r>
              <a:rPr sz="530" b="0" i="0">
                <a:solidFill>
                  <a:srgbClr val="5A6472"/>
                </a:solidFill>
                <a:latin typeface="JetBrains Mono"/>
              </a:rPr>
              <a:t>MAY</a:t>
            </a:r>
          </a:p>
        </p:txBody>
      </p:sp>
      <p:sp>
        <p:nvSpPr>
          <p:cNvPr id="42" name="Rectangle 41"/>
          <p:cNvSpPr/>
          <p:nvPr/>
        </p:nvSpPr>
        <p:spPr>
          <a:xfrm>
            <a:off x="2039112" y="3503980"/>
            <a:ext cx="365760" cy="155448"/>
          </a:xfrm>
          <a:prstGeom prst="rect">
            <a:avLst/>
          </a:prstGeom>
          <a:solidFill>
            <a:srgbClr val="9FB7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984248" y="3677716"/>
            <a:ext cx="475488" cy="109728"/>
          </a:xfrm>
          <a:prstGeom prst="rect">
            <a:avLst/>
          </a:prstGeom>
          <a:noFill/>
        </p:spPr>
        <p:txBody>
          <a:bodyPr wrap="square" lIns="0" tIns="0" rIns="0" bIns="0" anchor="t">
            <a:spAutoFit/>
          </a:bodyPr>
          <a:lstStyle/>
          <a:p>
            <a:pPr algn="ctr">
              <a:lnSpc>
                <a:spcPct val="120000"/>
              </a:lnSpc>
            </a:pPr>
            <a:r>
              <a:rPr sz="630" b="1" i="0">
                <a:solidFill>
                  <a:srgbClr val="1A1A1E"/>
                </a:solidFill>
                <a:latin typeface="Inter"/>
              </a:rPr>
              <a:t>-2</a:t>
            </a:r>
          </a:p>
        </p:txBody>
      </p:sp>
      <p:sp>
        <p:nvSpPr>
          <p:cNvPr id="44" name="TextBox 43"/>
          <p:cNvSpPr txBox="1"/>
          <p:nvPr/>
        </p:nvSpPr>
        <p:spPr>
          <a:xfrm>
            <a:off x="1984248" y="4160520"/>
            <a:ext cx="475488" cy="109728"/>
          </a:xfrm>
          <a:prstGeom prst="rect">
            <a:avLst/>
          </a:prstGeom>
          <a:noFill/>
        </p:spPr>
        <p:txBody>
          <a:bodyPr wrap="square" lIns="0" tIns="0" rIns="0" bIns="0" anchor="t">
            <a:spAutoFit/>
          </a:bodyPr>
          <a:lstStyle/>
          <a:p>
            <a:pPr algn="ctr">
              <a:lnSpc>
                <a:spcPct val="120000"/>
              </a:lnSpc>
            </a:pPr>
            <a:r>
              <a:rPr sz="530" b="0" i="0">
                <a:solidFill>
                  <a:srgbClr val="5A6472"/>
                </a:solidFill>
                <a:latin typeface="JetBrains Mono"/>
              </a:rPr>
              <a:t>JUN</a:t>
            </a:r>
          </a:p>
        </p:txBody>
      </p:sp>
      <p:sp>
        <p:nvSpPr>
          <p:cNvPr id="45" name="Rectangle 44"/>
          <p:cNvSpPr/>
          <p:nvPr/>
        </p:nvSpPr>
        <p:spPr>
          <a:xfrm>
            <a:off x="2624328" y="3026663"/>
            <a:ext cx="365760" cy="46634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2569464" y="2880359"/>
            <a:ext cx="475488" cy="109728"/>
          </a:xfrm>
          <a:prstGeom prst="rect">
            <a:avLst/>
          </a:prstGeom>
          <a:noFill/>
        </p:spPr>
        <p:txBody>
          <a:bodyPr wrap="square" lIns="0" tIns="0" rIns="0" bIns="0" anchor="t">
            <a:spAutoFit/>
          </a:bodyPr>
          <a:lstStyle/>
          <a:p>
            <a:pPr algn="ctr">
              <a:lnSpc>
                <a:spcPct val="120000"/>
              </a:lnSpc>
            </a:pPr>
            <a:r>
              <a:rPr sz="630" b="1" i="0">
                <a:solidFill>
                  <a:srgbClr val="1A1A1E"/>
                </a:solidFill>
                <a:latin typeface="Inter"/>
              </a:rPr>
              <a:t>+6</a:t>
            </a:r>
          </a:p>
        </p:txBody>
      </p:sp>
      <p:sp>
        <p:nvSpPr>
          <p:cNvPr id="47" name="TextBox 46"/>
          <p:cNvSpPr txBox="1"/>
          <p:nvPr/>
        </p:nvSpPr>
        <p:spPr>
          <a:xfrm>
            <a:off x="2569464" y="4160520"/>
            <a:ext cx="475488" cy="109728"/>
          </a:xfrm>
          <a:prstGeom prst="rect">
            <a:avLst/>
          </a:prstGeom>
          <a:noFill/>
        </p:spPr>
        <p:txBody>
          <a:bodyPr wrap="square" lIns="0" tIns="0" rIns="0" bIns="0" anchor="t">
            <a:spAutoFit/>
          </a:bodyPr>
          <a:lstStyle/>
          <a:p>
            <a:pPr algn="ctr">
              <a:lnSpc>
                <a:spcPct val="120000"/>
              </a:lnSpc>
            </a:pPr>
            <a:r>
              <a:rPr sz="530" b="0" i="0">
                <a:solidFill>
                  <a:srgbClr val="5A6472"/>
                </a:solidFill>
                <a:latin typeface="JetBrains Mono"/>
              </a:rPr>
              <a:t>JUL</a:t>
            </a:r>
          </a:p>
        </p:txBody>
      </p:sp>
      <p:sp>
        <p:nvSpPr>
          <p:cNvPr id="48" name="Rectangle 47"/>
          <p:cNvSpPr/>
          <p:nvPr/>
        </p:nvSpPr>
        <p:spPr>
          <a:xfrm>
            <a:off x="3209544" y="2871215"/>
            <a:ext cx="365760" cy="621792"/>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3154679" y="2724911"/>
            <a:ext cx="475488" cy="109728"/>
          </a:xfrm>
          <a:prstGeom prst="rect">
            <a:avLst/>
          </a:prstGeom>
          <a:noFill/>
        </p:spPr>
        <p:txBody>
          <a:bodyPr wrap="square" lIns="0" tIns="0" rIns="0" bIns="0" anchor="t">
            <a:spAutoFit/>
          </a:bodyPr>
          <a:lstStyle/>
          <a:p>
            <a:pPr algn="ctr">
              <a:lnSpc>
                <a:spcPct val="120000"/>
              </a:lnSpc>
            </a:pPr>
            <a:r>
              <a:rPr sz="630" b="1" i="0">
                <a:solidFill>
                  <a:srgbClr val="1A1A1E"/>
                </a:solidFill>
                <a:latin typeface="Inter"/>
              </a:rPr>
              <a:t>+8</a:t>
            </a:r>
          </a:p>
        </p:txBody>
      </p:sp>
      <p:sp>
        <p:nvSpPr>
          <p:cNvPr id="50" name="TextBox 49"/>
          <p:cNvSpPr txBox="1"/>
          <p:nvPr/>
        </p:nvSpPr>
        <p:spPr>
          <a:xfrm>
            <a:off x="3154679" y="4160520"/>
            <a:ext cx="475488" cy="109728"/>
          </a:xfrm>
          <a:prstGeom prst="rect">
            <a:avLst/>
          </a:prstGeom>
          <a:noFill/>
        </p:spPr>
        <p:txBody>
          <a:bodyPr wrap="square" lIns="0" tIns="0" rIns="0" bIns="0" anchor="t">
            <a:spAutoFit/>
          </a:bodyPr>
          <a:lstStyle/>
          <a:p>
            <a:pPr algn="ctr">
              <a:lnSpc>
                <a:spcPct val="120000"/>
              </a:lnSpc>
            </a:pPr>
            <a:r>
              <a:rPr sz="530" b="0" i="0">
                <a:solidFill>
                  <a:srgbClr val="5A6472"/>
                </a:solidFill>
                <a:latin typeface="JetBrains Mono"/>
              </a:rPr>
              <a:t>AUG</a:t>
            </a:r>
          </a:p>
        </p:txBody>
      </p:sp>
      <p:sp>
        <p:nvSpPr>
          <p:cNvPr id="51" name="Rectangle 50"/>
          <p:cNvSpPr/>
          <p:nvPr/>
        </p:nvSpPr>
        <p:spPr>
          <a:xfrm>
            <a:off x="3794760" y="2793491"/>
            <a:ext cx="365760" cy="699516"/>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3739896" y="2647187"/>
            <a:ext cx="475488" cy="109728"/>
          </a:xfrm>
          <a:prstGeom prst="rect">
            <a:avLst/>
          </a:prstGeom>
          <a:noFill/>
        </p:spPr>
        <p:txBody>
          <a:bodyPr wrap="square" lIns="0" tIns="0" rIns="0" bIns="0" anchor="t">
            <a:spAutoFit/>
          </a:bodyPr>
          <a:lstStyle/>
          <a:p>
            <a:pPr algn="ctr">
              <a:lnSpc>
                <a:spcPct val="120000"/>
              </a:lnSpc>
            </a:pPr>
            <a:r>
              <a:rPr sz="630" b="1" i="0">
                <a:solidFill>
                  <a:srgbClr val="1A1A1E"/>
                </a:solidFill>
                <a:latin typeface="Inter"/>
              </a:rPr>
              <a:t>+9</a:t>
            </a:r>
          </a:p>
        </p:txBody>
      </p:sp>
      <p:sp>
        <p:nvSpPr>
          <p:cNvPr id="53" name="TextBox 52"/>
          <p:cNvSpPr txBox="1"/>
          <p:nvPr/>
        </p:nvSpPr>
        <p:spPr>
          <a:xfrm>
            <a:off x="3739896" y="4160520"/>
            <a:ext cx="475488" cy="109728"/>
          </a:xfrm>
          <a:prstGeom prst="rect">
            <a:avLst/>
          </a:prstGeom>
          <a:noFill/>
        </p:spPr>
        <p:txBody>
          <a:bodyPr wrap="square" lIns="0" tIns="0" rIns="0" bIns="0" anchor="t">
            <a:spAutoFit/>
          </a:bodyPr>
          <a:lstStyle/>
          <a:p>
            <a:pPr algn="ctr">
              <a:lnSpc>
                <a:spcPct val="120000"/>
              </a:lnSpc>
            </a:pPr>
            <a:r>
              <a:rPr sz="530" b="0" i="0">
                <a:solidFill>
                  <a:srgbClr val="5A6472"/>
                </a:solidFill>
                <a:latin typeface="JetBrains Mono"/>
              </a:rPr>
              <a:t>SEP</a:t>
            </a:r>
          </a:p>
        </p:txBody>
      </p:sp>
      <p:sp>
        <p:nvSpPr>
          <p:cNvPr id="54" name="TextBox 53"/>
          <p:cNvSpPr txBox="1"/>
          <p:nvPr/>
        </p:nvSpPr>
        <p:spPr>
          <a:xfrm>
            <a:off x="713232" y="4297680"/>
            <a:ext cx="3749039" cy="109728"/>
          </a:xfrm>
          <a:prstGeom prst="rect">
            <a:avLst/>
          </a:prstGeom>
          <a:noFill/>
        </p:spPr>
        <p:txBody>
          <a:bodyPr wrap="square" lIns="0" tIns="0" rIns="0" bIns="0" anchor="t">
            <a:spAutoFit/>
          </a:bodyPr>
          <a:lstStyle/>
          <a:p>
            <a:pPr algn="l">
              <a:lnSpc>
                <a:spcPct val="120000"/>
              </a:lnSpc>
            </a:pPr>
            <a:r>
              <a:rPr sz="550" b="0" i="0">
                <a:solidFill>
                  <a:srgbClr val="5A6472"/>
                </a:solidFill>
                <a:latin typeface="Inter"/>
              </a:rPr>
              <a:t>Early payments shown below the line, late payments above.</a:t>
            </a:r>
          </a:p>
        </p:txBody>
      </p:sp>
      <p:sp>
        <p:nvSpPr>
          <p:cNvPr id="55" name="Rounded Rectangle 54"/>
          <p:cNvSpPr/>
          <p:nvPr/>
        </p:nvSpPr>
        <p:spPr>
          <a:xfrm>
            <a:off x="4663440" y="2359152"/>
            <a:ext cx="3813048" cy="20574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Rounded Rectangle 55"/>
          <p:cNvSpPr/>
          <p:nvPr/>
        </p:nvSpPr>
        <p:spPr>
          <a:xfrm>
            <a:off x="4663440" y="2359152"/>
            <a:ext cx="27432" cy="205740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4846320" y="2496312"/>
            <a:ext cx="3474720" cy="91440"/>
          </a:xfrm>
          <a:prstGeom prst="rect">
            <a:avLst/>
          </a:prstGeom>
          <a:noFill/>
        </p:spPr>
        <p:txBody>
          <a:bodyPr wrap="square" lIns="0" tIns="0" rIns="0" bIns="0" anchor="t">
            <a:spAutoFit/>
          </a:bodyPr>
          <a:lstStyle/>
          <a:p>
            <a:pPr algn="l">
              <a:lnSpc>
                <a:spcPct val="120000"/>
              </a:lnSpc>
            </a:pPr>
            <a:r>
              <a:rPr sz="530" b="1" i="0">
                <a:solidFill>
                  <a:srgbClr val="5F8B2F"/>
                </a:solidFill>
                <a:latin typeface="JetBrains Mono"/>
              </a:rPr>
              <a:t>NOTES SUMMARY  ·  AI</a:t>
            </a:r>
          </a:p>
        </p:txBody>
      </p:sp>
      <p:sp>
        <p:nvSpPr>
          <p:cNvPr id="58" name="TextBox 57"/>
          <p:cNvSpPr txBox="1"/>
          <p:nvPr/>
        </p:nvSpPr>
        <p:spPr>
          <a:xfrm>
            <a:off x="4846320" y="2651760"/>
            <a:ext cx="3520440" cy="274320"/>
          </a:xfrm>
          <a:prstGeom prst="rect">
            <a:avLst/>
          </a:prstGeom>
          <a:noFill/>
        </p:spPr>
        <p:txBody>
          <a:bodyPr wrap="square" lIns="0" tIns="0" rIns="0" bIns="0" anchor="t">
            <a:spAutoFit/>
          </a:bodyPr>
          <a:lstStyle/>
          <a:p>
            <a:pPr algn="l">
              <a:lnSpc>
                <a:spcPct val="135000"/>
              </a:lnSpc>
            </a:pPr>
            <a:r>
              <a:rPr sz="680" b="0" i="0">
                <a:solidFill>
                  <a:srgbClr val="1A1A1E"/>
                </a:solidFill>
                <a:latin typeface="Inter"/>
              </a:rPr>
              <a:t>Reminders sent 18.09 and 21.09. No dispute, no promise to pay and no remittance recorded.</a:t>
            </a:r>
          </a:p>
        </p:txBody>
      </p:sp>
      <p:sp>
        <p:nvSpPr>
          <p:cNvPr id="59" name="Rectangle 58"/>
          <p:cNvSpPr/>
          <p:nvPr/>
        </p:nvSpPr>
        <p:spPr>
          <a:xfrm>
            <a:off x="4846320" y="3017520"/>
            <a:ext cx="3456432"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4846320" y="3108960"/>
            <a:ext cx="3474720" cy="91440"/>
          </a:xfrm>
          <a:prstGeom prst="rect">
            <a:avLst/>
          </a:prstGeom>
          <a:noFill/>
        </p:spPr>
        <p:txBody>
          <a:bodyPr wrap="square" lIns="0" tIns="0" rIns="0" bIns="0" anchor="t">
            <a:spAutoFit/>
          </a:bodyPr>
          <a:lstStyle/>
          <a:p>
            <a:pPr algn="l">
              <a:lnSpc>
                <a:spcPct val="120000"/>
              </a:lnSpc>
            </a:pPr>
            <a:r>
              <a:rPr sz="530" b="1" i="0">
                <a:solidFill>
                  <a:srgbClr val="5F8B2F"/>
                </a:solidFill>
                <a:latin typeface="JetBrains Mono"/>
              </a:rPr>
              <a:t>SUGGESTED TALKING POINTS  ·  AI</a:t>
            </a:r>
          </a:p>
        </p:txBody>
      </p:sp>
      <p:sp>
        <p:nvSpPr>
          <p:cNvPr id="61" name="Rectangle 60"/>
          <p:cNvSpPr/>
          <p:nvPr/>
        </p:nvSpPr>
        <p:spPr>
          <a:xfrm>
            <a:off x="4864608" y="3319272"/>
            <a:ext cx="45720" cy="4572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5001768" y="3273552"/>
            <a:ext cx="3337560" cy="329184"/>
          </a:xfrm>
          <a:prstGeom prst="rect">
            <a:avLst/>
          </a:prstGeom>
          <a:noFill/>
        </p:spPr>
        <p:txBody>
          <a:bodyPr wrap="square" lIns="0" tIns="0" rIns="0" bIns="0" anchor="t">
            <a:spAutoFit/>
          </a:bodyPr>
          <a:lstStyle/>
          <a:p>
            <a:pPr algn="l">
              <a:lnSpc>
                <a:spcPct val="135000"/>
              </a:lnSpc>
            </a:pPr>
            <a:r>
              <a:rPr sz="660" b="0" i="0">
                <a:solidFill>
                  <a:srgbClr val="1A1A1E"/>
                </a:solidFill>
                <a:latin typeface="Inter"/>
              </a:rPr>
              <a:t>Ask for a payment date for the six overdue invoices (SEK 629k).</a:t>
            </a:r>
          </a:p>
        </p:txBody>
      </p:sp>
      <p:sp>
        <p:nvSpPr>
          <p:cNvPr id="63" name="Rectangle 62"/>
          <p:cNvSpPr/>
          <p:nvPr/>
        </p:nvSpPr>
        <p:spPr>
          <a:xfrm>
            <a:off x="4864608" y="3675888"/>
            <a:ext cx="45720" cy="4572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5001768" y="3630168"/>
            <a:ext cx="3337560" cy="329184"/>
          </a:xfrm>
          <a:prstGeom prst="rect">
            <a:avLst/>
          </a:prstGeom>
          <a:noFill/>
        </p:spPr>
        <p:txBody>
          <a:bodyPr wrap="square" lIns="0" tIns="0" rIns="0" bIns="0" anchor="t">
            <a:spAutoFit/>
          </a:bodyPr>
          <a:lstStyle/>
          <a:p>
            <a:pPr algn="l">
              <a:lnSpc>
                <a:spcPct val="135000"/>
              </a:lnSpc>
            </a:pPr>
            <a:r>
              <a:rPr sz="660" b="0" i="0">
                <a:solidFill>
                  <a:srgbClr val="1A1A1E"/>
                </a:solidFill>
                <a:latin typeface="Inter"/>
              </a:rPr>
              <a:t>Since July, payments arrive about 9 days after the due date - they used to arrive early. Ask whether their payment run or approval process has changed.</a:t>
            </a:r>
          </a:p>
        </p:txBody>
      </p:sp>
      <p:sp>
        <p:nvSpPr>
          <p:cNvPr id="65" name="Rectangle 64"/>
          <p:cNvSpPr/>
          <p:nvPr/>
        </p:nvSpPr>
        <p:spPr>
          <a:xfrm>
            <a:off x="4864608" y="4032504"/>
            <a:ext cx="45720" cy="4572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5001768" y="3986784"/>
            <a:ext cx="3337560" cy="329184"/>
          </a:xfrm>
          <a:prstGeom prst="rect">
            <a:avLst/>
          </a:prstGeom>
          <a:noFill/>
        </p:spPr>
        <p:txBody>
          <a:bodyPr wrap="square" lIns="0" tIns="0" rIns="0" bIns="0" anchor="t">
            <a:spAutoFit/>
          </a:bodyPr>
          <a:lstStyle/>
          <a:p>
            <a:pPr algn="l">
              <a:lnSpc>
                <a:spcPct val="135000"/>
              </a:lnSpc>
            </a:pPr>
            <a:r>
              <a:rPr sz="660" b="0" i="0">
                <a:solidFill>
                  <a:srgbClr val="1A1A1E"/>
                </a:solidFill>
                <a:latin typeface="Inter"/>
              </a:rPr>
              <a:t>Agree one contact for follow-up, as two reminders have gone unanswered.</a:t>
            </a:r>
          </a:p>
        </p:txBody>
      </p:sp>
      <p:sp>
        <p:nvSpPr>
          <p:cNvPr id="67" name="TextBox 66"/>
          <p:cNvSpPr txBox="1"/>
          <p:nvPr/>
        </p:nvSpPr>
        <p:spPr>
          <a:xfrm>
            <a:off x="667512" y="4553712"/>
            <a:ext cx="7772400" cy="109728"/>
          </a:xfrm>
          <a:prstGeom prst="rect">
            <a:avLst/>
          </a:prstGeom>
          <a:noFill/>
        </p:spPr>
        <p:txBody>
          <a:bodyPr wrap="square" lIns="0" tIns="0" rIns="0" bIns="0" anchor="t">
            <a:spAutoFit/>
          </a:bodyPr>
          <a:lstStyle/>
          <a:p>
            <a:pPr algn="l">
              <a:lnSpc>
                <a:spcPct val="120000"/>
              </a:lnSpc>
            </a:pPr>
            <a:r>
              <a:rPr sz="550" b="0" i="1">
                <a:solidFill>
                  <a:srgbClr val="5A6472"/>
                </a:solidFill>
                <a:latin typeface="Inter"/>
              </a:rPr>
              <a:t>Illustrative, synthetic data - customer names, amounts and identifiers are fictional.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DEMONSTRATION  ·  3 OF 4  ·  READING THE NOTES</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10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Where GenAI earns its place: reading the notes.</a:t>
            </a:r>
          </a:p>
        </p:txBody>
      </p:sp>
      <p:sp>
        <p:nvSpPr>
          <p:cNvPr id="12" name="TextBox 11"/>
          <p:cNvSpPr txBox="1"/>
          <p:nvPr/>
        </p:nvSpPr>
        <p:spPr>
          <a:xfrm>
            <a:off x="667512" y="1005840"/>
            <a:ext cx="7132320" cy="457200"/>
          </a:xfrm>
          <a:prstGeom prst="rect">
            <a:avLst/>
          </a:prstGeom>
          <a:noFill/>
        </p:spPr>
        <p:txBody>
          <a:bodyPr wrap="square" lIns="0" tIns="0" rIns="0" bIns="0" anchor="t">
            <a:spAutoFit/>
          </a:bodyPr>
          <a:lstStyle/>
          <a:p>
            <a:pPr algn="l">
              <a:lnSpc>
                <a:spcPct val="145000"/>
              </a:lnSpc>
            </a:pPr>
            <a:r>
              <a:rPr sz="800" b="0" i="0">
                <a:solidFill>
                  <a:srgbClr val="4A5668"/>
                </a:solidFill>
                <a:latin typeface="Inter"/>
              </a:rPr>
              <a:t>Vassbo Trading AB. The notes are typed in shorthand on each invoice, as today. Nothing tells the collector that a promise has passed.</a:t>
            </a:r>
          </a:p>
        </p:txBody>
      </p:sp>
      <p:sp>
        <p:nvSpPr>
          <p:cNvPr id="13" name="Rounded Rectangle 12"/>
          <p:cNvSpPr/>
          <p:nvPr/>
        </p:nvSpPr>
        <p:spPr>
          <a:xfrm>
            <a:off x="667512" y="1463040"/>
            <a:ext cx="3749039" cy="26974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463040"/>
            <a:ext cx="27432" cy="2697480"/>
          </a:xfrm>
          <a:prstGeom prst="roundRect">
            <a:avLst>
              <a:gd name="adj" fmla="val 50000"/>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 y="1609344"/>
            <a:ext cx="3291840" cy="91440"/>
          </a:xfrm>
          <a:prstGeom prst="rect">
            <a:avLst/>
          </a:prstGeom>
          <a:noFill/>
        </p:spPr>
        <p:txBody>
          <a:bodyPr wrap="square" lIns="0" tIns="0" rIns="0" bIns="0" anchor="t">
            <a:spAutoFit/>
          </a:bodyPr>
          <a:lstStyle/>
          <a:p>
            <a:pPr algn="l">
              <a:lnSpc>
                <a:spcPct val="120000"/>
              </a:lnSpc>
            </a:pPr>
            <a:r>
              <a:rPr sz="530" b="1" i="0">
                <a:solidFill>
                  <a:srgbClr val="5A6472"/>
                </a:solidFill>
                <a:latin typeface="JetBrains Mono"/>
              </a:rPr>
              <a:t>WHAT IS IN THE TEXT FIELD TODAY</a:t>
            </a:r>
          </a:p>
        </p:txBody>
      </p:sp>
      <p:sp>
        <p:nvSpPr>
          <p:cNvPr id="16" name="TextBox 15"/>
          <p:cNvSpPr txBox="1"/>
          <p:nvPr/>
        </p:nvSpPr>
        <p:spPr>
          <a:xfrm>
            <a:off x="850392" y="1810512"/>
            <a:ext cx="3429000" cy="128016"/>
          </a:xfrm>
          <a:prstGeom prst="rect">
            <a:avLst/>
          </a:prstGeom>
          <a:noFill/>
        </p:spPr>
        <p:txBody>
          <a:bodyPr wrap="square" lIns="0" tIns="0" rIns="0" bIns="0" anchor="t">
            <a:spAutoFit/>
          </a:bodyPr>
          <a:lstStyle/>
          <a:p>
            <a:pPr algn="l">
              <a:lnSpc>
                <a:spcPct val="120000"/>
              </a:lnSpc>
            </a:pPr>
            <a:r>
              <a:rPr sz="630" b="1" i="0">
                <a:solidFill>
                  <a:srgbClr val="1A1A1E"/>
                </a:solidFill>
                <a:latin typeface="Inter"/>
              </a:rPr>
              <a:t>Invoice 90042589  ·  SEK 331,720  ·  due 03.08</a:t>
            </a:r>
          </a:p>
        </p:txBody>
      </p:sp>
      <p:sp>
        <p:nvSpPr>
          <p:cNvPr id="17" name="TextBox 16"/>
          <p:cNvSpPr txBox="1"/>
          <p:nvPr/>
        </p:nvSpPr>
        <p:spPr>
          <a:xfrm>
            <a:off x="850392" y="1965960"/>
            <a:ext cx="3429000" cy="457200"/>
          </a:xfrm>
          <a:prstGeom prst="rect">
            <a:avLst/>
          </a:prstGeom>
          <a:noFill/>
        </p:spPr>
        <p:txBody>
          <a:bodyPr wrap="square" lIns="0" tIns="0" rIns="0" bIns="0" anchor="t">
            <a:spAutoFit/>
          </a:bodyPr>
          <a:lstStyle/>
          <a:p>
            <a:pPr algn="l">
              <a:lnSpc>
                <a:spcPct val="135000"/>
              </a:lnSpc>
            </a:pPr>
            <a:r>
              <a:rPr sz="600" b="0" i="0">
                <a:solidFill>
                  <a:srgbClr val="4A5668"/>
                </a:solidFill>
                <a:latin typeface="JetBrains Mono"/>
              </a:rPr>
              <a:t>08.08 reminder sent OS; 15.08 SOA sent OS; 21.08 called, no answer OS; 26.08 2nd reminder OS; 09.09 @cust confirmed payment, P2P 16.09 OS</a:t>
            </a:r>
          </a:p>
        </p:txBody>
      </p:sp>
      <p:sp>
        <p:nvSpPr>
          <p:cNvPr id="18" name="TextBox 17"/>
          <p:cNvSpPr txBox="1"/>
          <p:nvPr/>
        </p:nvSpPr>
        <p:spPr>
          <a:xfrm>
            <a:off x="850392" y="2578608"/>
            <a:ext cx="3429000" cy="128016"/>
          </a:xfrm>
          <a:prstGeom prst="rect">
            <a:avLst/>
          </a:prstGeom>
          <a:noFill/>
        </p:spPr>
        <p:txBody>
          <a:bodyPr wrap="square" lIns="0" tIns="0" rIns="0" bIns="0" anchor="t">
            <a:spAutoFit/>
          </a:bodyPr>
          <a:lstStyle/>
          <a:p>
            <a:pPr algn="l">
              <a:lnSpc>
                <a:spcPct val="120000"/>
              </a:lnSpc>
            </a:pPr>
            <a:r>
              <a:rPr sz="630" b="1" i="0">
                <a:solidFill>
                  <a:srgbClr val="1A1A1E"/>
                </a:solidFill>
                <a:latin typeface="Inter"/>
              </a:rPr>
              <a:t>Invoice 90042594  ·  SEK 116,235  ·  due 23.08</a:t>
            </a:r>
          </a:p>
        </p:txBody>
      </p:sp>
      <p:sp>
        <p:nvSpPr>
          <p:cNvPr id="19" name="TextBox 18"/>
          <p:cNvSpPr txBox="1"/>
          <p:nvPr/>
        </p:nvSpPr>
        <p:spPr>
          <a:xfrm>
            <a:off x="850392" y="2734056"/>
            <a:ext cx="3429000" cy="457200"/>
          </a:xfrm>
          <a:prstGeom prst="rect">
            <a:avLst/>
          </a:prstGeom>
          <a:noFill/>
        </p:spPr>
        <p:txBody>
          <a:bodyPr wrap="square" lIns="0" tIns="0" rIns="0" bIns="0" anchor="t">
            <a:spAutoFit/>
          </a:bodyPr>
          <a:lstStyle/>
          <a:p>
            <a:pPr algn="l">
              <a:lnSpc>
                <a:spcPct val="135000"/>
              </a:lnSpc>
            </a:pPr>
            <a:r>
              <a:rPr sz="600" b="0" i="0">
                <a:solidFill>
                  <a:srgbClr val="4A5668"/>
                </a:solidFill>
                <a:latin typeface="JetBrains Mono"/>
              </a:rPr>
              <a:t>29.08 reminder sent OS; 06.09 SOA sent OS; 13.09 @cust confirmed payment, P2P 17.09 OS</a:t>
            </a:r>
          </a:p>
        </p:txBody>
      </p:sp>
      <p:sp>
        <p:nvSpPr>
          <p:cNvPr id="20" name="TextBox 19"/>
          <p:cNvSpPr txBox="1"/>
          <p:nvPr/>
        </p:nvSpPr>
        <p:spPr>
          <a:xfrm>
            <a:off x="850392" y="3346703"/>
            <a:ext cx="3429000" cy="128016"/>
          </a:xfrm>
          <a:prstGeom prst="rect">
            <a:avLst/>
          </a:prstGeom>
          <a:noFill/>
        </p:spPr>
        <p:txBody>
          <a:bodyPr wrap="square" lIns="0" tIns="0" rIns="0" bIns="0" anchor="t">
            <a:spAutoFit/>
          </a:bodyPr>
          <a:lstStyle/>
          <a:p>
            <a:pPr algn="l">
              <a:lnSpc>
                <a:spcPct val="120000"/>
              </a:lnSpc>
            </a:pPr>
            <a:r>
              <a:rPr sz="630" b="1" i="0">
                <a:solidFill>
                  <a:srgbClr val="1A1A1E"/>
                </a:solidFill>
                <a:latin typeface="Inter"/>
              </a:rPr>
              <a:t>Credit notes  ·  SEK 210,865</a:t>
            </a:r>
          </a:p>
        </p:txBody>
      </p:sp>
      <p:sp>
        <p:nvSpPr>
          <p:cNvPr id="21" name="TextBox 20"/>
          <p:cNvSpPr txBox="1"/>
          <p:nvPr/>
        </p:nvSpPr>
        <p:spPr>
          <a:xfrm>
            <a:off x="850392" y="3502151"/>
            <a:ext cx="3429000" cy="457200"/>
          </a:xfrm>
          <a:prstGeom prst="rect">
            <a:avLst/>
          </a:prstGeom>
          <a:noFill/>
        </p:spPr>
        <p:txBody>
          <a:bodyPr wrap="square" lIns="0" tIns="0" rIns="0" bIns="0" anchor="t">
            <a:spAutoFit/>
          </a:bodyPr>
          <a:lstStyle/>
          <a:p>
            <a:pPr algn="l">
              <a:lnSpc>
                <a:spcPct val="135000"/>
              </a:lnSpc>
            </a:pPr>
            <a:r>
              <a:rPr sz="600" b="0" i="0">
                <a:solidFill>
                  <a:srgbClr val="4A5668"/>
                </a:solidFill>
                <a:latin typeface="JetBrains Mono"/>
              </a:rPr>
              <a:t>Promo support Q2/26; Price Prot support Q2/26  (not due until October)</a:t>
            </a:r>
          </a:p>
        </p:txBody>
      </p:sp>
      <p:sp>
        <p:nvSpPr>
          <p:cNvPr id="22" name="TextBox 21"/>
          <p:cNvSpPr txBox="1"/>
          <p:nvPr/>
        </p:nvSpPr>
        <p:spPr>
          <a:xfrm>
            <a:off x="4416552" y="2651760"/>
            <a:ext cx="310896" cy="274320"/>
          </a:xfrm>
          <a:prstGeom prst="rect">
            <a:avLst/>
          </a:prstGeom>
          <a:noFill/>
        </p:spPr>
        <p:txBody>
          <a:bodyPr wrap="square" lIns="0" tIns="0" rIns="0" bIns="0" anchor="t">
            <a:spAutoFit/>
          </a:bodyPr>
          <a:lstStyle/>
          <a:p>
            <a:pPr algn="ctr">
              <a:lnSpc>
                <a:spcPct val="120000"/>
              </a:lnSpc>
            </a:pPr>
            <a:r>
              <a:rPr sz="1600" b="1" i="0">
                <a:solidFill>
                  <a:srgbClr val="5F8B2F"/>
                </a:solidFill>
                <a:latin typeface="Inter"/>
              </a:rPr>
              <a:t>→</a:t>
            </a:r>
          </a:p>
        </p:txBody>
      </p:sp>
      <p:sp>
        <p:nvSpPr>
          <p:cNvPr id="23" name="Rounded Rectangle 22"/>
          <p:cNvSpPr/>
          <p:nvPr/>
        </p:nvSpPr>
        <p:spPr>
          <a:xfrm>
            <a:off x="4727448" y="1463040"/>
            <a:ext cx="3749039" cy="26974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727448" y="1463040"/>
            <a:ext cx="27432" cy="26974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910328" y="1609344"/>
            <a:ext cx="3291840" cy="91440"/>
          </a:xfrm>
          <a:prstGeom prst="rect">
            <a:avLst/>
          </a:prstGeom>
          <a:noFill/>
        </p:spPr>
        <p:txBody>
          <a:bodyPr wrap="square" lIns="0" tIns="0" rIns="0" bIns="0" anchor="t">
            <a:spAutoFit/>
          </a:bodyPr>
          <a:lstStyle/>
          <a:p>
            <a:pPr algn="l">
              <a:lnSpc>
                <a:spcPct val="120000"/>
              </a:lnSpc>
            </a:pPr>
            <a:r>
              <a:rPr sz="530" b="1" i="0">
                <a:solidFill>
                  <a:srgbClr val="5F8B2F"/>
                </a:solidFill>
                <a:latin typeface="JetBrains Mono"/>
              </a:rPr>
              <a:t>WHAT THE COPILOT READS FROM IT</a:t>
            </a:r>
          </a:p>
        </p:txBody>
      </p:sp>
      <p:sp>
        <p:nvSpPr>
          <p:cNvPr id="26" name="TextBox 25"/>
          <p:cNvSpPr txBox="1"/>
          <p:nvPr/>
        </p:nvSpPr>
        <p:spPr>
          <a:xfrm>
            <a:off x="4910328" y="1810512"/>
            <a:ext cx="822960" cy="128016"/>
          </a:xfrm>
          <a:prstGeom prst="rect">
            <a:avLst/>
          </a:prstGeom>
          <a:noFill/>
        </p:spPr>
        <p:txBody>
          <a:bodyPr wrap="square" lIns="0" tIns="0" rIns="0" bIns="0" anchor="t">
            <a:spAutoFit/>
          </a:bodyPr>
          <a:lstStyle/>
          <a:p>
            <a:pPr algn="l">
              <a:lnSpc>
                <a:spcPct val="120000"/>
              </a:lnSpc>
            </a:pPr>
            <a:r>
              <a:rPr sz="700" b="1" i="0">
                <a:solidFill>
                  <a:srgbClr val="1A1A1E"/>
                </a:solidFill>
                <a:latin typeface="Inter"/>
              </a:rPr>
              <a:t>Status</a:t>
            </a:r>
          </a:p>
        </p:txBody>
      </p:sp>
      <p:sp>
        <p:nvSpPr>
          <p:cNvPr id="27" name="TextBox 26"/>
          <p:cNvSpPr txBox="1"/>
          <p:nvPr/>
        </p:nvSpPr>
        <p:spPr>
          <a:xfrm>
            <a:off x="5715000" y="1810512"/>
            <a:ext cx="2651760" cy="502920"/>
          </a:xfrm>
          <a:prstGeom prst="rect">
            <a:avLst/>
          </a:prstGeom>
          <a:noFill/>
        </p:spPr>
        <p:txBody>
          <a:bodyPr wrap="square" lIns="0" tIns="0" rIns="0" bIns="0" anchor="t">
            <a:spAutoFit/>
          </a:bodyPr>
          <a:lstStyle/>
          <a:p>
            <a:pPr algn="l">
              <a:lnSpc>
                <a:spcPct val="135000"/>
              </a:lnSpc>
            </a:pPr>
            <a:r>
              <a:rPr sz="650" b="0" i="0">
                <a:solidFill>
                  <a:srgbClr val="1A1A1E"/>
                </a:solidFill>
                <a:latin typeface="Inter"/>
              </a:rPr>
              <a:t>Promise broken. Customer promised 16.09 and 17.09; both invoices still unpaid, 8-9 days later.</a:t>
            </a:r>
          </a:p>
        </p:txBody>
      </p:sp>
      <p:sp>
        <p:nvSpPr>
          <p:cNvPr id="28" name="TextBox 27"/>
          <p:cNvSpPr txBox="1"/>
          <p:nvPr/>
        </p:nvSpPr>
        <p:spPr>
          <a:xfrm>
            <a:off x="4910328" y="2377440"/>
            <a:ext cx="822960" cy="128016"/>
          </a:xfrm>
          <a:prstGeom prst="rect">
            <a:avLst/>
          </a:prstGeom>
          <a:noFill/>
        </p:spPr>
        <p:txBody>
          <a:bodyPr wrap="square" lIns="0" tIns="0" rIns="0" bIns="0" anchor="t">
            <a:spAutoFit/>
          </a:bodyPr>
          <a:lstStyle/>
          <a:p>
            <a:pPr algn="l">
              <a:lnSpc>
                <a:spcPct val="120000"/>
              </a:lnSpc>
            </a:pPr>
            <a:r>
              <a:rPr sz="700" b="1" i="0">
                <a:solidFill>
                  <a:srgbClr val="1A1A1E"/>
                </a:solidFill>
                <a:latin typeface="Inter"/>
              </a:rPr>
              <a:t>History</a:t>
            </a:r>
          </a:p>
        </p:txBody>
      </p:sp>
      <p:sp>
        <p:nvSpPr>
          <p:cNvPr id="29" name="TextBox 28"/>
          <p:cNvSpPr txBox="1"/>
          <p:nvPr/>
        </p:nvSpPr>
        <p:spPr>
          <a:xfrm>
            <a:off x="5715000" y="2377440"/>
            <a:ext cx="2651760" cy="502920"/>
          </a:xfrm>
          <a:prstGeom prst="rect">
            <a:avLst/>
          </a:prstGeom>
          <a:noFill/>
        </p:spPr>
        <p:txBody>
          <a:bodyPr wrap="square" lIns="0" tIns="0" rIns="0" bIns="0" anchor="t">
            <a:spAutoFit/>
          </a:bodyPr>
          <a:lstStyle/>
          <a:p>
            <a:pPr algn="l">
              <a:lnSpc>
                <a:spcPct val="135000"/>
              </a:lnSpc>
            </a:pPr>
            <a:r>
              <a:rPr sz="650" b="0" i="0">
                <a:solidFill>
                  <a:srgbClr val="1A1A1E"/>
                </a:solidFill>
                <a:latin typeface="Inter"/>
              </a:rPr>
              <a:t>Three reminders (one a statement) and an unanswered call since 08.08, then the promise.</a:t>
            </a:r>
          </a:p>
        </p:txBody>
      </p:sp>
      <p:sp>
        <p:nvSpPr>
          <p:cNvPr id="30" name="TextBox 29"/>
          <p:cNvSpPr txBox="1"/>
          <p:nvPr/>
        </p:nvSpPr>
        <p:spPr>
          <a:xfrm>
            <a:off x="4910328" y="2944368"/>
            <a:ext cx="822960" cy="128016"/>
          </a:xfrm>
          <a:prstGeom prst="rect">
            <a:avLst/>
          </a:prstGeom>
          <a:noFill/>
        </p:spPr>
        <p:txBody>
          <a:bodyPr wrap="square" lIns="0" tIns="0" rIns="0" bIns="0" anchor="t">
            <a:spAutoFit/>
          </a:bodyPr>
          <a:lstStyle/>
          <a:p>
            <a:pPr algn="l">
              <a:lnSpc>
                <a:spcPct val="120000"/>
              </a:lnSpc>
            </a:pPr>
            <a:r>
              <a:rPr sz="700" b="1" i="0">
                <a:solidFill>
                  <a:srgbClr val="1A1A1E"/>
                </a:solidFill>
                <a:latin typeface="Inter"/>
              </a:rPr>
              <a:t>Watch out</a:t>
            </a:r>
          </a:p>
        </p:txBody>
      </p:sp>
      <p:sp>
        <p:nvSpPr>
          <p:cNvPr id="31" name="TextBox 30"/>
          <p:cNvSpPr txBox="1"/>
          <p:nvPr/>
        </p:nvSpPr>
        <p:spPr>
          <a:xfrm>
            <a:off x="5715000" y="2944368"/>
            <a:ext cx="2651760" cy="502920"/>
          </a:xfrm>
          <a:prstGeom prst="rect">
            <a:avLst/>
          </a:prstGeom>
          <a:noFill/>
        </p:spPr>
        <p:txBody>
          <a:bodyPr wrap="square" lIns="0" tIns="0" rIns="0" bIns="0" anchor="t">
            <a:spAutoFit/>
          </a:bodyPr>
          <a:lstStyle/>
          <a:p>
            <a:pPr algn="l">
              <a:lnSpc>
                <a:spcPct val="135000"/>
              </a:lnSpc>
            </a:pPr>
            <a:r>
              <a:rPr sz="650" b="0" i="0">
                <a:solidFill>
                  <a:srgbClr val="1A1A1E"/>
                </a:solidFill>
                <a:latin typeface="Inter"/>
              </a:rPr>
              <a:t>SEK 211k of promotion credits are not due until October - don't offset them yet.</a:t>
            </a:r>
          </a:p>
        </p:txBody>
      </p:sp>
      <p:sp>
        <p:nvSpPr>
          <p:cNvPr id="32" name="TextBox 31"/>
          <p:cNvSpPr txBox="1"/>
          <p:nvPr/>
        </p:nvSpPr>
        <p:spPr>
          <a:xfrm>
            <a:off x="4910328" y="3511296"/>
            <a:ext cx="822960" cy="128016"/>
          </a:xfrm>
          <a:prstGeom prst="rect">
            <a:avLst/>
          </a:prstGeom>
          <a:noFill/>
        </p:spPr>
        <p:txBody>
          <a:bodyPr wrap="square" lIns="0" tIns="0" rIns="0" bIns="0" anchor="t">
            <a:spAutoFit/>
          </a:bodyPr>
          <a:lstStyle/>
          <a:p>
            <a:pPr algn="l">
              <a:lnSpc>
                <a:spcPct val="120000"/>
              </a:lnSpc>
            </a:pPr>
            <a:r>
              <a:rPr sz="700" b="1" i="0">
                <a:solidFill>
                  <a:srgbClr val="1A1A1E"/>
                </a:solidFill>
                <a:latin typeface="Inter"/>
              </a:rPr>
              <a:t>Next action</a:t>
            </a:r>
          </a:p>
        </p:txBody>
      </p:sp>
      <p:sp>
        <p:nvSpPr>
          <p:cNvPr id="33" name="TextBox 32"/>
          <p:cNvSpPr txBox="1"/>
          <p:nvPr/>
        </p:nvSpPr>
        <p:spPr>
          <a:xfrm>
            <a:off x="5715000" y="3511296"/>
            <a:ext cx="2651760" cy="502920"/>
          </a:xfrm>
          <a:prstGeom prst="rect">
            <a:avLst/>
          </a:prstGeom>
          <a:noFill/>
        </p:spPr>
        <p:txBody>
          <a:bodyPr wrap="square" lIns="0" tIns="0" rIns="0" bIns="0" anchor="t">
            <a:spAutoFit/>
          </a:bodyPr>
          <a:lstStyle/>
          <a:p>
            <a:pPr algn="l">
              <a:lnSpc>
                <a:spcPct val="135000"/>
              </a:lnSpc>
            </a:pPr>
            <a:r>
              <a:rPr sz="650" b="0" i="0">
                <a:solidFill>
                  <a:srgbClr val="1A1A1E"/>
                </a:solidFill>
                <a:latin typeface="Inter"/>
              </a:rPr>
              <a:t>Escalate: call the payables manager, ask for a new date or a remittance, and consider a credit hold.</a:t>
            </a:r>
          </a:p>
        </p:txBody>
      </p:sp>
      <p:sp>
        <p:nvSpPr>
          <p:cNvPr id="34" name="TextBox 33"/>
          <p:cNvSpPr txBox="1"/>
          <p:nvPr/>
        </p:nvSpPr>
        <p:spPr>
          <a:xfrm>
            <a:off x="667512" y="4261104"/>
            <a:ext cx="7772400" cy="256032"/>
          </a:xfrm>
          <a:prstGeom prst="rect">
            <a:avLst/>
          </a:prstGeom>
          <a:noFill/>
        </p:spPr>
        <p:txBody>
          <a:bodyPr wrap="square" lIns="0" tIns="0" rIns="0" bIns="0" anchor="t">
            <a:spAutoFit/>
          </a:bodyPr>
          <a:lstStyle/>
          <a:p>
            <a:pPr algn="l">
              <a:lnSpc>
                <a:spcPct val="135000"/>
              </a:lnSpc>
            </a:pPr>
            <a:r>
              <a:rPr sz="640" b="1" i="0">
                <a:solidFill>
                  <a:srgbClr val="4A5668"/>
                </a:solidFill>
                <a:latin typeface="Inter"/>
              </a:rPr>
              <a:t>Shorthand it must understand: </a:t>
            </a:r>
            <a:r>
              <a:rPr sz="640" b="0" i="0">
                <a:solidFill>
                  <a:srgbClr val="4A5668"/>
                </a:solidFill>
                <a:latin typeface="Inter"/>
              </a:rPr>
              <a:t>P2P = promise to pay · R/A = remittance advice · CN = credit note · resdiff = residual difference · @cust = customer said. A glossary will be agreed with the collectors (e.g. what 'P14' means).</a:t>
            </a:r>
          </a:p>
        </p:txBody>
      </p:sp>
      <p:sp>
        <p:nvSpPr>
          <p:cNvPr id="35" name="TextBox 34"/>
          <p:cNvSpPr txBox="1"/>
          <p:nvPr/>
        </p:nvSpPr>
        <p:spPr>
          <a:xfrm>
            <a:off x="667512" y="4572000"/>
            <a:ext cx="7772400" cy="109728"/>
          </a:xfrm>
          <a:prstGeom prst="rect">
            <a:avLst/>
          </a:prstGeom>
          <a:noFill/>
        </p:spPr>
        <p:txBody>
          <a:bodyPr wrap="square" lIns="0" tIns="0" rIns="0" bIns="0" anchor="t">
            <a:spAutoFit/>
          </a:bodyPr>
          <a:lstStyle/>
          <a:p>
            <a:pPr algn="l">
              <a:lnSpc>
                <a:spcPct val="120000"/>
              </a:lnSpc>
            </a:pPr>
            <a:r>
              <a:rPr sz="550" b="0" i="1">
                <a:solidFill>
                  <a:srgbClr val="5A6472"/>
                </a:solidFill>
                <a:latin typeface="Inter"/>
              </a:rPr>
              <a:t>Illustrative, synthetic data - customer names, amounts and identifiers are fictional.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DEMONSTRATION  ·  4 OF 4  ·  THE EMAIL</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11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The email asks for what unblocks payment.</a:t>
            </a:r>
          </a:p>
        </p:txBody>
      </p:sp>
      <p:sp>
        <p:nvSpPr>
          <p:cNvPr id="12" name="Rounded Rectangle 11"/>
          <p:cNvSpPr/>
          <p:nvPr/>
        </p:nvSpPr>
        <p:spPr>
          <a:xfrm>
            <a:off x="667512" y="1051560"/>
            <a:ext cx="5257800" cy="3401568"/>
          </a:xfrm>
          <a:prstGeom prst="roundRect">
            <a:avLst>
              <a:gd name="adj" fmla="val 3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67512" y="1051560"/>
            <a:ext cx="5257800" cy="274320"/>
          </a:xfrm>
          <a:prstGeom prst="roundRect">
            <a:avLst>
              <a:gd name="adj" fmla="val 30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67512" y="1234439"/>
            <a:ext cx="5257800" cy="91440"/>
          </a:xfrm>
          <a:prstGeom prst="rect">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04672" y="1051560"/>
            <a:ext cx="3200400" cy="274320"/>
          </a:xfrm>
          <a:prstGeom prst="rect">
            <a:avLst/>
          </a:prstGeom>
          <a:noFill/>
        </p:spPr>
        <p:txBody>
          <a:bodyPr wrap="square" lIns="0" tIns="0" rIns="0" bIns="0" anchor="ctr">
            <a:spAutoFit/>
          </a:bodyPr>
          <a:lstStyle/>
          <a:p>
            <a:pPr algn="l">
              <a:lnSpc>
                <a:spcPct val="120000"/>
              </a:lnSpc>
            </a:pPr>
            <a:r>
              <a:rPr sz="550" b="1" i="0">
                <a:solidFill>
                  <a:srgbClr val="5A6472"/>
                </a:solidFill>
                <a:latin typeface="JetBrains Mono"/>
              </a:rPr>
              <a:t>DRAFT  ·  WAITING FOR COLLECTOR REVIEW</a:t>
            </a:r>
          </a:p>
        </p:txBody>
      </p:sp>
      <p:sp>
        <p:nvSpPr>
          <p:cNvPr id="16" name="Rounded Rectangle 15"/>
          <p:cNvSpPr/>
          <p:nvPr/>
        </p:nvSpPr>
        <p:spPr>
          <a:xfrm>
            <a:off x="4873752" y="1097280"/>
            <a:ext cx="914400" cy="18288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873752" y="1097280"/>
            <a:ext cx="914400" cy="182880"/>
          </a:xfrm>
          <a:prstGeom prst="rect">
            <a:avLst/>
          </a:prstGeom>
          <a:noFill/>
        </p:spPr>
        <p:txBody>
          <a:bodyPr wrap="square" lIns="0" tIns="0" rIns="0" bIns="0" anchor="ctr">
            <a:spAutoFit/>
          </a:bodyPr>
          <a:lstStyle/>
          <a:p>
            <a:pPr algn="ctr">
              <a:lnSpc>
                <a:spcPct val="120000"/>
              </a:lnSpc>
            </a:pPr>
            <a:r>
              <a:rPr sz="600" b="1" i="0">
                <a:solidFill>
                  <a:srgbClr val="FFFFFF"/>
                </a:solidFill>
                <a:latin typeface="Inter"/>
              </a:rPr>
              <a:t>Review &amp; send</a:t>
            </a:r>
          </a:p>
        </p:txBody>
      </p:sp>
      <p:sp>
        <p:nvSpPr>
          <p:cNvPr id="18" name="TextBox 17"/>
          <p:cNvSpPr txBox="1"/>
          <p:nvPr/>
        </p:nvSpPr>
        <p:spPr>
          <a:xfrm>
            <a:off x="850392" y="1435607"/>
            <a:ext cx="4846320" cy="109728"/>
          </a:xfrm>
          <a:prstGeom prst="rect">
            <a:avLst/>
          </a:prstGeom>
          <a:noFill/>
        </p:spPr>
        <p:txBody>
          <a:bodyPr wrap="square" lIns="0" tIns="0" rIns="0" bIns="0" anchor="t">
            <a:spAutoFit/>
          </a:bodyPr>
          <a:lstStyle/>
          <a:p>
            <a:pPr algn="l">
              <a:lnSpc>
                <a:spcPct val="120000"/>
              </a:lnSpc>
            </a:pPr>
            <a:r>
              <a:rPr sz="640" b="0" i="0">
                <a:solidFill>
                  <a:srgbClr val="5A6472"/>
                </a:solidFill>
                <a:latin typeface="Inter"/>
              </a:rPr>
              <a:t>Till:  leverantorsreskontra@kolvik-telecom.example</a:t>
            </a:r>
          </a:p>
        </p:txBody>
      </p:sp>
      <p:sp>
        <p:nvSpPr>
          <p:cNvPr id="19" name="TextBox 18"/>
          <p:cNvSpPr txBox="1"/>
          <p:nvPr/>
        </p:nvSpPr>
        <p:spPr>
          <a:xfrm>
            <a:off x="850392" y="1600200"/>
            <a:ext cx="4480560" cy="128016"/>
          </a:xfrm>
          <a:prstGeom prst="rect">
            <a:avLst/>
          </a:prstGeom>
          <a:noFill/>
        </p:spPr>
        <p:txBody>
          <a:bodyPr wrap="square" lIns="0" tIns="0" rIns="0" bIns="0" anchor="t">
            <a:spAutoFit/>
          </a:bodyPr>
          <a:lstStyle/>
          <a:p>
            <a:pPr algn="l">
              <a:lnSpc>
                <a:spcPct val="120000"/>
              </a:lnSpc>
            </a:pPr>
            <a:r>
              <a:rPr sz="700" b="1" i="0">
                <a:solidFill>
                  <a:srgbClr val="1A1A1E"/>
                </a:solidFill>
                <a:latin typeface="Inter"/>
              </a:rPr>
              <a:t>Ämne:  PO-nummer saknas på två förfallna fakturor - Kolvik Telecom AB</a:t>
            </a:r>
          </a:p>
        </p:txBody>
      </p:sp>
      <p:sp>
        <p:nvSpPr>
          <p:cNvPr id="20" name="Rectangle 19"/>
          <p:cNvSpPr/>
          <p:nvPr/>
        </p:nvSpPr>
        <p:spPr>
          <a:xfrm>
            <a:off x="850392" y="1801367"/>
            <a:ext cx="4892040"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50392" y="1892807"/>
            <a:ext cx="4526280" cy="365760"/>
          </a:xfrm>
          <a:prstGeom prst="rect">
            <a:avLst/>
          </a:prstGeom>
          <a:noFill/>
        </p:spPr>
        <p:txBody>
          <a:bodyPr wrap="square" lIns="0" tIns="0" rIns="0" bIns="0" anchor="t">
            <a:spAutoFit/>
          </a:bodyPr>
          <a:lstStyle/>
          <a:p>
            <a:pPr algn="l">
              <a:lnSpc>
                <a:spcPct val="140000"/>
              </a:lnSpc>
            </a:pPr>
            <a:r>
              <a:rPr sz="640" b="0" i="0">
                <a:solidFill>
                  <a:srgbClr val="1A1A1E"/>
                </a:solidFill>
                <a:latin typeface="Inter"/>
              </a:rPr>
              <a:t>Hej,</a:t>
            </a:r>
          </a:p>
          <a:p>
            <a:pPr algn="l">
              <a:lnSpc>
                <a:spcPct val="140000"/>
              </a:lnSpc>
            </a:pPr>
            <a:r>
              <a:rPr sz="640" b="0" i="0">
                <a:solidFill>
                  <a:srgbClr val="1A1A1E"/>
                </a:solidFill>
                <a:latin typeface="Inter"/>
              </a:rPr>
              <a:t>två av våra fakturor är förfallna och saknar ert inköpsordernummer (PO). Kan ni skicka PO-numren så att fakturorna kan attesteras och betalas?</a:t>
            </a:r>
          </a:p>
        </p:txBody>
      </p:sp>
      <p:sp>
        <p:nvSpPr>
          <p:cNvPr id="22" name="Rounded Rectangle 21"/>
          <p:cNvSpPr/>
          <p:nvPr/>
        </p:nvSpPr>
        <p:spPr>
          <a:xfrm>
            <a:off x="850392" y="2395728"/>
            <a:ext cx="4892040" cy="841248"/>
          </a:xfrm>
          <a:prstGeom prst="roundRect">
            <a:avLst>
              <a:gd name="adj" fmla="val 6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41832" y="2487168"/>
            <a:ext cx="1097280" cy="91440"/>
          </a:xfrm>
          <a:prstGeom prst="rect">
            <a:avLst/>
          </a:prstGeom>
          <a:noFill/>
        </p:spPr>
        <p:txBody>
          <a:bodyPr wrap="square" lIns="0" tIns="0" rIns="0" bIns="0" anchor="t">
            <a:spAutoFit/>
          </a:bodyPr>
          <a:lstStyle/>
          <a:p>
            <a:pPr algn="l">
              <a:lnSpc>
                <a:spcPct val="120000"/>
              </a:lnSpc>
            </a:pPr>
            <a:r>
              <a:rPr sz="500" b="1" i="0">
                <a:solidFill>
                  <a:srgbClr val="5A6472"/>
                </a:solidFill>
                <a:latin typeface="JetBrains Mono"/>
              </a:rPr>
              <a:t>FAKTURA</a:t>
            </a:r>
          </a:p>
        </p:txBody>
      </p:sp>
      <p:sp>
        <p:nvSpPr>
          <p:cNvPr id="24" name="TextBox 23"/>
          <p:cNvSpPr txBox="1"/>
          <p:nvPr/>
        </p:nvSpPr>
        <p:spPr>
          <a:xfrm>
            <a:off x="1947672" y="2487168"/>
            <a:ext cx="1097280" cy="91440"/>
          </a:xfrm>
          <a:prstGeom prst="rect">
            <a:avLst/>
          </a:prstGeom>
          <a:noFill/>
        </p:spPr>
        <p:txBody>
          <a:bodyPr wrap="square" lIns="0" tIns="0" rIns="0" bIns="0" anchor="t">
            <a:spAutoFit/>
          </a:bodyPr>
          <a:lstStyle/>
          <a:p>
            <a:pPr algn="l">
              <a:lnSpc>
                <a:spcPct val="120000"/>
              </a:lnSpc>
            </a:pPr>
            <a:r>
              <a:rPr sz="500" b="1" i="0">
                <a:solidFill>
                  <a:srgbClr val="5A6472"/>
                </a:solidFill>
                <a:latin typeface="JetBrains Mono"/>
              </a:rPr>
              <a:t>FÖRFALLODAG</a:t>
            </a:r>
          </a:p>
        </p:txBody>
      </p:sp>
      <p:sp>
        <p:nvSpPr>
          <p:cNvPr id="25" name="TextBox 24"/>
          <p:cNvSpPr txBox="1"/>
          <p:nvPr/>
        </p:nvSpPr>
        <p:spPr>
          <a:xfrm>
            <a:off x="2999232" y="2487168"/>
            <a:ext cx="1097280" cy="91440"/>
          </a:xfrm>
          <a:prstGeom prst="rect">
            <a:avLst/>
          </a:prstGeom>
          <a:noFill/>
        </p:spPr>
        <p:txBody>
          <a:bodyPr wrap="square" lIns="0" tIns="0" rIns="0" bIns="0" anchor="t">
            <a:spAutoFit/>
          </a:bodyPr>
          <a:lstStyle/>
          <a:p>
            <a:pPr algn="l">
              <a:lnSpc>
                <a:spcPct val="120000"/>
              </a:lnSpc>
            </a:pPr>
            <a:r>
              <a:rPr sz="500" b="1" i="0">
                <a:solidFill>
                  <a:srgbClr val="5A6472"/>
                </a:solidFill>
                <a:latin typeface="JetBrains Mono"/>
              </a:rPr>
              <a:t>BELOPP (SEK)</a:t>
            </a:r>
          </a:p>
        </p:txBody>
      </p:sp>
      <p:sp>
        <p:nvSpPr>
          <p:cNvPr id="26" name="TextBox 25"/>
          <p:cNvSpPr txBox="1"/>
          <p:nvPr/>
        </p:nvSpPr>
        <p:spPr>
          <a:xfrm>
            <a:off x="4187952" y="2487168"/>
            <a:ext cx="1097280" cy="91440"/>
          </a:xfrm>
          <a:prstGeom prst="rect">
            <a:avLst/>
          </a:prstGeom>
          <a:noFill/>
        </p:spPr>
        <p:txBody>
          <a:bodyPr wrap="square" lIns="0" tIns="0" rIns="0" bIns="0" anchor="t">
            <a:spAutoFit/>
          </a:bodyPr>
          <a:lstStyle/>
          <a:p>
            <a:pPr algn="l">
              <a:lnSpc>
                <a:spcPct val="120000"/>
              </a:lnSpc>
            </a:pPr>
            <a:r>
              <a:rPr sz="500" b="1" i="0">
                <a:solidFill>
                  <a:srgbClr val="9A5620"/>
                </a:solidFill>
                <a:latin typeface="JetBrains Mono"/>
              </a:rPr>
              <a:t>ERT PO-NR</a:t>
            </a:r>
          </a:p>
        </p:txBody>
      </p:sp>
      <p:sp>
        <p:nvSpPr>
          <p:cNvPr id="27" name="TextBox 26"/>
          <p:cNvSpPr txBox="1"/>
          <p:nvPr/>
        </p:nvSpPr>
        <p:spPr>
          <a:xfrm>
            <a:off x="941832" y="2670048"/>
            <a:ext cx="1097280" cy="109728"/>
          </a:xfrm>
          <a:prstGeom prst="rect">
            <a:avLst/>
          </a:prstGeom>
          <a:noFill/>
        </p:spPr>
        <p:txBody>
          <a:bodyPr wrap="square" lIns="0" tIns="0" rIns="0" bIns="0" anchor="t">
            <a:spAutoFit/>
          </a:bodyPr>
          <a:lstStyle/>
          <a:p>
            <a:pPr algn="l">
              <a:lnSpc>
                <a:spcPct val="120000"/>
              </a:lnSpc>
            </a:pPr>
            <a:r>
              <a:rPr sz="600" b="0" i="0">
                <a:solidFill>
                  <a:srgbClr val="1A1A1E"/>
                </a:solidFill>
                <a:latin typeface="JetBrains Mono"/>
              </a:rPr>
              <a:t>90041441</a:t>
            </a:r>
          </a:p>
        </p:txBody>
      </p:sp>
      <p:sp>
        <p:nvSpPr>
          <p:cNvPr id="28" name="TextBox 27"/>
          <p:cNvSpPr txBox="1"/>
          <p:nvPr/>
        </p:nvSpPr>
        <p:spPr>
          <a:xfrm>
            <a:off x="1947672" y="2670048"/>
            <a:ext cx="1097280" cy="109728"/>
          </a:xfrm>
          <a:prstGeom prst="rect">
            <a:avLst/>
          </a:prstGeom>
          <a:noFill/>
        </p:spPr>
        <p:txBody>
          <a:bodyPr wrap="square" lIns="0" tIns="0" rIns="0" bIns="0" anchor="t">
            <a:spAutoFit/>
          </a:bodyPr>
          <a:lstStyle/>
          <a:p>
            <a:pPr algn="l">
              <a:lnSpc>
                <a:spcPct val="120000"/>
              </a:lnSpc>
            </a:pPr>
            <a:r>
              <a:rPr sz="600" b="0" i="0">
                <a:solidFill>
                  <a:srgbClr val="1A1A1E"/>
                </a:solidFill>
                <a:latin typeface="JetBrains Mono"/>
              </a:rPr>
              <a:t>2026-09-07</a:t>
            </a:r>
          </a:p>
        </p:txBody>
      </p:sp>
      <p:sp>
        <p:nvSpPr>
          <p:cNvPr id="29" name="TextBox 28"/>
          <p:cNvSpPr txBox="1"/>
          <p:nvPr/>
        </p:nvSpPr>
        <p:spPr>
          <a:xfrm>
            <a:off x="2999232" y="2670048"/>
            <a:ext cx="1097280" cy="109728"/>
          </a:xfrm>
          <a:prstGeom prst="rect">
            <a:avLst/>
          </a:prstGeom>
          <a:noFill/>
        </p:spPr>
        <p:txBody>
          <a:bodyPr wrap="square" lIns="0" tIns="0" rIns="0" bIns="0" anchor="t">
            <a:spAutoFit/>
          </a:bodyPr>
          <a:lstStyle/>
          <a:p>
            <a:pPr algn="l">
              <a:lnSpc>
                <a:spcPct val="120000"/>
              </a:lnSpc>
            </a:pPr>
            <a:r>
              <a:rPr sz="600" b="0" i="0">
                <a:solidFill>
                  <a:srgbClr val="1A1A1E"/>
                </a:solidFill>
                <a:latin typeface="JetBrains Mono"/>
              </a:rPr>
              <a:t>374 895,94</a:t>
            </a:r>
          </a:p>
        </p:txBody>
      </p:sp>
      <p:sp>
        <p:nvSpPr>
          <p:cNvPr id="30" name="TextBox 29"/>
          <p:cNvSpPr txBox="1"/>
          <p:nvPr/>
        </p:nvSpPr>
        <p:spPr>
          <a:xfrm>
            <a:off x="4187952" y="2670048"/>
            <a:ext cx="1097280" cy="109728"/>
          </a:xfrm>
          <a:prstGeom prst="rect">
            <a:avLst/>
          </a:prstGeom>
          <a:noFill/>
        </p:spPr>
        <p:txBody>
          <a:bodyPr wrap="square" lIns="0" tIns="0" rIns="0" bIns="0" anchor="t">
            <a:spAutoFit/>
          </a:bodyPr>
          <a:lstStyle/>
          <a:p>
            <a:pPr algn="l">
              <a:lnSpc>
                <a:spcPct val="120000"/>
              </a:lnSpc>
            </a:pPr>
            <a:r>
              <a:rPr sz="600" b="1" i="0">
                <a:solidFill>
                  <a:srgbClr val="9A5620"/>
                </a:solidFill>
                <a:latin typeface="JetBrains Mono"/>
              </a:rPr>
              <a:t>saknas</a:t>
            </a:r>
          </a:p>
        </p:txBody>
      </p:sp>
      <p:sp>
        <p:nvSpPr>
          <p:cNvPr id="31" name="TextBox 30"/>
          <p:cNvSpPr txBox="1"/>
          <p:nvPr/>
        </p:nvSpPr>
        <p:spPr>
          <a:xfrm>
            <a:off x="941832" y="2852928"/>
            <a:ext cx="1097280" cy="109728"/>
          </a:xfrm>
          <a:prstGeom prst="rect">
            <a:avLst/>
          </a:prstGeom>
          <a:noFill/>
        </p:spPr>
        <p:txBody>
          <a:bodyPr wrap="square" lIns="0" tIns="0" rIns="0" bIns="0" anchor="t">
            <a:spAutoFit/>
          </a:bodyPr>
          <a:lstStyle/>
          <a:p>
            <a:pPr algn="l">
              <a:lnSpc>
                <a:spcPct val="120000"/>
              </a:lnSpc>
            </a:pPr>
            <a:r>
              <a:rPr sz="600" b="0" i="0">
                <a:solidFill>
                  <a:srgbClr val="1A1A1E"/>
                </a:solidFill>
                <a:latin typeface="JetBrains Mono"/>
              </a:rPr>
              <a:t>90041444</a:t>
            </a:r>
          </a:p>
        </p:txBody>
      </p:sp>
      <p:sp>
        <p:nvSpPr>
          <p:cNvPr id="32" name="TextBox 31"/>
          <p:cNvSpPr txBox="1"/>
          <p:nvPr/>
        </p:nvSpPr>
        <p:spPr>
          <a:xfrm>
            <a:off x="1947672" y="2852928"/>
            <a:ext cx="1097280" cy="109728"/>
          </a:xfrm>
          <a:prstGeom prst="rect">
            <a:avLst/>
          </a:prstGeom>
          <a:noFill/>
        </p:spPr>
        <p:txBody>
          <a:bodyPr wrap="square" lIns="0" tIns="0" rIns="0" bIns="0" anchor="t">
            <a:spAutoFit/>
          </a:bodyPr>
          <a:lstStyle/>
          <a:p>
            <a:pPr algn="l">
              <a:lnSpc>
                <a:spcPct val="120000"/>
              </a:lnSpc>
            </a:pPr>
            <a:r>
              <a:rPr sz="600" b="0" i="0">
                <a:solidFill>
                  <a:srgbClr val="1A1A1E"/>
                </a:solidFill>
                <a:latin typeface="JetBrains Mono"/>
              </a:rPr>
              <a:t>2026-09-18</a:t>
            </a:r>
          </a:p>
        </p:txBody>
      </p:sp>
      <p:sp>
        <p:nvSpPr>
          <p:cNvPr id="33" name="TextBox 32"/>
          <p:cNvSpPr txBox="1"/>
          <p:nvPr/>
        </p:nvSpPr>
        <p:spPr>
          <a:xfrm>
            <a:off x="2999232" y="2852928"/>
            <a:ext cx="1097280" cy="109728"/>
          </a:xfrm>
          <a:prstGeom prst="rect">
            <a:avLst/>
          </a:prstGeom>
          <a:noFill/>
        </p:spPr>
        <p:txBody>
          <a:bodyPr wrap="square" lIns="0" tIns="0" rIns="0" bIns="0" anchor="t">
            <a:spAutoFit/>
          </a:bodyPr>
          <a:lstStyle/>
          <a:p>
            <a:pPr algn="l">
              <a:lnSpc>
                <a:spcPct val="120000"/>
              </a:lnSpc>
            </a:pPr>
            <a:r>
              <a:rPr sz="600" b="0" i="0">
                <a:solidFill>
                  <a:srgbClr val="1A1A1E"/>
                </a:solidFill>
                <a:latin typeface="JetBrains Mono"/>
              </a:rPr>
              <a:t>397 472,37</a:t>
            </a:r>
          </a:p>
        </p:txBody>
      </p:sp>
      <p:sp>
        <p:nvSpPr>
          <p:cNvPr id="34" name="TextBox 33"/>
          <p:cNvSpPr txBox="1"/>
          <p:nvPr/>
        </p:nvSpPr>
        <p:spPr>
          <a:xfrm>
            <a:off x="4187952" y="2852928"/>
            <a:ext cx="1097280" cy="109728"/>
          </a:xfrm>
          <a:prstGeom prst="rect">
            <a:avLst/>
          </a:prstGeom>
          <a:noFill/>
        </p:spPr>
        <p:txBody>
          <a:bodyPr wrap="square" lIns="0" tIns="0" rIns="0" bIns="0" anchor="t">
            <a:spAutoFit/>
          </a:bodyPr>
          <a:lstStyle/>
          <a:p>
            <a:pPr algn="l">
              <a:lnSpc>
                <a:spcPct val="120000"/>
              </a:lnSpc>
            </a:pPr>
            <a:r>
              <a:rPr sz="600" b="1" i="0">
                <a:solidFill>
                  <a:srgbClr val="9A5620"/>
                </a:solidFill>
                <a:latin typeface="JetBrains Mono"/>
              </a:rPr>
              <a:t>saknas</a:t>
            </a:r>
          </a:p>
        </p:txBody>
      </p:sp>
      <p:sp>
        <p:nvSpPr>
          <p:cNvPr id="35" name="TextBox 34"/>
          <p:cNvSpPr txBox="1"/>
          <p:nvPr/>
        </p:nvSpPr>
        <p:spPr>
          <a:xfrm>
            <a:off x="941832" y="3054096"/>
            <a:ext cx="3200400" cy="109728"/>
          </a:xfrm>
          <a:prstGeom prst="rect">
            <a:avLst/>
          </a:prstGeom>
          <a:noFill/>
        </p:spPr>
        <p:txBody>
          <a:bodyPr wrap="square" lIns="0" tIns="0" rIns="0" bIns="0" anchor="t">
            <a:spAutoFit/>
          </a:bodyPr>
          <a:lstStyle/>
          <a:p>
            <a:pPr algn="l">
              <a:lnSpc>
                <a:spcPct val="120000"/>
              </a:lnSpc>
            </a:pPr>
            <a:r>
              <a:rPr sz="640" b="1" i="0">
                <a:solidFill>
                  <a:srgbClr val="1A1A1E"/>
                </a:solidFill>
                <a:latin typeface="Inter"/>
              </a:rPr>
              <a:t>Summa förfallet: 772 368,31 SEK</a:t>
            </a:r>
          </a:p>
        </p:txBody>
      </p:sp>
      <p:sp>
        <p:nvSpPr>
          <p:cNvPr id="36" name="TextBox 35"/>
          <p:cNvSpPr txBox="1"/>
          <p:nvPr/>
        </p:nvSpPr>
        <p:spPr>
          <a:xfrm>
            <a:off x="850392" y="3355848"/>
            <a:ext cx="4526280" cy="822960"/>
          </a:xfrm>
          <a:prstGeom prst="rect">
            <a:avLst/>
          </a:prstGeom>
          <a:noFill/>
        </p:spPr>
        <p:txBody>
          <a:bodyPr wrap="square" lIns="0" tIns="0" rIns="0" bIns="0" anchor="t">
            <a:spAutoFit/>
          </a:bodyPr>
          <a:lstStyle/>
          <a:p>
            <a:pPr algn="l">
              <a:lnSpc>
                <a:spcPct val="140000"/>
              </a:lnSpc>
            </a:pPr>
            <a:r>
              <a:rPr sz="640" b="0" i="0">
                <a:solidFill>
                  <a:srgbClr val="1A1A1E"/>
                </a:solidFill>
                <a:latin typeface="Inter"/>
              </a:rPr>
              <a:t>Faktura 90041440 (151 687,78 SEK, förfaller 2026-09-27) saknar också PO - skicka gärna det samtidigt så att den inte fastnar.</a:t>
            </a:r>
          </a:p>
          <a:p>
            <a:pPr algn="l">
              <a:lnSpc>
                <a:spcPct val="140000"/>
              </a:lnSpc>
            </a:pPr>
            <a:r>
              <a:rPr sz="640" b="0" i="0">
                <a:solidFill>
                  <a:srgbClr val="1A1A1E"/>
                </a:solidFill>
                <a:latin typeface="Inter"/>
              </a:rPr>
              <a:t>Med vänliga hälsningar</a:t>
            </a:r>
          </a:p>
          <a:p>
            <a:pPr algn="l">
              <a:lnSpc>
                <a:spcPct val="140000"/>
              </a:lnSpc>
            </a:pPr>
            <a:r>
              <a:rPr sz="640" b="0" i="0">
                <a:solidFill>
                  <a:srgbClr val="1A1A1E"/>
                </a:solidFill>
                <a:latin typeface="Inter"/>
              </a:rPr>
              <a:t>Linnea, Kundreskontra</a:t>
            </a:r>
          </a:p>
        </p:txBody>
      </p:sp>
      <p:sp>
        <p:nvSpPr>
          <p:cNvPr id="37" name="Rounded Rectangle 36"/>
          <p:cNvSpPr/>
          <p:nvPr/>
        </p:nvSpPr>
        <p:spPr>
          <a:xfrm>
            <a:off x="5605272" y="1572767"/>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605272" y="1572767"/>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1</a:t>
            </a:r>
          </a:p>
        </p:txBody>
      </p:sp>
      <p:sp>
        <p:nvSpPr>
          <p:cNvPr id="39" name="Rounded Rectangle 38"/>
          <p:cNvSpPr/>
          <p:nvPr/>
        </p:nvSpPr>
        <p:spPr>
          <a:xfrm>
            <a:off x="4873752" y="2450592"/>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4873752" y="2450592"/>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2</a:t>
            </a:r>
          </a:p>
        </p:txBody>
      </p:sp>
      <p:sp>
        <p:nvSpPr>
          <p:cNvPr id="41" name="Rounded Rectangle 40"/>
          <p:cNvSpPr/>
          <p:nvPr/>
        </p:nvSpPr>
        <p:spPr>
          <a:xfrm>
            <a:off x="5605272" y="2852928"/>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5605272" y="2852928"/>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3</a:t>
            </a:r>
          </a:p>
        </p:txBody>
      </p:sp>
      <p:sp>
        <p:nvSpPr>
          <p:cNvPr id="43" name="Rounded Rectangle 42"/>
          <p:cNvSpPr/>
          <p:nvPr/>
        </p:nvSpPr>
        <p:spPr>
          <a:xfrm>
            <a:off x="5605272" y="3337560"/>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605272" y="3337560"/>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4</a:t>
            </a:r>
          </a:p>
        </p:txBody>
      </p:sp>
      <p:sp>
        <p:nvSpPr>
          <p:cNvPr id="45" name="Rounded Rectangle 44"/>
          <p:cNvSpPr/>
          <p:nvPr/>
        </p:nvSpPr>
        <p:spPr>
          <a:xfrm>
            <a:off x="4626864" y="1097280"/>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4626864" y="1097280"/>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5</a:t>
            </a:r>
          </a:p>
        </p:txBody>
      </p:sp>
      <p:sp>
        <p:nvSpPr>
          <p:cNvPr id="47" name="Rounded Rectangle 46"/>
          <p:cNvSpPr/>
          <p:nvPr/>
        </p:nvSpPr>
        <p:spPr>
          <a:xfrm>
            <a:off x="6172200" y="1078992"/>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172200" y="1078992"/>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1</a:t>
            </a:r>
          </a:p>
        </p:txBody>
      </p:sp>
      <p:sp>
        <p:nvSpPr>
          <p:cNvPr id="49" name="TextBox 48"/>
          <p:cNvSpPr txBox="1"/>
          <p:nvPr/>
        </p:nvSpPr>
        <p:spPr>
          <a:xfrm>
            <a:off x="6446520" y="1078992"/>
            <a:ext cx="2057400" cy="27432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Asks for the PO, not just payment</a:t>
            </a:r>
          </a:p>
        </p:txBody>
      </p:sp>
      <p:sp>
        <p:nvSpPr>
          <p:cNvPr id="50" name="TextBox 49"/>
          <p:cNvSpPr txBox="1"/>
          <p:nvPr/>
        </p:nvSpPr>
        <p:spPr>
          <a:xfrm>
            <a:off x="6446520" y="1353312"/>
            <a:ext cx="2057400" cy="365760"/>
          </a:xfrm>
          <a:prstGeom prst="rect">
            <a:avLst/>
          </a:prstGeom>
          <a:noFill/>
        </p:spPr>
        <p:txBody>
          <a:bodyPr wrap="square" lIns="0" tIns="0" rIns="0" bIns="0" anchor="t">
            <a:spAutoFit/>
          </a:bodyPr>
          <a:lstStyle/>
          <a:p>
            <a:pPr algn="l">
              <a:lnSpc>
                <a:spcPct val="135000"/>
              </a:lnSpc>
            </a:pPr>
            <a:r>
              <a:rPr sz="620" b="0" i="0">
                <a:solidFill>
                  <a:srgbClr val="4A5668"/>
                </a:solidFill>
                <a:latin typeface="Inter"/>
              </a:rPr>
              <a:t>The invoices are blocked on the customer's side until they have a PO.</a:t>
            </a:r>
          </a:p>
        </p:txBody>
      </p:sp>
      <p:sp>
        <p:nvSpPr>
          <p:cNvPr id="51" name="Rounded Rectangle 50"/>
          <p:cNvSpPr/>
          <p:nvPr/>
        </p:nvSpPr>
        <p:spPr>
          <a:xfrm>
            <a:off x="6172200" y="1746504"/>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6172200" y="1746504"/>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2</a:t>
            </a:r>
          </a:p>
        </p:txBody>
      </p:sp>
      <p:sp>
        <p:nvSpPr>
          <p:cNvPr id="53" name="TextBox 52"/>
          <p:cNvSpPr txBox="1"/>
          <p:nvPr/>
        </p:nvSpPr>
        <p:spPr>
          <a:xfrm>
            <a:off x="6446520" y="1746504"/>
            <a:ext cx="2057400" cy="27432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The PO is what is missing</a:t>
            </a:r>
          </a:p>
        </p:txBody>
      </p:sp>
      <p:sp>
        <p:nvSpPr>
          <p:cNvPr id="54" name="TextBox 53"/>
          <p:cNvSpPr txBox="1"/>
          <p:nvPr/>
        </p:nvSpPr>
        <p:spPr>
          <a:xfrm>
            <a:off x="6446520" y="2020824"/>
            <a:ext cx="2057400" cy="365760"/>
          </a:xfrm>
          <a:prstGeom prst="rect">
            <a:avLst/>
          </a:prstGeom>
          <a:noFill/>
        </p:spPr>
        <p:txBody>
          <a:bodyPr wrap="square" lIns="0" tIns="0" rIns="0" bIns="0" anchor="t">
            <a:spAutoFit/>
          </a:bodyPr>
          <a:lstStyle/>
          <a:p>
            <a:pPr algn="l">
              <a:lnSpc>
                <a:spcPct val="135000"/>
              </a:lnSpc>
            </a:pPr>
            <a:r>
              <a:rPr sz="620" b="0" i="0">
                <a:solidFill>
                  <a:srgbClr val="4A5668"/>
                </a:solidFill>
                <a:latin typeface="Inter"/>
              </a:rPr>
              <a:t>Found by the rules: 2 overdue invoices have no PO; PO-less invoices pay ~22 days later.</a:t>
            </a:r>
          </a:p>
        </p:txBody>
      </p:sp>
      <p:sp>
        <p:nvSpPr>
          <p:cNvPr id="55" name="Rounded Rectangle 54"/>
          <p:cNvSpPr/>
          <p:nvPr/>
        </p:nvSpPr>
        <p:spPr>
          <a:xfrm>
            <a:off x="6172200" y="2414015"/>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6172200" y="2414015"/>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3</a:t>
            </a:r>
          </a:p>
        </p:txBody>
      </p:sp>
      <p:sp>
        <p:nvSpPr>
          <p:cNvPr id="57" name="TextBox 56"/>
          <p:cNvSpPr txBox="1"/>
          <p:nvPr/>
        </p:nvSpPr>
        <p:spPr>
          <a:xfrm>
            <a:off x="6446520" y="2414015"/>
            <a:ext cx="2057400" cy="27432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Exact figures from our system</a:t>
            </a:r>
          </a:p>
        </p:txBody>
      </p:sp>
      <p:sp>
        <p:nvSpPr>
          <p:cNvPr id="58" name="TextBox 57"/>
          <p:cNvSpPr txBox="1"/>
          <p:nvPr/>
        </p:nvSpPr>
        <p:spPr>
          <a:xfrm>
            <a:off x="6446520" y="2688335"/>
            <a:ext cx="2057400" cy="365760"/>
          </a:xfrm>
          <a:prstGeom prst="rect">
            <a:avLst/>
          </a:prstGeom>
          <a:noFill/>
        </p:spPr>
        <p:txBody>
          <a:bodyPr wrap="square" lIns="0" tIns="0" rIns="0" bIns="0" anchor="t">
            <a:spAutoFit/>
          </a:bodyPr>
          <a:lstStyle/>
          <a:p>
            <a:pPr algn="l">
              <a:lnSpc>
                <a:spcPct val="135000"/>
              </a:lnSpc>
            </a:pPr>
            <a:r>
              <a:rPr sz="620" b="0" i="0">
                <a:solidFill>
                  <a:srgbClr val="4A5668"/>
                </a:solidFill>
                <a:latin typeface="Inter"/>
              </a:rPr>
              <a:t>Invoice numbers, dates and amounts are copied, never generated.</a:t>
            </a:r>
          </a:p>
        </p:txBody>
      </p:sp>
      <p:sp>
        <p:nvSpPr>
          <p:cNvPr id="59" name="Rounded Rectangle 58"/>
          <p:cNvSpPr/>
          <p:nvPr/>
        </p:nvSpPr>
        <p:spPr>
          <a:xfrm>
            <a:off x="6172200" y="3081528"/>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6172200" y="3081528"/>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4</a:t>
            </a:r>
          </a:p>
        </p:txBody>
      </p:sp>
      <p:sp>
        <p:nvSpPr>
          <p:cNvPr id="61" name="TextBox 60"/>
          <p:cNvSpPr txBox="1"/>
          <p:nvPr/>
        </p:nvSpPr>
        <p:spPr>
          <a:xfrm>
            <a:off x="6446520" y="3081528"/>
            <a:ext cx="2057400" cy="27432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Prevents the next block</a:t>
            </a:r>
          </a:p>
        </p:txBody>
      </p:sp>
      <p:sp>
        <p:nvSpPr>
          <p:cNvPr id="62" name="TextBox 61"/>
          <p:cNvSpPr txBox="1"/>
          <p:nvPr/>
        </p:nvSpPr>
        <p:spPr>
          <a:xfrm>
            <a:off x="6446520" y="3355848"/>
            <a:ext cx="2057400" cy="365760"/>
          </a:xfrm>
          <a:prstGeom prst="rect">
            <a:avLst/>
          </a:prstGeom>
          <a:noFill/>
        </p:spPr>
        <p:txBody>
          <a:bodyPr wrap="square" lIns="0" tIns="0" rIns="0" bIns="0" anchor="t">
            <a:spAutoFit/>
          </a:bodyPr>
          <a:lstStyle/>
          <a:p>
            <a:pPr algn="l">
              <a:lnSpc>
                <a:spcPct val="135000"/>
              </a:lnSpc>
            </a:pPr>
            <a:r>
              <a:rPr sz="620" b="0" i="0">
                <a:solidFill>
                  <a:srgbClr val="4A5668"/>
                </a:solidFill>
                <a:latin typeface="Inter"/>
              </a:rPr>
              <a:t>Also lists the not-yet-due invoice without a PO.</a:t>
            </a:r>
          </a:p>
        </p:txBody>
      </p:sp>
      <p:sp>
        <p:nvSpPr>
          <p:cNvPr id="63" name="Rounded Rectangle 62"/>
          <p:cNvSpPr/>
          <p:nvPr/>
        </p:nvSpPr>
        <p:spPr>
          <a:xfrm>
            <a:off x="6172200" y="3749039"/>
            <a:ext cx="182880" cy="1828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172200" y="3749039"/>
            <a:ext cx="182880" cy="182880"/>
          </a:xfrm>
          <a:prstGeom prst="rect">
            <a:avLst/>
          </a:prstGeom>
          <a:noFill/>
        </p:spPr>
        <p:txBody>
          <a:bodyPr wrap="square" lIns="0" tIns="0" rIns="0" bIns="0" anchor="ctr">
            <a:spAutoFit/>
          </a:bodyPr>
          <a:lstStyle/>
          <a:p>
            <a:pPr algn="ctr">
              <a:lnSpc>
                <a:spcPct val="120000"/>
              </a:lnSpc>
            </a:pPr>
            <a:r>
              <a:rPr sz="650" b="1" i="0">
                <a:solidFill>
                  <a:srgbClr val="FFFFFF"/>
                </a:solidFill>
                <a:latin typeface="JetBrains Mono"/>
              </a:rPr>
              <a:t>5</a:t>
            </a:r>
          </a:p>
        </p:txBody>
      </p:sp>
      <p:sp>
        <p:nvSpPr>
          <p:cNvPr id="65" name="TextBox 64"/>
          <p:cNvSpPr txBox="1"/>
          <p:nvPr/>
        </p:nvSpPr>
        <p:spPr>
          <a:xfrm>
            <a:off x="6446520" y="3749039"/>
            <a:ext cx="2057400" cy="27432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A draft, never auto-sent</a:t>
            </a:r>
          </a:p>
        </p:txBody>
      </p:sp>
      <p:sp>
        <p:nvSpPr>
          <p:cNvPr id="66" name="TextBox 65"/>
          <p:cNvSpPr txBox="1"/>
          <p:nvPr/>
        </p:nvSpPr>
        <p:spPr>
          <a:xfrm>
            <a:off x="6446520" y="4023359"/>
            <a:ext cx="2057400" cy="365760"/>
          </a:xfrm>
          <a:prstGeom prst="rect">
            <a:avLst/>
          </a:prstGeom>
          <a:noFill/>
        </p:spPr>
        <p:txBody>
          <a:bodyPr wrap="square" lIns="0" tIns="0" rIns="0" bIns="0" anchor="t">
            <a:spAutoFit/>
          </a:bodyPr>
          <a:lstStyle/>
          <a:p>
            <a:pPr algn="l">
              <a:lnSpc>
                <a:spcPct val="135000"/>
              </a:lnSpc>
            </a:pPr>
            <a:r>
              <a:rPr sz="620" b="0" i="0">
                <a:solidFill>
                  <a:srgbClr val="4A5668"/>
                </a:solidFill>
                <a:latin typeface="Inter"/>
              </a:rPr>
              <a:t>Swedish from the customer's country; English also available.</a:t>
            </a:r>
          </a:p>
        </p:txBody>
      </p:sp>
      <p:sp>
        <p:nvSpPr>
          <p:cNvPr id="67" name="TextBox 66"/>
          <p:cNvSpPr txBox="1"/>
          <p:nvPr/>
        </p:nvSpPr>
        <p:spPr>
          <a:xfrm>
            <a:off x="667512" y="4572000"/>
            <a:ext cx="7772400" cy="109728"/>
          </a:xfrm>
          <a:prstGeom prst="rect">
            <a:avLst/>
          </a:prstGeom>
          <a:noFill/>
        </p:spPr>
        <p:txBody>
          <a:bodyPr wrap="square" lIns="0" tIns="0" rIns="0" bIns="0" anchor="t">
            <a:spAutoFit/>
          </a:bodyPr>
          <a:lstStyle/>
          <a:p>
            <a:pPr algn="l">
              <a:lnSpc>
                <a:spcPct val="120000"/>
              </a:lnSpc>
            </a:pPr>
            <a:r>
              <a:rPr sz="550" b="0" i="1">
                <a:solidFill>
                  <a:srgbClr val="5A6472"/>
                </a:solidFill>
                <a:latin typeface="Inter"/>
              </a:rPr>
              <a:t>Illustrative, synthetic data - customer names, amounts and identifiers are fictional.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DOES IT WORK?  ·  TESTED ON SYNTHETIC DATA</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12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Tested on a synthetic portfolio shaped like ours.</a:t>
            </a:r>
          </a:p>
        </p:txBody>
      </p:sp>
      <p:sp>
        <p:nvSpPr>
          <p:cNvPr id="12" name="TextBox 11"/>
          <p:cNvSpPr txBox="1"/>
          <p:nvPr/>
        </p:nvSpPr>
        <p:spPr>
          <a:xfrm>
            <a:off x="667512" y="1005840"/>
            <a:ext cx="7589520" cy="457200"/>
          </a:xfrm>
          <a:prstGeom prst="rect">
            <a:avLst/>
          </a:prstGeom>
          <a:noFill/>
        </p:spPr>
        <p:txBody>
          <a:bodyPr wrap="square" lIns="0" tIns="0" rIns="0" bIns="0" anchor="t">
            <a:spAutoFit/>
          </a:bodyPr>
          <a:lstStyle/>
          <a:p>
            <a:pPr algn="l">
              <a:lnSpc>
                <a:spcPct val="145000"/>
              </a:lnSpc>
            </a:pPr>
            <a:r>
              <a:rPr sz="800" b="0" i="0">
                <a:solidFill>
                  <a:srgbClr val="4A5668"/>
                </a:solidFill>
                <a:latin typeface="Inter"/>
              </a:rPr>
              <a:t>225 customers and about 94,000 line items, tuned to the real portfolio's ratios. Twelve problem patterns were hidden in 91 customers; the copilot never saw the answer key. Results across three random portfolios:</a:t>
            </a:r>
          </a:p>
        </p:txBody>
      </p:sp>
      <p:sp>
        <p:nvSpPr>
          <p:cNvPr id="13" name="Rounded Rectangle 12"/>
          <p:cNvSpPr/>
          <p:nvPr/>
        </p:nvSpPr>
        <p:spPr>
          <a:xfrm>
            <a:off x="667512" y="1691640"/>
            <a:ext cx="1856231"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691640"/>
            <a:ext cx="27432" cy="114300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 y="1828800"/>
            <a:ext cx="1645920" cy="365760"/>
          </a:xfrm>
          <a:prstGeom prst="rect">
            <a:avLst/>
          </a:prstGeom>
          <a:noFill/>
        </p:spPr>
        <p:txBody>
          <a:bodyPr wrap="square" lIns="0" tIns="0" rIns="0" bIns="0" anchor="t">
            <a:spAutoFit/>
          </a:bodyPr>
          <a:lstStyle/>
          <a:p>
            <a:pPr algn="l">
              <a:lnSpc>
                <a:spcPct val="120000"/>
              </a:lnSpc>
            </a:pPr>
            <a:r>
              <a:rPr sz="2000" b="1" i="0">
                <a:solidFill>
                  <a:srgbClr val="5F8B2F"/>
                </a:solidFill>
                <a:latin typeface="Inter"/>
              </a:rPr>
              <a:t>86-90%</a:t>
            </a:r>
          </a:p>
        </p:txBody>
      </p:sp>
      <p:sp>
        <p:nvSpPr>
          <p:cNvPr id="16" name="TextBox 15"/>
          <p:cNvSpPr txBox="1"/>
          <p:nvPr/>
        </p:nvSpPr>
        <p:spPr>
          <a:xfrm>
            <a:off x="850392" y="2286000"/>
            <a:ext cx="1645920" cy="13716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right next action</a:t>
            </a:r>
          </a:p>
        </p:txBody>
      </p:sp>
      <p:sp>
        <p:nvSpPr>
          <p:cNvPr id="17" name="TextBox 16"/>
          <p:cNvSpPr txBox="1"/>
          <p:nvPr/>
        </p:nvSpPr>
        <p:spPr>
          <a:xfrm>
            <a:off x="850392" y="2487168"/>
            <a:ext cx="1645920" cy="256032"/>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vs 43-45% for an overdue report</a:t>
            </a:r>
          </a:p>
        </p:txBody>
      </p:sp>
      <p:sp>
        <p:nvSpPr>
          <p:cNvPr id="18" name="Rounded Rectangle 17"/>
          <p:cNvSpPr/>
          <p:nvPr/>
        </p:nvSpPr>
        <p:spPr>
          <a:xfrm>
            <a:off x="2642616" y="1691640"/>
            <a:ext cx="1856231"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2642616" y="1691640"/>
            <a:ext cx="27432" cy="114300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25496" y="1828800"/>
            <a:ext cx="1645920" cy="365760"/>
          </a:xfrm>
          <a:prstGeom prst="rect">
            <a:avLst/>
          </a:prstGeom>
          <a:noFill/>
        </p:spPr>
        <p:txBody>
          <a:bodyPr wrap="square" lIns="0" tIns="0" rIns="0" bIns="0" anchor="t">
            <a:spAutoFit/>
          </a:bodyPr>
          <a:lstStyle/>
          <a:p>
            <a:pPr algn="l">
              <a:lnSpc>
                <a:spcPct val="120000"/>
              </a:lnSpc>
            </a:pPr>
            <a:r>
              <a:rPr sz="2000" b="1" i="0">
                <a:solidFill>
                  <a:srgbClr val="5F8B2F"/>
                </a:solidFill>
                <a:latin typeface="Inter"/>
              </a:rPr>
              <a:t>60-90%</a:t>
            </a:r>
          </a:p>
        </p:txBody>
      </p:sp>
      <p:sp>
        <p:nvSpPr>
          <p:cNvPr id="21" name="TextBox 20"/>
          <p:cNvSpPr txBox="1"/>
          <p:nvPr/>
        </p:nvSpPr>
        <p:spPr>
          <a:xfrm>
            <a:off x="2825496" y="2286000"/>
            <a:ext cx="1645920" cy="13716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slowing payers found</a:t>
            </a:r>
          </a:p>
        </p:txBody>
      </p:sp>
      <p:sp>
        <p:nvSpPr>
          <p:cNvPr id="22" name="TextBox 21"/>
          <p:cNvSpPr txBox="1"/>
          <p:nvPr/>
        </p:nvSpPr>
        <p:spPr>
          <a:xfrm>
            <a:off x="2825496" y="2487168"/>
            <a:ext cx="1645920" cy="256032"/>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with 1-2 false alarms a week</a:t>
            </a:r>
          </a:p>
        </p:txBody>
      </p:sp>
      <p:sp>
        <p:nvSpPr>
          <p:cNvPr id="23" name="Rounded Rectangle 22"/>
          <p:cNvSpPr/>
          <p:nvPr/>
        </p:nvSpPr>
        <p:spPr>
          <a:xfrm>
            <a:off x="4617720" y="1691640"/>
            <a:ext cx="1856231"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617720" y="1691640"/>
            <a:ext cx="27432" cy="114300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0600" y="1828800"/>
            <a:ext cx="1645920" cy="365760"/>
          </a:xfrm>
          <a:prstGeom prst="rect">
            <a:avLst/>
          </a:prstGeom>
          <a:noFill/>
        </p:spPr>
        <p:txBody>
          <a:bodyPr wrap="square" lIns="0" tIns="0" rIns="0" bIns="0" anchor="t">
            <a:spAutoFit/>
          </a:bodyPr>
          <a:lstStyle/>
          <a:p>
            <a:pPr algn="l">
              <a:lnSpc>
                <a:spcPct val="120000"/>
              </a:lnSpc>
            </a:pPr>
            <a:r>
              <a:rPr sz="2000" b="1" i="0">
                <a:solidFill>
                  <a:srgbClr val="5F8B2F"/>
                </a:solidFill>
                <a:latin typeface="Inter"/>
              </a:rPr>
              <a:t>0</a:t>
            </a:r>
          </a:p>
        </p:txBody>
      </p:sp>
      <p:sp>
        <p:nvSpPr>
          <p:cNvPr id="26" name="TextBox 25"/>
          <p:cNvSpPr txBox="1"/>
          <p:nvPr/>
        </p:nvSpPr>
        <p:spPr>
          <a:xfrm>
            <a:off x="4800600" y="2286000"/>
            <a:ext cx="1645920" cy="13716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calls to customers in credit</a:t>
            </a:r>
          </a:p>
        </p:txBody>
      </p:sp>
      <p:sp>
        <p:nvSpPr>
          <p:cNvPr id="27" name="TextBox 26"/>
          <p:cNvSpPr txBox="1"/>
          <p:nvPr/>
        </p:nvSpPr>
        <p:spPr>
          <a:xfrm>
            <a:off x="4800600" y="2487168"/>
            <a:ext cx="1645920" cy="256032"/>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or who have already paid</a:t>
            </a:r>
          </a:p>
        </p:txBody>
      </p:sp>
      <p:sp>
        <p:nvSpPr>
          <p:cNvPr id="28" name="Rounded Rectangle 27"/>
          <p:cNvSpPr/>
          <p:nvPr/>
        </p:nvSpPr>
        <p:spPr>
          <a:xfrm>
            <a:off x="6592824" y="1691640"/>
            <a:ext cx="1856231" cy="11430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6592824" y="1691640"/>
            <a:ext cx="27432" cy="114300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775704" y="1828800"/>
            <a:ext cx="1645920" cy="365760"/>
          </a:xfrm>
          <a:prstGeom prst="rect">
            <a:avLst/>
          </a:prstGeom>
          <a:noFill/>
        </p:spPr>
        <p:txBody>
          <a:bodyPr wrap="square" lIns="0" tIns="0" rIns="0" bIns="0" anchor="t">
            <a:spAutoFit/>
          </a:bodyPr>
          <a:lstStyle/>
          <a:p>
            <a:pPr algn="l">
              <a:lnSpc>
                <a:spcPct val="120000"/>
              </a:lnSpc>
            </a:pPr>
            <a:r>
              <a:rPr sz="2000" b="1" i="0">
                <a:solidFill>
                  <a:srgbClr val="C1702D"/>
                </a:solidFill>
                <a:latin typeface="Inter"/>
              </a:rPr>
              <a:t>46-53%</a:t>
            </a:r>
          </a:p>
        </p:txBody>
      </p:sp>
      <p:sp>
        <p:nvSpPr>
          <p:cNvPr id="31" name="TextBox 30"/>
          <p:cNvSpPr txBox="1"/>
          <p:nvPr/>
        </p:nvSpPr>
        <p:spPr>
          <a:xfrm>
            <a:off x="6775704" y="2286000"/>
            <a:ext cx="1645920" cy="137160"/>
          </a:xfrm>
          <a:prstGeom prst="rect">
            <a:avLst/>
          </a:prstGeom>
          <a:noFill/>
        </p:spPr>
        <p:txBody>
          <a:bodyPr wrap="square" lIns="0" tIns="0" rIns="0" bIns="0" anchor="t">
            <a:spAutoFit/>
          </a:bodyPr>
          <a:lstStyle/>
          <a:p>
            <a:pPr algn="l">
              <a:lnSpc>
                <a:spcPct val="120000"/>
              </a:lnSpc>
            </a:pPr>
            <a:r>
              <a:rPr sz="760" b="1" i="0">
                <a:solidFill>
                  <a:srgbClr val="1A1A1E"/>
                </a:solidFill>
                <a:latin typeface="Inter"/>
              </a:rPr>
              <a:t>of overdue money in its top 10</a:t>
            </a:r>
          </a:p>
        </p:txBody>
      </p:sp>
      <p:sp>
        <p:nvSpPr>
          <p:cNvPr id="32" name="TextBox 31"/>
          <p:cNvSpPr txBox="1"/>
          <p:nvPr/>
        </p:nvSpPr>
        <p:spPr>
          <a:xfrm>
            <a:off x="6775704" y="2487168"/>
            <a:ext cx="1645920" cy="256032"/>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vs 57-60% for a 'largest overdue' list</a:t>
            </a:r>
          </a:p>
        </p:txBody>
      </p:sp>
      <p:sp>
        <p:nvSpPr>
          <p:cNvPr id="33" name="TextBox 32"/>
          <p:cNvSpPr txBox="1"/>
          <p:nvPr/>
        </p:nvSpPr>
        <p:spPr>
          <a:xfrm>
            <a:off x="667512" y="3063240"/>
            <a:ext cx="3200400" cy="91440"/>
          </a:xfrm>
          <a:prstGeom prst="rect">
            <a:avLst/>
          </a:prstGeom>
          <a:noFill/>
        </p:spPr>
        <p:txBody>
          <a:bodyPr wrap="square" lIns="0" tIns="0" rIns="0" bIns="0" anchor="t">
            <a:spAutoFit/>
          </a:bodyPr>
          <a:lstStyle/>
          <a:p>
            <a:pPr algn="l">
              <a:lnSpc>
                <a:spcPct val="120000"/>
              </a:lnSpc>
            </a:pPr>
            <a:r>
              <a:rPr sz="550" b="1" i="0">
                <a:solidFill>
                  <a:srgbClr val="9A5620"/>
                </a:solidFill>
                <a:latin typeface="JetBrains Mono"/>
              </a:rPr>
              <a:t>WHAT THE TEST DID NOT SHOW</a:t>
            </a:r>
          </a:p>
        </p:txBody>
      </p:sp>
      <p:sp>
        <p:nvSpPr>
          <p:cNvPr id="34" name="TextBox 33"/>
          <p:cNvSpPr txBox="1"/>
          <p:nvPr/>
        </p:nvSpPr>
        <p:spPr>
          <a:xfrm>
            <a:off x="667512" y="3246120"/>
            <a:ext cx="182880" cy="146304"/>
          </a:xfrm>
          <a:prstGeom prst="rect">
            <a:avLst/>
          </a:prstGeom>
          <a:noFill/>
        </p:spPr>
        <p:txBody>
          <a:bodyPr wrap="square" lIns="0" tIns="0" rIns="0" bIns="0" anchor="t">
            <a:spAutoFit/>
          </a:bodyPr>
          <a:lstStyle/>
          <a:p>
            <a:pPr algn="l">
              <a:lnSpc>
                <a:spcPct val="120000"/>
              </a:lnSpc>
            </a:pPr>
            <a:r>
              <a:rPr sz="750" b="0" i="0">
                <a:solidFill>
                  <a:srgbClr val="9A5620"/>
                </a:solidFill>
                <a:latin typeface="Inter"/>
              </a:rPr>
              <a:t>—</a:t>
            </a:r>
          </a:p>
        </p:txBody>
      </p:sp>
      <p:sp>
        <p:nvSpPr>
          <p:cNvPr id="35" name="TextBox 34"/>
          <p:cNvSpPr txBox="1"/>
          <p:nvPr/>
        </p:nvSpPr>
        <p:spPr>
          <a:xfrm>
            <a:off x="914400" y="3246120"/>
            <a:ext cx="7498079" cy="274320"/>
          </a:xfrm>
          <a:prstGeom prst="rect">
            <a:avLst/>
          </a:prstGeom>
          <a:noFill/>
        </p:spPr>
        <p:txBody>
          <a:bodyPr wrap="square" lIns="0" tIns="0" rIns="0" bIns="0" anchor="t">
            <a:spAutoFit/>
          </a:bodyPr>
          <a:lstStyle/>
          <a:p>
            <a:pPr algn="l">
              <a:lnSpc>
                <a:spcPct val="135000"/>
              </a:lnSpc>
            </a:pPr>
            <a:r>
              <a:rPr sz="720" b="0" i="0">
                <a:solidFill>
                  <a:srgbClr val="1A1A1E"/>
                </a:solidFill>
                <a:latin typeface="Inter"/>
              </a:rPr>
              <a:t>Earlier warning: it reacted to slowing payers at about the same time as a 'top 20 overdue' list - it catches more of them, not sooner.</a:t>
            </a:r>
          </a:p>
        </p:txBody>
      </p:sp>
      <p:sp>
        <p:nvSpPr>
          <p:cNvPr id="36" name="TextBox 35"/>
          <p:cNvSpPr txBox="1"/>
          <p:nvPr/>
        </p:nvSpPr>
        <p:spPr>
          <a:xfrm>
            <a:off x="667512" y="3575303"/>
            <a:ext cx="182880" cy="146304"/>
          </a:xfrm>
          <a:prstGeom prst="rect">
            <a:avLst/>
          </a:prstGeom>
          <a:noFill/>
        </p:spPr>
        <p:txBody>
          <a:bodyPr wrap="square" lIns="0" tIns="0" rIns="0" bIns="0" anchor="t">
            <a:spAutoFit/>
          </a:bodyPr>
          <a:lstStyle/>
          <a:p>
            <a:pPr algn="l">
              <a:lnSpc>
                <a:spcPct val="120000"/>
              </a:lnSpc>
            </a:pPr>
            <a:r>
              <a:rPr sz="750" b="0" i="0">
                <a:solidFill>
                  <a:srgbClr val="9A5620"/>
                </a:solidFill>
                <a:latin typeface="Inter"/>
              </a:rPr>
              <a:t>—</a:t>
            </a:r>
          </a:p>
        </p:txBody>
      </p:sp>
      <p:sp>
        <p:nvSpPr>
          <p:cNvPr id="37" name="TextBox 36"/>
          <p:cNvSpPr txBox="1"/>
          <p:nvPr/>
        </p:nvSpPr>
        <p:spPr>
          <a:xfrm>
            <a:off x="914400" y="3575303"/>
            <a:ext cx="7498079" cy="274320"/>
          </a:xfrm>
          <a:prstGeom prst="rect">
            <a:avLst/>
          </a:prstGeom>
          <a:noFill/>
        </p:spPr>
        <p:txBody>
          <a:bodyPr wrap="square" lIns="0" tIns="0" rIns="0" bIns="0" anchor="t">
            <a:spAutoFit/>
          </a:bodyPr>
          <a:lstStyle/>
          <a:p>
            <a:pPr algn="l">
              <a:lnSpc>
                <a:spcPct val="135000"/>
              </a:lnSpc>
            </a:pPr>
            <a:r>
              <a:rPr sz="720" b="0" i="0">
                <a:solidFill>
                  <a:srgbClr val="1A1A1E"/>
                </a:solidFill>
                <a:latin typeface="Inter"/>
              </a:rPr>
              <a:t>More money collected: synthetic data proves the method, not the savings. The pilot measures that.</a:t>
            </a:r>
          </a:p>
        </p:txBody>
      </p:sp>
      <p:sp>
        <p:nvSpPr>
          <p:cNvPr id="38" name="Rounded Rectangle 37"/>
          <p:cNvSpPr/>
          <p:nvPr/>
        </p:nvSpPr>
        <p:spPr>
          <a:xfrm>
            <a:off x="667512" y="3977639"/>
            <a:ext cx="7808975" cy="457200"/>
          </a:xfrm>
          <a:prstGeom prst="roundRect">
            <a:avLst>
              <a:gd name="adj" fmla="val 25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59536" y="3977639"/>
            <a:ext cx="4572000" cy="457200"/>
          </a:xfrm>
          <a:prstGeom prst="rect">
            <a:avLst/>
          </a:prstGeom>
          <a:noFill/>
        </p:spPr>
        <p:txBody>
          <a:bodyPr wrap="square" lIns="0" tIns="0" rIns="0" bIns="0" anchor="ctr">
            <a:spAutoFit/>
          </a:bodyPr>
          <a:lstStyle/>
          <a:p>
            <a:pPr algn="l">
              <a:lnSpc>
                <a:spcPct val="130000"/>
              </a:lnSpc>
            </a:pPr>
            <a:r>
              <a:rPr sz="819" b="0" i="0">
                <a:solidFill>
                  <a:srgbClr val="4A5668"/>
                </a:solidFill>
                <a:latin typeface="Inter"/>
              </a:rPr>
              <a:t>The value is choosing the right action for each account - not a bigger number on the list.</a:t>
            </a:r>
          </a:p>
        </p:txBody>
      </p:sp>
      <p:sp>
        <p:nvSpPr>
          <p:cNvPr id="40" name="TextBox 39"/>
          <p:cNvSpPr txBox="1"/>
          <p:nvPr/>
        </p:nvSpPr>
        <p:spPr>
          <a:xfrm>
            <a:off x="5486400" y="3977639"/>
            <a:ext cx="2834640" cy="457200"/>
          </a:xfrm>
          <a:prstGeom prst="rect">
            <a:avLst/>
          </a:prstGeom>
          <a:noFill/>
        </p:spPr>
        <p:txBody>
          <a:bodyPr wrap="square" lIns="0" tIns="0" rIns="0" bIns="0" anchor="ctr">
            <a:spAutoFit/>
          </a:bodyPr>
          <a:lstStyle/>
          <a:p>
            <a:pPr algn="r">
              <a:lnSpc>
                <a:spcPct val="130000"/>
              </a:lnSpc>
            </a:pPr>
            <a:r>
              <a:rPr sz="819" b="1" i="0">
                <a:solidFill>
                  <a:srgbClr val="1428A0"/>
                </a:solidFill>
                <a:latin typeface="Inter"/>
              </a:rPr>
              <a:t>Scores: synthetic answer key.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GOVERNANCE  ·  WHY THIS IS SAFE WITH CUSTOMER DATA</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13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The AI reads and writes.</a:t>
            </a:r>
          </a:p>
          <a:p>
            <a:pPr algn="l">
              <a:lnSpc>
                <a:spcPct val="115000"/>
              </a:lnSpc>
            </a:pPr>
            <a:r>
              <a:rPr sz="1780" b="1" i="0">
                <a:solidFill>
                  <a:srgbClr val="1A1A1E"/>
                </a:solidFill>
                <a:latin typeface="Inter"/>
              </a:rPr>
              <a:t>Our numbers decide.</a:t>
            </a:r>
          </a:p>
        </p:txBody>
      </p:sp>
      <p:sp>
        <p:nvSpPr>
          <p:cNvPr id="12" name="TextBox 11"/>
          <p:cNvSpPr txBox="1"/>
          <p:nvPr/>
        </p:nvSpPr>
        <p:spPr>
          <a:xfrm>
            <a:off x="667512" y="1417320"/>
            <a:ext cx="7132320" cy="457200"/>
          </a:xfrm>
          <a:prstGeom prst="rect">
            <a:avLst/>
          </a:prstGeom>
          <a:noFill/>
        </p:spPr>
        <p:txBody>
          <a:bodyPr wrap="square" lIns="0" tIns="0" rIns="0" bIns="0" anchor="t">
            <a:spAutoFit/>
          </a:bodyPr>
          <a:lstStyle/>
          <a:p>
            <a:pPr algn="l">
              <a:lnSpc>
                <a:spcPct val="145000"/>
              </a:lnSpc>
            </a:pPr>
            <a:r>
              <a:rPr sz="800" b="0" i="0">
                <a:solidFill>
                  <a:srgbClr val="4A5668"/>
                </a:solidFill>
                <a:latin typeface="Inter"/>
              </a:rPr>
              <a:t>Customer financial data is involved, so four rules are built in from day one.</a:t>
            </a:r>
          </a:p>
        </p:txBody>
      </p:sp>
      <p:sp>
        <p:nvSpPr>
          <p:cNvPr id="13" name="Rounded Rectangle 12"/>
          <p:cNvSpPr/>
          <p:nvPr/>
        </p:nvSpPr>
        <p:spPr>
          <a:xfrm>
            <a:off x="667512" y="1874519"/>
            <a:ext cx="1856231" cy="2011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874519"/>
            <a:ext cx="27432" cy="20116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 y="2057400"/>
            <a:ext cx="274320" cy="91440"/>
          </a:xfrm>
          <a:prstGeom prst="rect">
            <a:avLst/>
          </a:prstGeom>
          <a:noFill/>
        </p:spPr>
        <p:txBody>
          <a:bodyPr wrap="square" lIns="0" tIns="0" rIns="0" bIns="0" anchor="t">
            <a:spAutoFit/>
          </a:bodyPr>
          <a:lstStyle/>
          <a:p>
            <a:pPr algn="l">
              <a:lnSpc>
                <a:spcPct val="120000"/>
              </a:lnSpc>
            </a:pPr>
            <a:r>
              <a:rPr sz="550" b="1" i="0">
                <a:solidFill>
                  <a:srgbClr val="5F8B2F"/>
                </a:solidFill>
                <a:latin typeface="JetBrains Mono"/>
              </a:rPr>
              <a:t>01</a:t>
            </a:r>
          </a:p>
        </p:txBody>
      </p:sp>
      <p:sp>
        <p:nvSpPr>
          <p:cNvPr id="16" name="TextBox 15"/>
          <p:cNvSpPr txBox="1"/>
          <p:nvPr/>
        </p:nvSpPr>
        <p:spPr>
          <a:xfrm>
            <a:off x="850392" y="2212848"/>
            <a:ext cx="1554480" cy="36576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Approved platform only</a:t>
            </a:r>
          </a:p>
        </p:txBody>
      </p:sp>
      <p:sp>
        <p:nvSpPr>
          <p:cNvPr id="17" name="TextBox 16"/>
          <p:cNvSpPr txBox="1"/>
          <p:nvPr/>
        </p:nvSpPr>
        <p:spPr>
          <a:xfrm>
            <a:off x="850392" y="2697480"/>
            <a:ext cx="1554480" cy="1005840"/>
          </a:xfrm>
          <a:prstGeom prst="rect">
            <a:avLst/>
          </a:prstGeom>
          <a:noFill/>
        </p:spPr>
        <p:txBody>
          <a:bodyPr wrap="square" lIns="0" tIns="0" rIns="0" bIns="0" anchor="t">
            <a:spAutoFit/>
          </a:bodyPr>
          <a:lstStyle/>
          <a:p>
            <a:pPr algn="l">
              <a:lnSpc>
                <a:spcPct val="150000"/>
              </a:lnSpc>
            </a:pPr>
            <a:r>
              <a:rPr sz="660" b="0" i="0">
                <a:solidFill>
                  <a:srgbClr val="4A5668"/>
                </a:solidFill>
                <a:latin typeface="Inter"/>
              </a:rPr>
              <a:t>Runs on the company-approved LLM platform - FabriX, or an EU-hosted Azure OpenAI. Data stays inside.</a:t>
            </a:r>
          </a:p>
        </p:txBody>
      </p:sp>
      <p:sp>
        <p:nvSpPr>
          <p:cNvPr id="18" name="Rounded Rectangle 17"/>
          <p:cNvSpPr/>
          <p:nvPr/>
        </p:nvSpPr>
        <p:spPr>
          <a:xfrm>
            <a:off x="2642616" y="1874519"/>
            <a:ext cx="1856231" cy="2011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2642616" y="1874519"/>
            <a:ext cx="27432" cy="20116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25496" y="2057400"/>
            <a:ext cx="274320" cy="91440"/>
          </a:xfrm>
          <a:prstGeom prst="rect">
            <a:avLst/>
          </a:prstGeom>
          <a:noFill/>
        </p:spPr>
        <p:txBody>
          <a:bodyPr wrap="square" lIns="0" tIns="0" rIns="0" bIns="0" anchor="t">
            <a:spAutoFit/>
          </a:bodyPr>
          <a:lstStyle/>
          <a:p>
            <a:pPr algn="l">
              <a:lnSpc>
                <a:spcPct val="120000"/>
              </a:lnSpc>
            </a:pPr>
            <a:r>
              <a:rPr sz="550" b="1" i="0">
                <a:solidFill>
                  <a:srgbClr val="5F8B2F"/>
                </a:solidFill>
                <a:latin typeface="JetBrains Mono"/>
              </a:rPr>
              <a:t>02</a:t>
            </a:r>
          </a:p>
        </p:txBody>
      </p:sp>
      <p:sp>
        <p:nvSpPr>
          <p:cNvPr id="21" name="TextBox 20"/>
          <p:cNvSpPr txBox="1"/>
          <p:nvPr/>
        </p:nvSpPr>
        <p:spPr>
          <a:xfrm>
            <a:off x="2825496" y="2212848"/>
            <a:ext cx="1554480" cy="36576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No invented numbers</a:t>
            </a:r>
          </a:p>
        </p:txBody>
      </p:sp>
      <p:sp>
        <p:nvSpPr>
          <p:cNvPr id="22" name="TextBox 21"/>
          <p:cNvSpPr txBox="1"/>
          <p:nvPr/>
        </p:nvSpPr>
        <p:spPr>
          <a:xfrm>
            <a:off x="2825496" y="2697480"/>
            <a:ext cx="1554480" cy="1005840"/>
          </a:xfrm>
          <a:prstGeom prst="rect">
            <a:avLst/>
          </a:prstGeom>
          <a:noFill/>
        </p:spPr>
        <p:txBody>
          <a:bodyPr wrap="square" lIns="0" tIns="0" rIns="0" bIns="0" anchor="t">
            <a:spAutoFit/>
          </a:bodyPr>
          <a:lstStyle/>
          <a:p>
            <a:pPr algn="l">
              <a:lnSpc>
                <a:spcPct val="150000"/>
              </a:lnSpc>
            </a:pPr>
            <a:r>
              <a:rPr sz="660" b="0" i="0">
                <a:solidFill>
                  <a:srgbClr val="4A5668"/>
                </a:solidFill>
                <a:latin typeface="Inter"/>
              </a:rPr>
              <a:t>Amounts, dates and actions come from our own rules. The AI only reads notes and writes words.</a:t>
            </a:r>
          </a:p>
        </p:txBody>
      </p:sp>
      <p:sp>
        <p:nvSpPr>
          <p:cNvPr id="23" name="Rounded Rectangle 22"/>
          <p:cNvSpPr/>
          <p:nvPr/>
        </p:nvSpPr>
        <p:spPr>
          <a:xfrm>
            <a:off x="4617720" y="1874519"/>
            <a:ext cx="1856231" cy="2011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4617720" y="1874519"/>
            <a:ext cx="27432" cy="20116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0600" y="2057400"/>
            <a:ext cx="274320" cy="91440"/>
          </a:xfrm>
          <a:prstGeom prst="rect">
            <a:avLst/>
          </a:prstGeom>
          <a:noFill/>
        </p:spPr>
        <p:txBody>
          <a:bodyPr wrap="square" lIns="0" tIns="0" rIns="0" bIns="0" anchor="t">
            <a:spAutoFit/>
          </a:bodyPr>
          <a:lstStyle/>
          <a:p>
            <a:pPr algn="l">
              <a:lnSpc>
                <a:spcPct val="120000"/>
              </a:lnSpc>
            </a:pPr>
            <a:r>
              <a:rPr sz="550" b="1" i="0">
                <a:solidFill>
                  <a:srgbClr val="5F8B2F"/>
                </a:solidFill>
                <a:latin typeface="JetBrains Mono"/>
              </a:rPr>
              <a:t>03</a:t>
            </a:r>
          </a:p>
        </p:txBody>
      </p:sp>
      <p:sp>
        <p:nvSpPr>
          <p:cNvPr id="26" name="TextBox 25"/>
          <p:cNvSpPr txBox="1"/>
          <p:nvPr/>
        </p:nvSpPr>
        <p:spPr>
          <a:xfrm>
            <a:off x="4800600" y="2212848"/>
            <a:ext cx="1554480" cy="36576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A person always decides</a:t>
            </a:r>
          </a:p>
        </p:txBody>
      </p:sp>
      <p:sp>
        <p:nvSpPr>
          <p:cNvPr id="27" name="TextBox 26"/>
          <p:cNvSpPr txBox="1"/>
          <p:nvPr/>
        </p:nvSpPr>
        <p:spPr>
          <a:xfrm>
            <a:off x="4800600" y="2697480"/>
            <a:ext cx="1554480" cy="1005840"/>
          </a:xfrm>
          <a:prstGeom prst="rect">
            <a:avLst/>
          </a:prstGeom>
          <a:noFill/>
        </p:spPr>
        <p:txBody>
          <a:bodyPr wrap="square" lIns="0" tIns="0" rIns="0" bIns="0" anchor="t">
            <a:spAutoFit/>
          </a:bodyPr>
          <a:lstStyle/>
          <a:p>
            <a:pPr algn="l">
              <a:lnSpc>
                <a:spcPct val="150000"/>
              </a:lnSpc>
            </a:pPr>
            <a:r>
              <a:rPr sz="660" b="0" i="0">
                <a:solidFill>
                  <a:srgbClr val="4A5668"/>
                </a:solidFill>
                <a:latin typeface="Inter"/>
              </a:rPr>
              <a:t>Every brief and email is reviewed by a collector. Nothing is sent automatically.</a:t>
            </a:r>
          </a:p>
        </p:txBody>
      </p:sp>
      <p:sp>
        <p:nvSpPr>
          <p:cNvPr id="28" name="Rounded Rectangle 27"/>
          <p:cNvSpPr/>
          <p:nvPr/>
        </p:nvSpPr>
        <p:spPr>
          <a:xfrm>
            <a:off x="6592824" y="1874519"/>
            <a:ext cx="1856231" cy="2011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6592824" y="1874519"/>
            <a:ext cx="27432" cy="20116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775704" y="2057400"/>
            <a:ext cx="274320" cy="91440"/>
          </a:xfrm>
          <a:prstGeom prst="rect">
            <a:avLst/>
          </a:prstGeom>
          <a:noFill/>
        </p:spPr>
        <p:txBody>
          <a:bodyPr wrap="square" lIns="0" tIns="0" rIns="0" bIns="0" anchor="t">
            <a:spAutoFit/>
          </a:bodyPr>
          <a:lstStyle/>
          <a:p>
            <a:pPr algn="l">
              <a:lnSpc>
                <a:spcPct val="120000"/>
              </a:lnSpc>
            </a:pPr>
            <a:r>
              <a:rPr sz="550" b="1" i="0">
                <a:solidFill>
                  <a:srgbClr val="5F8B2F"/>
                </a:solidFill>
                <a:latin typeface="JetBrains Mono"/>
              </a:rPr>
              <a:t>04</a:t>
            </a:r>
          </a:p>
        </p:txBody>
      </p:sp>
      <p:sp>
        <p:nvSpPr>
          <p:cNvPr id="31" name="TextBox 30"/>
          <p:cNvSpPr txBox="1"/>
          <p:nvPr/>
        </p:nvSpPr>
        <p:spPr>
          <a:xfrm>
            <a:off x="6775704" y="2212848"/>
            <a:ext cx="1554480" cy="365760"/>
          </a:xfrm>
          <a:prstGeom prst="rect">
            <a:avLst/>
          </a:prstGeom>
          <a:noFill/>
        </p:spPr>
        <p:txBody>
          <a:bodyPr wrap="square" lIns="0" tIns="0" rIns="0" bIns="0" anchor="t">
            <a:spAutoFit/>
          </a:bodyPr>
          <a:lstStyle/>
          <a:p>
            <a:pPr algn="l">
              <a:lnSpc>
                <a:spcPct val="120000"/>
              </a:lnSpc>
            </a:pPr>
            <a:r>
              <a:rPr sz="960" b="1" i="0">
                <a:solidFill>
                  <a:srgbClr val="1A1A1E"/>
                </a:solidFill>
                <a:latin typeface="Inter"/>
              </a:rPr>
              <a:t>Read-only</a:t>
            </a:r>
          </a:p>
        </p:txBody>
      </p:sp>
      <p:sp>
        <p:nvSpPr>
          <p:cNvPr id="32" name="TextBox 31"/>
          <p:cNvSpPr txBox="1"/>
          <p:nvPr/>
        </p:nvSpPr>
        <p:spPr>
          <a:xfrm>
            <a:off x="6775704" y="2697480"/>
            <a:ext cx="1554480" cy="1005840"/>
          </a:xfrm>
          <a:prstGeom prst="rect">
            <a:avLst/>
          </a:prstGeom>
          <a:noFill/>
        </p:spPr>
        <p:txBody>
          <a:bodyPr wrap="square" lIns="0" tIns="0" rIns="0" bIns="0" anchor="t">
            <a:spAutoFit/>
          </a:bodyPr>
          <a:lstStyle/>
          <a:p>
            <a:pPr algn="l">
              <a:lnSpc>
                <a:spcPct val="150000"/>
              </a:lnSpc>
            </a:pPr>
            <a:r>
              <a:rPr sz="660" b="0" i="0">
                <a:solidFill>
                  <a:srgbClr val="4A5668"/>
                </a:solidFill>
                <a:latin typeface="Inter"/>
              </a:rPr>
              <a:t>The copilot reads the existing AR model. It does not change any record in any system.</a:t>
            </a:r>
          </a:p>
        </p:txBody>
      </p:sp>
      <p:sp>
        <p:nvSpPr>
          <p:cNvPr id="33" name="Rounded Rectangle 32"/>
          <p:cNvSpPr/>
          <p:nvPr/>
        </p:nvSpPr>
        <p:spPr>
          <a:xfrm>
            <a:off x="667512" y="4041648"/>
            <a:ext cx="7808975" cy="411480"/>
          </a:xfrm>
          <a:prstGeom prst="roundRect">
            <a:avLst>
              <a:gd name="adj" fmla="val 25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59536" y="4041648"/>
            <a:ext cx="7406640" cy="411480"/>
          </a:xfrm>
          <a:prstGeom prst="rect">
            <a:avLst/>
          </a:prstGeom>
          <a:noFill/>
        </p:spPr>
        <p:txBody>
          <a:bodyPr wrap="square" lIns="0" tIns="0" rIns="0" bIns="0" anchor="ctr">
            <a:spAutoFit/>
          </a:bodyPr>
          <a:lstStyle/>
          <a:p>
            <a:pPr algn="l">
              <a:lnSpc>
                <a:spcPct val="130000"/>
              </a:lnSpc>
            </a:pPr>
            <a:r>
              <a:rPr sz="819" b="0" i="0">
                <a:solidFill>
                  <a:srgbClr val="4A5668"/>
                </a:solidFill>
                <a:latin typeface="Inter"/>
              </a:rPr>
              <a:t>Every draft and every edit can be logged, so we can see what the AI proposed and what was actually sent.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PILOT AND MEASURES</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14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Prove it in eight weeks,</a:t>
            </a:r>
          </a:p>
          <a:p>
            <a:pPr algn="l">
              <a:lnSpc>
                <a:spcPct val="115000"/>
              </a:lnSpc>
            </a:pPr>
            <a:r>
              <a:rPr sz="1780" b="1" i="0">
                <a:solidFill>
                  <a:srgbClr val="1A1A1E"/>
                </a:solidFill>
                <a:latin typeface="Inter"/>
              </a:rPr>
              <a:t>with one collector team.</a:t>
            </a:r>
          </a:p>
        </p:txBody>
      </p:sp>
      <p:sp>
        <p:nvSpPr>
          <p:cNvPr id="12" name="Rectangle 11"/>
          <p:cNvSpPr/>
          <p:nvPr/>
        </p:nvSpPr>
        <p:spPr>
          <a:xfrm>
            <a:off x="2331720"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148839"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W0</a:t>
            </a:r>
          </a:p>
        </p:txBody>
      </p:sp>
      <p:sp>
        <p:nvSpPr>
          <p:cNvPr id="14" name="Rectangle 13"/>
          <p:cNvSpPr/>
          <p:nvPr/>
        </p:nvSpPr>
        <p:spPr>
          <a:xfrm>
            <a:off x="3099815"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916935"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W1</a:t>
            </a:r>
          </a:p>
        </p:txBody>
      </p:sp>
      <p:sp>
        <p:nvSpPr>
          <p:cNvPr id="16" name="Rectangle 15"/>
          <p:cNvSpPr/>
          <p:nvPr/>
        </p:nvSpPr>
        <p:spPr>
          <a:xfrm>
            <a:off x="3867911"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685031"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W2</a:t>
            </a:r>
          </a:p>
        </p:txBody>
      </p:sp>
      <p:sp>
        <p:nvSpPr>
          <p:cNvPr id="18" name="Rectangle 17"/>
          <p:cNvSpPr/>
          <p:nvPr/>
        </p:nvSpPr>
        <p:spPr>
          <a:xfrm>
            <a:off x="4636008"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453128"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W3</a:t>
            </a:r>
          </a:p>
        </p:txBody>
      </p:sp>
      <p:sp>
        <p:nvSpPr>
          <p:cNvPr id="20" name="Rectangle 19"/>
          <p:cNvSpPr/>
          <p:nvPr/>
        </p:nvSpPr>
        <p:spPr>
          <a:xfrm>
            <a:off x="5404104"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221224"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W4</a:t>
            </a:r>
          </a:p>
        </p:txBody>
      </p:sp>
      <p:sp>
        <p:nvSpPr>
          <p:cNvPr id="22" name="Rectangle 21"/>
          <p:cNvSpPr/>
          <p:nvPr/>
        </p:nvSpPr>
        <p:spPr>
          <a:xfrm>
            <a:off x="6172200"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989320"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W5</a:t>
            </a:r>
          </a:p>
        </p:txBody>
      </p:sp>
      <p:sp>
        <p:nvSpPr>
          <p:cNvPr id="24" name="Rectangle 23"/>
          <p:cNvSpPr/>
          <p:nvPr/>
        </p:nvSpPr>
        <p:spPr>
          <a:xfrm>
            <a:off x="6940296"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57416"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W6</a:t>
            </a:r>
          </a:p>
        </p:txBody>
      </p:sp>
      <p:sp>
        <p:nvSpPr>
          <p:cNvPr id="26" name="Rectangle 25"/>
          <p:cNvSpPr/>
          <p:nvPr/>
        </p:nvSpPr>
        <p:spPr>
          <a:xfrm>
            <a:off x="7708392"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525512"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W7</a:t>
            </a:r>
          </a:p>
        </p:txBody>
      </p:sp>
      <p:sp>
        <p:nvSpPr>
          <p:cNvPr id="28" name="Rectangle 27"/>
          <p:cNvSpPr/>
          <p:nvPr/>
        </p:nvSpPr>
        <p:spPr>
          <a:xfrm>
            <a:off x="8476488" y="1481328"/>
            <a:ext cx="4572" cy="1600200"/>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293608" y="1344168"/>
            <a:ext cx="365760" cy="91440"/>
          </a:xfrm>
          <a:prstGeom prst="rect">
            <a:avLst/>
          </a:prstGeom>
          <a:noFill/>
        </p:spPr>
        <p:txBody>
          <a:bodyPr wrap="square" lIns="0" tIns="0" rIns="0" bIns="0" anchor="t">
            <a:spAutoFit/>
          </a:bodyPr>
          <a:lstStyle/>
          <a:p>
            <a:pPr algn="ctr">
              <a:lnSpc>
                <a:spcPct val="120000"/>
              </a:lnSpc>
            </a:pPr>
            <a:r>
              <a:rPr sz="530" b="0" i="0">
                <a:solidFill>
                  <a:srgbClr val="5A6472"/>
                </a:solidFill>
                <a:latin typeface="Inter"/>
              </a:rPr>
              <a:t>W8</a:t>
            </a:r>
          </a:p>
        </p:txBody>
      </p:sp>
      <p:sp>
        <p:nvSpPr>
          <p:cNvPr id="30" name="TextBox 29"/>
          <p:cNvSpPr txBox="1"/>
          <p:nvPr/>
        </p:nvSpPr>
        <p:spPr>
          <a:xfrm>
            <a:off x="667512" y="1572768"/>
            <a:ext cx="1645920" cy="146304"/>
          </a:xfrm>
          <a:prstGeom prst="rect">
            <a:avLst/>
          </a:prstGeom>
          <a:noFill/>
        </p:spPr>
        <p:txBody>
          <a:bodyPr wrap="square" lIns="0" tIns="0" rIns="0" bIns="0" anchor="t">
            <a:spAutoFit/>
          </a:bodyPr>
          <a:lstStyle/>
          <a:p>
            <a:pPr algn="l">
              <a:lnSpc>
                <a:spcPct val="120000"/>
              </a:lnSpc>
            </a:pPr>
            <a:r>
              <a:rPr sz="850" b="1" i="0">
                <a:solidFill>
                  <a:srgbClr val="1A1A1E"/>
                </a:solidFill>
                <a:latin typeface="Inter"/>
              </a:rPr>
              <a:t>Build</a:t>
            </a:r>
          </a:p>
        </p:txBody>
      </p:sp>
      <p:sp>
        <p:nvSpPr>
          <p:cNvPr id="31" name="TextBox 30"/>
          <p:cNvSpPr txBox="1"/>
          <p:nvPr/>
        </p:nvSpPr>
        <p:spPr>
          <a:xfrm>
            <a:off x="667512" y="1746504"/>
            <a:ext cx="1645920" cy="274320"/>
          </a:xfrm>
          <a:prstGeom prst="rect">
            <a:avLst/>
          </a:prstGeom>
          <a:noFill/>
        </p:spPr>
        <p:txBody>
          <a:bodyPr wrap="square" lIns="0" tIns="0" rIns="0" bIns="0" anchor="t">
            <a:spAutoFit/>
          </a:bodyPr>
          <a:lstStyle/>
          <a:p>
            <a:pPr algn="l">
              <a:lnSpc>
                <a:spcPct val="130000"/>
              </a:lnSpc>
            </a:pPr>
            <a:r>
              <a:rPr sz="580" b="0" i="0">
                <a:solidFill>
                  <a:srgbClr val="4A5668"/>
                </a:solidFill>
                <a:latin typeface="Inter"/>
              </a:rPr>
              <a:t>Rules, note glossary, prompts, approved platform</a:t>
            </a:r>
          </a:p>
        </p:txBody>
      </p:sp>
      <p:sp>
        <p:nvSpPr>
          <p:cNvPr id="32" name="Rounded Rectangle 31"/>
          <p:cNvSpPr/>
          <p:nvPr/>
        </p:nvSpPr>
        <p:spPr>
          <a:xfrm>
            <a:off x="2331720" y="1609344"/>
            <a:ext cx="2304288" cy="182880"/>
          </a:xfrm>
          <a:prstGeom prst="roundRect">
            <a:avLst>
              <a:gd name="adj" fmla="val 15000"/>
            </a:avLst>
          </a:prstGeom>
          <a:solidFill>
            <a:srgbClr val="5F8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2404872" y="1609344"/>
            <a:ext cx="548640" cy="182880"/>
          </a:xfrm>
          <a:prstGeom prst="rect">
            <a:avLst/>
          </a:prstGeom>
          <a:noFill/>
        </p:spPr>
        <p:txBody>
          <a:bodyPr wrap="square" lIns="0" tIns="0" rIns="0" bIns="0" anchor="ctr">
            <a:spAutoFit/>
          </a:bodyPr>
          <a:lstStyle/>
          <a:p>
            <a:pPr algn="l">
              <a:lnSpc>
                <a:spcPct val="120000"/>
              </a:lnSpc>
            </a:pPr>
            <a:r>
              <a:rPr sz="550" b="1" i="0">
                <a:solidFill>
                  <a:srgbClr val="FFFFFF"/>
                </a:solidFill>
                <a:latin typeface="Inter"/>
              </a:rPr>
              <a:t>W0-3</a:t>
            </a:r>
          </a:p>
        </p:txBody>
      </p:sp>
      <p:sp>
        <p:nvSpPr>
          <p:cNvPr id="34" name="TextBox 33"/>
          <p:cNvSpPr txBox="1"/>
          <p:nvPr/>
        </p:nvSpPr>
        <p:spPr>
          <a:xfrm>
            <a:off x="667512" y="2075688"/>
            <a:ext cx="1645920" cy="146304"/>
          </a:xfrm>
          <a:prstGeom prst="rect">
            <a:avLst/>
          </a:prstGeom>
          <a:noFill/>
        </p:spPr>
        <p:txBody>
          <a:bodyPr wrap="square" lIns="0" tIns="0" rIns="0" bIns="0" anchor="t">
            <a:spAutoFit/>
          </a:bodyPr>
          <a:lstStyle/>
          <a:p>
            <a:pPr algn="l">
              <a:lnSpc>
                <a:spcPct val="120000"/>
              </a:lnSpc>
            </a:pPr>
            <a:r>
              <a:rPr sz="850" b="1" i="0">
                <a:solidFill>
                  <a:srgbClr val="1A1A1E"/>
                </a:solidFill>
                <a:latin typeface="Inter"/>
              </a:rPr>
              <a:t>Run</a:t>
            </a:r>
          </a:p>
        </p:txBody>
      </p:sp>
      <p:sp>
        <p:nvSpPr>
          <p:cNvPr id="35" name="TextBox 34"/>
          <p:cNvSpPr txBox="1"/>
          <p:nvPr/>
        </p:nvSpPr>
        <p:spPr>
          <a:xfrm>
            <a:off x="667512" y="2249424"/>
            <a:ext cx="1645920" cy="274320"/>
          </a:xfrm>
          <a:prstGeom prst="rect">
            <a:avLst/>
          </a:prstGeom>
          <a:noFill/>
        </p:spPr>
        <p:txBody>
          <a:bodyPr wrap="square" lIns="0" tIns="0" rIns="0" bIns="0" anchor="t">
            <a:spAutoFit/>
          </a:bodyPr>
          <a:lstStyle/>
          <a:p>
            <a:pPr algn="l">
              <a:lnSpc>
                <a:spcPct val="130000"/>
              </a:lnSpc>
            </a:pPr>
            <a:r>
              <a:rPr sz="580" b="0" i="0">
                <a:solidFill>
                  <a:srgbClr val="4A5668"/>
                </a:solidFill>
                <a:latin typeface="Inter"/>
              </a:rPr>
              <a:t>Collectors work from the action list; half the accounts as a control</a:t>
            </a:r>
          </a:p>
        </p:txBody>
      </p:sp>
      <p:sp>
        <p:nvSpPr>
          <p:cNvPr id="36" name="Rounded Rectangle 35"/>
          <p:cNvSpPr/>
          <p:nvPr/>
        </p:nvSpPr>
        <p:spPr>
          <a:xfrm>
            <a:off x="4636008" y="2112264"/>
            <a:ext cx="3072384" cy="182880"/>
          </a:xfrm>
          <a:prstGeom prst="roundRect">
            <a:avLst>
              <a:gd name="adj" fmla="val 15000"/>
            </a:avLst>
          </a:prstGeom>
          <a:solidFill>
            <a:srgbClr val="3A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709160" y="2112264"/>
            <a:ext cx="548640" cy="182880"/>
          </a:xfrm>
          <a:prstGeom prst="rect">
            <a:avLst/>
          </a:prstGeom>
          <a:noFill/>
        </p:spPr>
        <p:txBody>
          <a:bodyPr wrap="square" lIns="0" tIns="0" rIns="0" bIns="0" anchor="ctr">
            <a:spAutoFit/>
          </a:bodyPr>
          <a:lstStyle/>
          <a:p>
            <a:pPr algn="l">
              <a:lnSpc>
                <a:spcPct val="120000"/>
              </a:lnSpc>
            </a:pPr>
            <a:r>
              <a:rPr sz="550" b="1" i="0">
                <a:solidFill>
                  <a:srgbClr val="FFFFFF"/>
                </a:solidFill>
                <a:latin typeface="Inter"/>
              </a:rPr>
              <a:t>W3-7</a:t>
            </a:r>
          </a:p>
        </p:txBody>
      </p:sp>
      <p:sp>
        <p:nvSpPr>
          <p:cNvPr id="38" name="TextBox 37"/>
          <p:cNvSpPr txBox="1"/>
          <p:nvPr/>
        </p:nvSpPr>
        <p:spPr>
          <a:xfrm>
            <a:off x="667512" y="2578608"/>
            <a:ext cx="1645920" cy="146304"/>
          </a:xfrm>
          <a:prstGeom prst="rect">
            <a:avLst/>
          </a:prstGeom>
          <a:noFill/>
        </p:spPr>
        <p:txBody>
          <a:bodyPr wrap="square" lIns="0" tIns="0" rIns="0" bIns="0" anchor="t">
            <a:spAutoFit/>
          </a:bodyPr>
          <a:lstStyle/>
          <a:p>
            <a:pPr algn="l">
              <a:lnSpc>
                <a:spcPct val="120000"/>
              </a:lnSpc>
            </a:pPr>
            <a:r>
              <a:rPr sz="850" b="1" i="0">
                <a:solidFill>
                  <a:srgbClr val="1A1A1E"/>
                </a:solidFill>
                <a:latin typeface="Inter"/>
              </a:rPr>
              <a:t>Decide</a:t>
            </a:r>
          </a:p>
        </p:txBody>
      </p:sp>
      <p:sp>
        <p:nvSpPr>
          <p:cNvPr id="39" name="TextBox 38"/>
          <p:cNvSpPr txBox="1"/>
          <p:nvPr/>
        </p:nvSpPr>
        <p:spPr>
          <a:xfrm>
            <a:off x="667512" y="2752344"/>
            <a:ext cx="1645920" cy="274320"/>
          </a:xfrm>
          <a:prstGeom prst="rect">
            <a:avLst/>
          </a:prstGeom>
          <a:noFill/>
        </p:spPr>
        <p:txBody>
          <a:bodyPr wrap="square" lIns="0" tIns="0" rIns="0" bIns="0" anchor="t">
            <a:spAutoFit/>
          </a:bodyPr>
          <a:lstStyle/>
          <a:p>
            <a:pPr algn="l">
              <a:lnSpc>
                <a:spcPct val="130000"/>
              </a:lnSpc>
            </a:pPr>
            <a:r>
              <a:rPr sz="580" b="0" i="0">
                <a:solidFill>
                  <a:srgbClr val="4A5668"/>
                </a:solidFill>
                <a:latin typeface="Inter"/>
              </a:rPr>
              <a:t>Review results; go / no-go on rollout</a:t>
            </a:r>
          </a:p>
        </p:txBody>
      </p:sp>
      <p:sp>
        <p:nvSpPr>
          <p:cNvPr id="40" name="Rounded Rectangle 39"/>
          <p:cNvSpPr/>
          <p:nvPr/>
        </p:nvSpPr>
        <p:spPr>
          <a:xfrm>
            <a:off x="7708392" y="2615184"/>
            <a:ext cx="768096" cy="182880"/>
          </a:xfrm>
          <a:prstGeom prst="roundRect">
            <a:avLst>
              <a:gd name="adj" fmla="val 15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781544" y="2615184"/>
            <a:ext cx="548640" cy="182880"/>
          </a:xfrm>
          <a:prstGeom prst="rect">
            <a:avLst/>
          </a:prstGeom>
          <a:noFill/>
        </p:spPr>
        <p:txBody>
          <a:bodyPr wrap="square" lIns="0" tIns="0" rIns="0" bIns="0" anchor="ctr">
            <a:spAutoFit/>
          </a:bodyPr>
          <a:lstStyle/>
          <a:p>
            <a:pPr algn="l">
              <a:lnSpc>
                <a:spcPct val="120000"/>
              </a:lnSpc>
            </a:pPr>
            <a:r>
              <a:rPr sz="550" b="1" i="0">
                <a:solidFill>
                  <a:srgbClr val="FFFFFF"/>
                </a:solidFill>
                <a:latin typeface="Inter"/>
              </a:rPr>
              <a:t>W7-8</a:t>
            </a:r>
          </a:p>
        </p:txBody>
      </p:sp>
      <p:sp>
        <p:nvSpPr>
          <p:cNvPr id="42" name="Rectangle 41"/>
          <p:cNvSpPr/>
          <p:nvPr/>
        </p:nvSpPr>
        <p:spPr>
          <a:xfrm>
            <a:off x="667512" y="3154680"/>
            <a:ext cx="7808975" cy="9144"/>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67512" y="3273552"/>
            <a:ext cx="2743200" cy="91440"/>
          </a:xfrm>
          <a:prstGeom prst="rect">
            <a:avLst/>
          </a:prstGeom>
          <a:noFill/>
        </p:spPr>
        <p:txBody>
          <a:bodyPr wrap="square" lIns="0" tIns="0" rIns="0" bIns="0" anchor="t">
            <a:spAutoFit/>
          </a:bodyPr>
          <a:lstStyle/>
          <a:p>
            <a:pPr algn="l">
              <a:lnSpc>
                <a:spcPct val="120000"/>
              </a:lnSpc>
            </a:pPr>
            <a:r>
              <a:rPr sz="550" b="1" i="0">
                <a:solidFill>
                  <a:srgbClr val="5F8B2F"/>
                </a:solidFill>
                <a:latin typeface="JetBrains Mono"/>
              </a:rPr>
              <a:t>HOW WE'LL KNOW IT WORKS</a:t>
            </a:r>
          </a:p>
        </p:txBody>
      </p:sp>
      <p:sp>
        <p:nvSpPr>
          <p:cNvPr id="44" name="Rounded Rectangle 43"/>
          <p:cNvSpPr/>
          <p:nvPr/>
        </p:nvSpPr>
        <p:spPr>
          <a:xfrm>
            <a:off x="667512" y="3474720"/>
            <a:ext cx="18288" cy="82296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77240" y="3456432"/>
            <a:ext cx="1417320" cy="274320"/>
          </a:xfrm>
          <a:prstGeom prst="rect">
            <a:avLst/>
          </a:prstGeom>
          <a:noFill/>
        </p:spPr>
        <p:txBody>
          <a:bodyPr wrap="square" lIns="0" tIns="0" rIns="0" bIns="0" anchor="t">
            <a:spAutoFit/>
          </a:bodyPr>
          <a:lstStyle/>
          <a:p>
            <a:pPr algn="l">
              <a:lnSpc>
                <a:spcPct val="115000"/>
              </a:lnSpc>
            </a:pPr>
            <a:r>
              <a:rPr sz="800" b="1" i="0">
                <a:solidFill>
                  <a:srgbClr val="5F8B2F"/>
                </a:solidFill>
                <a:latin typeface="Inter"/>
              </a:rPr>
              <a:t>SEK crossing 31 days</a:t>
            </a:r>
          </a:p>
        </p:txBody>
      </p:sp>
      <p:sp>
        <p:nvSpPr>
          <p:cNvPr id="46" name="TextBox 45"/>
          <p:cNvSpPr txBox="1"/>
          <p:nvPr/>
        </p:nvSpPr>
        <p:spPr>
          <a:xfrm>
            <a:off x="777240" y="3822191"/>
            <a:ext cx="1389888" cy="457200"/>
          </a:xfrm>
          <a:prstGeom prst="rect">
            <a:avLst/>
          </a:prstGeom>
          <a:noFill/>
        </p:spPr>
        <p:txBody>
          <a:bodyPr wrap="square" lIns="0" tIns="0" rIns="0" bIns="0" anchor="t">
            <a:spAutoFit/>
          </a:bodyPr>
          <a:lstStyle/>
          <a:p>
            <a:pPr algn="l">
              <a:lnSpc>
                <a:spcPct val="135000"/>
              </a:lnSpc>
            </a:pPr>
            <a:r>
              <a:rPr sz="610" b="0" i="0">
                <a:solidFill>
                  <a:srgbClr val="4A5668"/>
                </a:solidFill>
                <a:latin typeface="Inter"/>
              </a:rPr>
              <a:t>Amount entering the bad-debt reserve band, pilot vs control.</a:t>
            </a:r>
          </a:p>
        </p:txBody>
      </p:sp>
      <p:sp>
        <p:nvSpPr>
          <p:cNvPr id="47" name="Rounded Rectangle 46"/>
          <p:cNvSpPr/>
          <p:nvPr/>
        </p:nvSpPr>
        <p:spPr>
          <a:xfrm>
            <a:off x="2249424" y="3474720"/>
            <a:ext cx="18288" cy="82296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2359152" y="3456432"/>
            <a:ext cx="1417320" cy="274320"/>
          </a:xfrm>
          <a:prstGeom prst="rect">
            <a:avLst/>
          </a:prstGeom>
          <a:noFill/>
        </p:spPr>
        <p:txBody>
          <a:bodyPr wrap="square" lIns="0" tIns="0" rIns="0" bIns="0" anchor="t">
            <a:spAutoFit/>
          </a:bodyPr>
          <a:lstStyle/>
          <a:p>
            <a:pPr algn="l">
              <a:lnSpc>
                <a:spcPct val="115000"/>
              </a:lnSpc>
            </a:pPr>
            <a:r>
              <a:rPr sz="800" b="1" i="0">
                <a:solidFill>
                  <a:srgbClr val="5F8B2F"/>
                </a:solidFill>
                <a:latin typeface="Inter"/>
              </a:rPr>
              <a:t>Days to unblock</a:t>
            </a:r>
          </a:p>
        </p:txBody>
      </p:sp>
      <p:sp>
        <p:nvSpPr>
          <p:cNvPr id="49" name="TextBox 48"/>
          <p:cNvSpPr txBox="1"/>
          <p:nvPr/>
        </p:nvSpPr>
        <p:spPr>
          <a:xfrm>
            <a:off x="2359152" y="3822191"/>
            <a:ext cx="1389888" cy="457200"/>
          </a:xfrm>
          <a:prstGeom prst="rect">
            <a:avLst/>
          </a:prstGeom>
          <a:noFill/>
        </p:spPr>
        <p:txBody>
          <a:bodyPr wrap="square" lIns="0" tIns="0" rIns="0" bIns="0" anchor="t">
            <a:spAutoFit/>
          </a:bodyPr>
          <a:lstStyle/>
          <a:p>
            <a:pPr algn="l">
              <a:lnSpc>
                <a:spcPct val="135000"/>
              </a:lnSpc>
            </a:pPr>
            <a:r>
              <a:rPr sz="610" b="0" i="0">
                <a:solidFill>
                  <a:srgbClr val="4A5668"/>
                </a:solidFill>
                <a:latin typeface="Inter"/>
              </a:rPr>
              <a:t>Time to resolve PO-blocked and disputed invoices.</a:t>
            </a:r>
          </a:p>
        </p:txBody>
      </p:sp>
      <p:sp>
        <p:nvSpPr>
          <p:cNvPr id="50" name="Rounded Rectangle 49"/>
          <p:cNvSpPr/>
          <p:nvPr/>
        </p:nvSpPr>
        <p:spPr>
          <a:xfrm>
            <a:off x="3831335" y="3474720"/>
            <a:ext cx="18288" cy="82296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3941063" y="3456432"/>
            <a:ext cx="1417320" cy="274320"/>
          </a:xfrm>
          <a:prstGeom prst="rect">
            <a:avLst/>
          </a:prstGeom>
          <a:noFill/>
        </p:spPr>
        <p:txBody>
          <a:bodyPr wrap="square" lIns="0" tIns="0" rIns="0" bIns="0" anchor="t">
            <a:spAutoFit/>
          </a:bodyPr>
          <a:lstStyle/>
          <a:p>
            <a:pPr algn="l">
              <a:lnSpc>
                <a:spcPct val="115000"/>
              </a:lnSpc>
            </a:pPr>
            <a:r>
              <a:rPr sz="800" b="1" i="0">
                <a:solidFill>
                  <a:srgbClr val="5F8B2F"/>
                </a:solidFill>
                <a:latin typeface="Inter"/>
              </a:rPr>
              <a:t>Promises followed up</a:t>
            </a:r>
          </a:p>
        </p:txBody>
      </p:sp>
      <p:sp>
        <p:nvSpPr>
          <p:cNvPr id="52" name="TextBox 51"/>
          <p:cNvSpPr txBox="1"/>
          <p:nvPr/>
        </p:nvSpPr>
        <p:spPr>
          <a:xfrm>
            <a:off x="3941063" y="3822191"/>
            <a:ext cx="1389888" cy="457200"/>
          </a:xfrm>
          <a:prstGeom prst="rect">
            <a:avLst/>
          </a:prstGeom>
          <a:noFill/>
        </p:spPr>
        <p:txBody>
          <a:bodyPr wrap="square" lIns="0" tIns="0" rIns="0" bIns="0" anchor="t">
            <a:spAutoFit/>
          </a:bodyPr>
          <a:lstStyle/>
          <a:p>
            <a:pPr algn="l">
              <a:lnSpc>
                <a:spcPct val="135000"/>
              </a:lnSpc>
            </a:pPr>
            <a:r>
              <a:rPr sz="610" b="0" i="0">
                <a:solidFill>
                  <a:srgbClr val="4A5668"/>
                </a:solidFill>
                <a:latin typeface="Inter"/>
              </a:rPr>
              <a:t>Broken promises acted on within 2 working days.</a:t>
            </a:r>
          </a:p>
        </p:txBody>
      </p:sp>
      <p:sp>
        <p:nvSpPr>
          <p:cNvPr id="53" name="Rounded Rectangle 52"/>
          <p:cNvSpPr/>
          <p:nvPr/>
        </p:nvSpPr>
        <p:spPr>
          <a:xfrm>
            <a:off x="5413248" y="3474720"/>
            <a:ext cx="18288" cy="82296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5522976" y="3456432"/>
            <a:ext cx="1417320" cy="274320"/>
          </a:xfrm>
          <a:prstGeom prst="rect">
            <a:avLst/>
          </a:prstGeom>
          <a:noFill/>
        </p:spPr>
        <p:txBody>
          <a:bodyPr wrap="square" lIns="0" tIns="0" rIns="0" bIns="0" anchor="t">
            <a:spAutoFit/>
          </a:bodyPr>
          <a:lstStyle/>
          <a:p>
            <a:pPr algn="l">
              <a:lnSpc>
                <a:spcPct val="115000"/>
              </a:lnSpc>
            </a:pPr>
            <a:r>
              <a:rPr sz="800" b="1" i="0">
                <a:solidFill>
                  <a:srgbClr val="5F8B2F"/>
                </a:solidFill>
                <a:latin typeface="Inter"/>
              </a:rPr>
              <a:t>Drafts sent as-is</a:t>
            </a:r>
          </a:p>
        </p:txBody>
      </p:sp>
      <p:sp>
        <p:nvSpPr>
          <p:cNvPr id="55" name="TextBox 54"/>
          <p:cNvSpPr txBox="1"/>
          <p:nvPr/>
        </p:nvSpPr>
        <p:spPr>
          <a:xfrm>
            <a:off x="5522976" y="3822191"/>
            <a:ext cx="1389888" cy="457200"/>
          </a:xfrm>
          <a:prstGeom prst="rect">
            <a:avLst/>
          </a:prstGeom>
          <a:noFill/>
        </p:spPr>
        <p:txBody>
          <a:bodyPr wrap="square" lIns="0" tIns="0" rIns="0" bIns="0" anchor="t">
            <a:spAutoFit/>
          </a:bodyPr>
          <a:lstStyle/>
          <a:p>
            <a:pPr algn="l">
              <a:lnSpc>
                <a:spcPct val="135000"/>
              </a:lnSpc>
            </a:pPr>
            <a:r>
              <a:rPr sz="610" b="0" i="0">
                <a:solidFill>
                  <a:srgbClr val="4A5668"/>
                </a:solidFill>
                <a:latin typeface="Inter"/>
              </a:rPr>
              <a:t>Share of drafts sent without major edits.</a:t>
            </a:r>
          </a:p>
        </p:txBody>
      </p:sp>
      <p:sp>
        <p:nvSpPr>
          <p:cNvPr id="56" name="Rounded Rectangle 55"/>
          <p:cNvSpPr/>
          <p:nvPr/>
        </p:nvSpPr>
        <p:spPr>
          <a:xfrm>
            <a:off x="6995160" y="3474720"/>
            <a:ext cx="18288" cy="82296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7104888" y="3456432"/>
            <a:ext cx="1417320" cy="274320"/>
          </a:xfrm>
          <a:prstGeom prst="rect">
            <a:avLst/>
          </a:prstGeom>
          <a:noFill/>
        </p:spPr>
        <p:txBody>
          <a:bodyPr wrap="square" lIns="0" tIns="0" rIns="0" bIns="0" anchor="t">
            <a:spAutoFit/>
          </a:bodyPr>
          <a:lstStyle/>
          <a:p>
            <a:pPr algn="l">
              <a:lnSpc>
                <a:spcPct val="115000"/>
              </a:lnSpc>
            </a:pPr>
            <a:r>
              <a:rPr sz="800" b="1" i="0">
                <a:solidFill>
                  <a:srgbClr val="5F8B2F"/>
                </a:solidFill>
                <a:latin typeface="Inter"/>
              </a:rPr>
              <a:t>Time per account</a:t>
            </a:r>
          </a:p>
        </p:txBody>
      </p:sp>
      <p:sp>
        <p:nvSpPr>
          <p:cNvPr id="58" name="TextBox 57"/>
          <p:cNvSpPr txBox="1"/>
          <p:nvPr/>
        </p:nvSpPr>
        <p:spPr>
          <a:xfrm>
            <a:off x="7104888" y="3822191"/>
            <a:ext cx="1389888" cy="457200"/>
          </a:xfrm>
          <a:prstGeom prst="rect">
            <a:avLst/>
          </a:prstGeom>
          <a:noFill/>
        </p:spPr>
        <p:txBody>
          <a:bodyPr wrap="square" lIns="0" tIns="0" rIns="0" bIns="0" anchor="t">
            <a:spAutoFit/>
          </a:bodyPr>
          <a:lstStyle/>
          <a:p>
            <a:pPr algn="l">
              <a:lnSpc>
                <a:spcPct val="135000"/>
              </a:lnSpc>
            </a:pPr>
            <a:r>
              <a:rPr sz="610" b="0" i="0">
                <a:solidFill>
                  <a:srgbClr val="4A5668"/>
                </a:solidFill>
                <a:latin typeface="Inter"/>
              </a:rPr>
              <a:t>Minutes of preparation, before vs after.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GOOD TO KNOW</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15 / 16</a:t>
            </a:r>
          </a:p>
        </p:txBody>
      </p:sp>
      <p:sp>
        <p:nvSpPr>
          <p:cNvPr id="11" name="TextBox 10"/>
          <p:cNvSpPr txBox="1"/>
          <p:nvPr/>
        </p:nvSpPr>
        <p:spPr>
          <a:xfrm>
            <a:off x="667512" y="566928"/>
            <a:ext cx="7772400" cy="822960"/>
          </a:xfrm>
          <a:prstGeom prst="rect">
            <a:avLst/>
          </a:prstGeom>
          <a:noFill/>
        </p:spPr>
        <p:txBody>
          <a:bodyPr wrap="square" lIns="0" tIns="0" rIns="0" bIns="0" anchor="t">
            <a:spAutoFit/>
          </a:bodyPr>
          <a:lstStyle/>
          <a:p>
            <a:pPr algn="l">
              <a:lnSpc>
                <a:spcPct val="115000"/>
              </a:lnSpc>
            </a:pPr>
            <a:r>
              <a:rPr sz="1780" b="1" i="0">
                <a:solidFill>
                  <a:srgbClr val="1A1A1E"/>
                </a:solidFill>
                <a:latin typeface="Inter"/>
              </a:rPr>
              <a:t>Three honest points.</a:t>
            </a:r>
          </a:p>
        </p:txBody>
      </p:sp>
      <p:sp>
        <p:nvSpPr>
          <p:cNvPr id="12" name="Rounded Rectangle 11"/>
          <p:cNvSpPr/>
          <p:nvPr/>
        </p:nvSpPr>
        <p:spPr>
          <a:xfrm>
            <a:off x="667512" y="1143000"/>
            <a:ext cx="2478024" cy="16002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67512" y="1143000"/>
            <a:ext cx="27432" cy="160020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68680" y="1307592"/>
            <a:ext cx="2148840" cy="329184"/>
          </a:xfrm>
          <a:prstGeom prst="rect">
            <a:avLst/>
          </a:prstGeom>
          <a:noFill/>
        </p:spPr>
        <p:txBody>
          <a:bodyPr wrap="square" lIns="0" tIns="0" rIns="0" bIns="0" anchor="t">
            <a:spAutoFit/>
          </a:bodyPr>
          <a:lstStyle/>
          <a:p>
            <a:pPr algn="l">
              <a:lnSpc>
                <a:spcPct val="120000"/>
              </a:lnSpc>
            </a:pPr>
            <a:r>
              <a:rPr sz="940" b="1" i="0">
                <a:solidFill>
                  <a:srgbClr val="1A1A1E"/>
                </a:solidFill>
                <a:latin typeface="Inter"/>
              </a:rPr>
              <a:t>The money at stake is modest.</a:t>
            </a:r>
          </a:p>
        </p:txBody>
      </p:sp>
      <p:sp>
        <p:nvSpPr>
          <p:cNvPr id="15" name="TextBox 14"/>
          <p:cNvSpPr txBox="1"/>
          <p:nvPr/>
        </p:nvSpPr>
        <p:spPr>
          <a:xfrm>
            <a:off x="868680" y="1691640"/>
            <a:ext cx="2148840" cy="1005840"/>
          </a:xfrm>
          <a:prstGeom prst="rect">
            <a:avLst/>
          </a:prstGeom>
          <a:noFill/>
        </p:spPr>
        <p:txBody>
          <a:bodyPr wrap="square" lIns="0" tIns="0" rIns="0" bIns="0" anchor="t">
            <a:spAutoFit/>
          </a:bodyPr>
          <a:lstStyle/>
          <a:p>
            <a:pPr algn="l">
              <a:lnSpc>
                <a:spcPct val="145000"/>
              </a:lnSpc>
            </a:pPr>
            <a:r>
              <a:rPr sz="660" b="0" i="0">
                <a:solidFill>
                  <a:srgbClr val="4A5668"/>
                </a:solidFill>
                <a:latin typeface="Inter"/>
              </a:rPr>
              <a:t>Most past-due amounts are only days late. The value is the right action, fewer wasted contacts and fewer items reaching the reserve band - roughly one collector's time, not a cash windfall.</a:t>
            </a:r>
          </a:p>
        </p:txBody>
      </p:sp>
      <p:sp>
        <p:nvSpPr>
          <p:cNvPr id="16" name="Rounded Rectangle 15"/>
          <p:cNvSpPr/>
          <p:nvPr/>
        </p:nvSpPr>
        <p:spPr>
          <a:xfrm>
            <a:off x="3310128" y="1143000"/>
            <a:ext cx="2478024" cy="16002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3310128" y="1143000"/>
            <a:ext cx="27432" cy="160020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511296" y="1307592"/>
            <a:ext cx="2148840" cy="329184"/>
          </a:xfrm>
          <a:prstGeom prst="rect">
            <a:avLst/>
          </a:prstGeom>
          <a:noFill/>
        </p:spPr>
        <p:txBody>
          <a:bodyPr wrap="square" lIns="0" tIns="0" rIns="0" bIns="0" anchor="t">
            <a:spAutoFit/>
          </a:bodyPr>
          <a:lstStyle/>
          <a:p>
            <a:pPr algn="l">
              <a:lnSpc>
                <a:spcPct val="120000"/>
              </a:lnSpc>
            </a:pPr>
            <a:r>
              <a:rPr sz="940" b="1" i="0">
                <a:solidFill>
                  <a:srgbClr val="1A1A1E"/>
                </a:solidFill>
                <a:latin typeface="Inter"/>
              </a:rPr>
              <a:t>Most of it is rules, not AI.</a:t>
            </a:r>
          </a:p>
        </p:txBody>
      </p:sp>
      <p:sp>
        <p:nvSpPr>
          <p:cNvPr id="19" name="TextBox 18"/>
          <p:cNvSpPr txBox="1"/>
          <p:nvPr/>
        </p:nvSpPr>
        <p:spPr>
          <a:xfrm>
            <a:off x="3511296" y="1691640"/>
            <a:ext cx="2148840" cy="1005840"/>
          </a:xfrm>
          <a:prstGeom prst="rect">
            <a:avLst/>
          </a:prstGeom>
          <a:noFill/>
        </p:spPr>
        <p:txBody>
          <a:bodyPr wrap="square" lIns="0" tIns="0" rIns="0" bIns="0" anchor="t">
            <a:spAutoFit/>
          </a:bodyPr>
          <a:lstStyle/>
          <a:p>
            <a:pPr algn="l">
              <a:lnSpc>
                <a:spcPct val="145000"/>
              </a:lnSpc>
            </a:pPr>
            <a:r>
              <a:rPr sz="660" b="0" i="0">
                <a:solidFill>
                  <a:srgbClr val="4A5668"/>
                </a:solidFill>
                <a:latin typeface="Inter"/>
              </a:rPr>
              <a:t>Ranking, invoice tables and action choice are ordinary software. GenAI is used where it is genuinely needed: reading shorthand notes, briefs and email wording.</a:t>
            </a:r>
          </a:p>
        </p:txBody>
      </p:sp>
      <p:sp>
        <p:nvSpPr>
          <p:cNvPr id="20" name="Rounded Rectangle 19"/>
          <p:cNvSpPr/>
          <p:nvPr/>
        </p:nvSpPr>
        <p:spPr>
          <a:xfrm>
            <a:off x="5952744" y="1143000"/>
            <a:ext cx="2478024" cy="160020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5952744" y="1143000"/>
            <a:ext cx="27432" cy="160020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153912" y="1307592"/>
            <a:ext cx="2148840" cy="329184"/>
          </a:xfrm>
          <a:prstGeom prst="rect">
            <a:avLst/>
          </a:prstGeom>
          <a:noFill/>
        </p:spPr>
        <p:txBody>
          <a:bodyPr wrap="square" lIns="0" tIns="0" rIns="0" bIns="0" anchor="t">
            <a:spAutoFit/>
          </a:bodyPr>
          <a:lstStyle/>
          <a:p>
            <a:pPr algn="l">
              <a:lnSpc>
                <a:spcPct val="120000"/>
              </a:lnSpc>
            </a:pPr>
            <a:r>
              <a:rPr sz="940" b="1" i="0">
                <a:solidFill>
                  <a:srgbClr val="1A1A1E"/>
                </a:solidFill>
                <a:latin typeface="Inter"/>
              </a:rPr>
              <a:t>Three checks before building.</a:t>
            </a:r>
          </a:p>
        </p:txBody>
      </p:sp>
      <p:sp>
        <p:nvSpPr>
          <p:cNvPr id="23" name="TextBox 22"/>
          <p:cNvSpPr txBox="1"/>
          <p:nvPr/>
        </p:nvSpPr>
        <p:spPr>
          <a:xfrm>
            <a:off x="6153912" y="1691640"/>
            <a:ext cx="2148840" cy="1005840"/>
          </a:xfrm>
          <a:prstGeom prst="rect">
            <a:avLst/>
          </a:prstGeom>
          <a:noFill/>
        </p:spPr>
        <p:txBody>
          <a:bodyPr wrap="square" lIns="0" tIns="0" rIns="0" bIns="0" anchor="t">
            <a:spAutoFit/>
          </a:bodyPr>
          <a:lstStyle/>
          <a:p>
            <a:pPr algn="l">
              <a:lnSpc>
                <a:spcPct val="145000"/>
              </a:lnSpc>
            </a:pPr>
            <a:r>
              <a:rPr sz="660" b="0" i="0">
                <a:solidFill>
                  <a:srgbClr val="4A5668"/>
                </a:solidFill>
                <a:latin typeface="Inter"/>
              </a:rPr>
              <a:t>Does ERP dunning already send reminders? What do the note abbreviations mean (e.g. 'P14')? Who owns credit-limit decisions?</a:t>
            </a:r>
          </a:p>
        </p:txBody>
      </p:sp>
      <p:sp>
        <p:nvSpPr>
          <p:cNvPr id="24" name="TextBox 23"/>
          <p:cNvSpPr txBox="1"/>
          <p:nvPr/>
        </p:nvSpPr>
        <p:spPr>
          <a:xfrm>
            <a:off x="667512" y="2926080"/>
            <a:ext cx="2743200" cy="91440"/>
          </a:xfrm>
          <a:prstGeom prst="rect">
            <a:avLst/>
          </a:prstGeom>
          <a:noFill/>
        </p:spPr>
        <p:txBody>
          <a:bodyPr wrap="square" lIns="0" tIns="0" rIns="0" bIns="0" anchor="t">
            <a:spAutoFit/>
          </a:bodyPr>
          <a:lstStyle/>
          <a:p>
            <a:pPr algn="l">
              <a:lnSpc>
                <a:spcPct val="120000"/>
              </a:lnSpc>
            </a:pPr>
            <a:r>
              <a:rPr sz="550" b="1" i="0">
                <a:solidFill>
                  <a:srgbClr val="5A6472"/>
                </a:solidFill>
                <a:latin typeface="JetBrains Mono"/>
              </a:rPr>
              <a:t>ROADMAP</a:t>
            </a:r>
          </a:p>
        </p:txBody>
      </p:sp>
      <p:sp>
        <p:nvSpPr>
          <p:cNvPr id="25" name="Rounded Rectangle 24"/>
          <p:cNvSpPr/>
          <p:nvPr/>
        </p:nvSpPr>
        <p:spPr>
          <a:xfrm>
            <a:off x="667512" y="3108960"/>
            <a:ext cx="2478024" cy="100584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667512" y="3108960"/>
            <a:ext cx="2478024"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50392" y="3273552"/>
            <a:ext cx="1828800" cy="91440"/>
          </a:xfrm>
          <a:prstGeom prst="rect">
            <a:avLst/>
          </a:prstGeom>
          <a:noFill/>
        </p:spPr>
        <p:txBody>
          <a:bodyPr wrap="square" lIns="0" tIns="0" rIns="0" bIns="0" anchor="t">
            <a:spAutoFit/>
          </a:bodyPr>
          <a:lstStyle/>
          <a:p>
            <a:pPr algn="l">
              <a:lnSpc>
                <a:spcPct val="120000"/>
              </a:lnSpc>
            </a:pPr>
            <a:r>
              <a:rPr sz="550" b="1" i="0">
                <a:solidFill>
                  <a:srgbClr val="1428A0"/>
                </a:solidFill>
                <a:latin typeface="JetBrains Mono"/>
              </a:rPr>
              <a:t>NOW</a:t>
            </a:r>
          </a:p>
        </p:txBody>
      </p:sp>
      <p:sp>
        <p:nvSpPr>
          <p:cNvPr id="28" name="TextBox 27"/>
          <p:cNvSpPr txBox="1"/>
          <p:nvPr/>
        </p:nvSpPr>
        <p:spPr>
          <a:xfrm>
            <a:off x="850392" y="3438144"/>
            <a:ext cx="2194560" cy="182880"/>
          </a:xfrm>
          <a:prstGeom prst="rect">
            <a:avLst/>
          </a:prstGeom>
          <a:noFill/>
        </p:spPr>
        <p:txBody>
          <a:bodyPr wrap="square" lIns="0" tIns="0" rIns="0" bIns="0" anchor="t">
            <a:spAutoFit/>
          </a:bodyPr>
          <a:lstStyle/>
          <a:p>
            <a:pPr algn="l">
              <a:lnSpc>
                <a:spcPct val="120000"/>
              </a:lnSpc>
            </a:pPr>
            <a:r>
              <a:rPr sz="940" b="1" i="0">
                <a:solidFill>
                  <a:srgbClr val="1A1A1E"/>
                </a:solidFill>
                <a:latin typeface="Inter"/>
              </a:rPr>
              <a:t>Collections Copilot</a:t>
            </a:r>
          </a:p>
        </p:txBody>
      </p:sp>
      <p:sp>
        <p:nvSpPr>
          <p:cNvPr id="29" name="TextBox 28"/>
          <p:cNvSpPr txBox="1"/>
          <p:nvPr/>
        </p:nvSpPr>
        <p:spPr>
          <a:xfrm>
            <a:off x="850392" y="3694176"/>
            <a:ext cx="2194560" cy="274320"/>
          </a:xfrm>
          <a:prstGeom prst="rect">
            <a:avLst/>
          </a:prstGeom>
          <a:noFill/>
        </p:spPr>
        <p:txBody>
          <a:bodyPr wrap="square" lIns="0" tIns="0" rIns="0" bIns="0" anchor="t">
            <a:spAutoFit/>
          </a:bodyPr>
          <a:lstStyle/>
          <a:p>
            <a:pPr algn="l">
              <a:lnSpc>
                <a:spcPct val="130000"/>
              </a:lnSpc>
            </a:pPr>
            <a:r>
              <a:rPr sz="650" b="0" i="0">
                <a:solidFill>
                  <a:srgbClr val="4A5668"/>
                </a:solidFill>
                <a:latin typeface="Inter"/>
              </a:rPr>
              <a:t>Right action, brief and email for every account</a:t>
            </a:r>
          </a:p>
        </p:txBody>
      </p:sp>
      <p:sp>
        <p:nvSpPr>
          <p:cNvPr id="30" name="TextBox 29"/>
          <p:cNvSpPr txBox="1"/>
          <p:nvPr/>
        </p:nvSpPr>
        <p:spPr>
          <a:xfrm>
            <a:off x="3145536" y="3474720"/>
            <a:ext cx="164592" cy="228600"/>
          </a:xfrm>
          <a:prstGeom prst="rect">
            <a:avLst/>
          </a:prstGeom>
          <a:noFill/>
        </p:spPr>
        <p:txBody>
          <a:bodyPr wrap="square" lIns="0" tIns="0" rIns="0" bIns="0" anchor="t">
            <a:spAutoFit/>
          </a:bodyPr>
          <a:lstStyle/>
          <a:p>
            <a:pPr algn="ctr">
              <a:lnSpc>
                <a:spcPct val="120000"/>
              </a:lnSpc>
            </a:pPr>
            <a:r>
              <a:rPr sz="1200" b="1" i="0">
                <a:solidFill>
                  <a:srgbClr val="5A6472"/>
                </a:solidFill>
                <a:latin typeface="Inter"/>
              </a:rPr>
              <a:t>→</a:t>
            </a:r>
          </a:p>
        </p:txBody>
      </p:sp>
      <p:sp>
        <p:nvSpPr>
          <p:cNvPr id="31" name="Rounded Rectangle 30"/>
          <p:cNvSpPr/>
          <p:nvPr/>
        </p:nvSpPr>
        <p:spPr>
          <a:xfrm>
            <a:off x="3310128" y="3108960"/>
            <a:ext cx="2478024" cy="100584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3310128" y="3108960"/>
            <a:ext cx="2478024" cy="5486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493008" y="3273552"/>
            <a:ext cx="1828800" cy="91440"/>
          </a:xfrm>
          <a:prstGeom prst="rect">
            <a:avLst/>
          </a:prstGeom>
          <a:noFill/>
        </p:spPr>
        <p:txBody>
          <a:bodyPr wrap="square" lIns="0" tIns="0" rIns="0" bIns="0" anchor="t">
            <a:spAutoFit/>
          </a:bodyPr>
          <a:lstStyle/>
          <a:p>
            <a:pPr algn="l">
              <a:lnSpc>
                <a:spcPct val="120000"/>
              </a:lnSpc>
            </a:pPr>
            <a:r>
              <a:rPr sz="550" b="1" i="0">
                <a:solidFill>
                  <a:srgbClr val="2A5C9E"/>
                </a:solidFill>
                <a:latin typeface="JetBrains Mono"/>
              </a:rPr>
              <a:t>NEXT</a:t>
            </a:r>
          </a:p>
        </p:txBody>
      </p:sp>
      <p:sp>
        <p:nvSpPr>
          <p:cNvPr id="34" name="TextBox 33"/>
          <p:cNvSpPr txBox="1"/>
          <p:nvPr/>
        </p:nvSpPr>
        <p:spPr>
          <a:xfrm>
            <a:off x="3493008" y="3438144"/>
            <a:ext cx="2194560" cy="182880"/>
          </a:xfrm>
          <a:prstGeom prst="rect">
            <a:avLst/>
          </a:prstGeom>
          <a:noFill/>
        </p:spPr>
        <p:txBody>
          <a:bodyPr wrap="square" lIns="0" tIns="0" rIns="0" bIns="0" anchor="t">
            <a:spAutoFit/>
          </a:bodyPr>
          <a:lstStyle/>
          <a:p>
            <a:pPr algn="l">
              <a:lnSpc>
                <a:spcPct val="120000"/>
              </a:lnSpc>
            </a:pPr>
            <a:r>
              <a:rPr sz="940" b="1" i="0">
                <a:solidFill>
                  <a:srgbClr val="1A1A1E"/>
                </a:solidFill>
                <a:latin typeface="Inter"/>
              </a:rPr>
              <a:t>Credit exposure alerts</a:t>
            </a:r>
          </a:p>
        </p:txBody>
      </p:sp>
      <p:sp>
        <p:nvSpPr>
          <p:cNvPr id="35" name="TextBox 34"/>
          <p:cNvSpPr txBox="1"/>
          <p:nvPr/>
        </p:nvSpPr>
        <p:spPr>
          <a:xfrm>
            <a:off x="3493008" y="3694176"/>
            <a:ext cx="2194560" cy="274320"/>
          </a:xfrm>
          <a:prstGeom prst="rect">
            <a:avLst/>
          </a:prstGeom>
          <a:noFill/>
        </p:spPr>
        <p:txBody>
          <a:bodyPr wrap="square" lIns="0" tIns="0" rIns="0" bIns="0" anchor="t">
            <a:spAutoFit/>
          </a:bodyPr>
          <a:lstStyle/>
          <a:p>
            <a:pPr algn="l">
              <a:lnSpc>
                <a:spcPct val="130000"/>
              </a:lnSpc>
            </a:pPr>
            <a:r>
              <a:rPr sz="650" b="0" i="0">
                <a:solidFill>
                  <a:srgbClr val="4A5668"/>
                </a:solidFill>
                <a:latin typeface="Inter"/>
              </a:rPr>
              <a:t>Warn before an account passes its credit limit</a:t>
            </a:r>
          </a:p>
        </p:txBody>
      </p:sp>
      <p:sp>
        <p:nvSpPr>
          <p:cNvPr id="36" name="TextBox 35"/>
          <p:cNvSpPr txBox="1"/>
          <p:nvPr/>
        </p:nvSpPr>
        <p:spPr>
          <a:xfrm>
            <a:off x="5788152" y="3474720"/>
            <a:ext cx="164592" cy="228600"/>
          </a:xfrm>
          <a:prstGeom prst="rect">
            <a:avLst/>
          </a:prstGeom>
          <a:noFill/>
        </p:spPr>
        <p:txBody>
          <a:bodyPr wrap="square" lIns="0" tIns="0" rIns="0" bIns="0" anchor="t">
            <a:spAutoFit/>
          </a:bodyPr>
          <a:lstStyle/>
          <a:p>
            <a:pPr algn="ctr">
              <a:lnSpc>
                <a:spcPct val="120000"/>
              </a:lnSpc>
            </a:pPr>
            <a:r>
              <a:rPr sz="1200" b="1" i="0">
                <a:solidFill>
                  <a:srgbClr val="5A6472"/>
                </a:solidFill>
                <a:latin typeface="Inter"/>
              </a:rPr>
              <a:t>→</a:t>
            </a:r>
          </a:p>
        </p:txBody>
      </p:sp>
      <p:sp>
        <p:nvSpPr>
          <p:cNvPr id="37" name="Rounded Rectangle 36"/>
          <p:cNvSpPr/>
          <p:nvPr/>
        </p:nvSpPr>
        <p:spPr>
          <a:xfrm>
            <a:off x="5952744" y="3108960"/>
            <a:ext cx="2478024" cy="100584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5952744" y="3108960"/>
            <a:ext cx="2478024" cy="54864"/>
          </a:xfrm>
          <a:prstGeom prst="rect">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135624" y="3273552"/>
            <a:ext cx="1828800" cy="91440"/>
          </a:xfrm>
          <a:prstGeom prst="rect">
            <a:avLst/>
          </a:prstGeom>
          <a:noFill/>
        </p:spPr>
        <p:txBody>
          <a:bodyPr wrap="square" lIns="0" tIns="0" rIns="0" bIns="0" anchor="t">
            <a:spAutoFit/>
          </a:bodyPr>
          <a:lstStyle/>
          <a:p>
            <a:pPr algn="l">
              <a:lnSpc>
                <a:spcPct val="120000"/>
              </a:lnSpc>
            </a:pPr>
            <a:r>
              <a:rPr sz="550" b="1" i="0">
                <a:solidFill>
                  <a:srgbClr val="8FA3C8"/>
                </a:solidFill>
                <a:latin typeface="JetBrains Mono"/>
              </a:rPr>
              <a:t>LATER</a:t>
            </a:r>
          </a:p>
        </p:txBody>
      </p:sp>
      <p:sp>
        <p:nvSpPr>
          <p:cNvPr id="40" name="TextBox 39"/>
          <p:cNvSpPr txBox="1"/>
          <p:nvPr/>
        </p:nvSpPr>
        <p:spPr>
          <a:xfrm>
            <a:off x="6135624" y="3438144"/>
            <a:ext cx="2194560" cy="182880"/>
          </a:xfrm>
          <a:prstGeom prst="rect">
            <a:avLst/>
          </a:prstGeom>
          <a:noFill/>
        </p:spPr>
        <p:txBody>
          <a:bodyPr wrap="square" lIns="0" tIns="0" rIns="0" bIns="0" anchor="t">
            <a:spAutoFit/>
          </a:bodyPr>
          <a:lstStyle/>
          <a:p>
            <a:pPr algn="l">
              <a:lnSpc>
                <a:spcPct val="120000"/>
              </a:lnSpc>
            </a:pPr>
            <a:r>
              <a:rPr sz="940" b="1" i="0">
                <a:solidFill>
                  <a:srgbClr val="1A1A1E"/>
                </a:solidFill>
                <a:latin typeface="Inter"/>
              </a:rPr>
              <a:t>Dispute insights</a:t>
            </a:r>
          </a:p>
        </p:txBody>
      </p:sp>
      <p:sp>
        <p:nvSpPr>
          <p:cNvPr id="41" name="TextBox 40"/>
          <p:cNvSpPr txBox="1"/>
          <p:nvPr/>
        </p:nvSpPr>
        <p:spPr>
          <a:xfrm>
            <a:off x="6135624" y="3694176"/>
            <a:ext cx="2194560" cy="274320"/>
          </a:xfrm>
          <a:prstGeom prst="rect">
            <a:avLst/>
          </a:prstGeom>
          <a:noFill/>
        </p:spPr>
        <p:txBody>
          <a:bodyPr wrap="square" lIns="0" tIns="0" rIns="0" bIns="0" anchor="t">
            <a:spAutoFit/>
          </a:bodyPr>
          <a:lstStyle/>
          <a:p>
            <a:pPr algn="l">
              <a:lnSpc>
                <a:spcPct val="130000"/>
              </a:lnSpc>
            </a:pPr>
            <a:r>
              <a:rPr sz="650" b="0" i="0">
                <a:solidFill>
                  <a:srgbClr val="4A5668"/>
                </a:solidFill>
                <a:latin typeface="Inter"/>
              </a:rPr>
              <a:t>Why customers dispute, from the notes, by reason and product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65176"/>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67512" y="77724"/>
            <a:ext cx="7616952" cy="164592"/>
          </a:xfrm>
          <a:prstGeom prst="rect">
            <a:avLst/>
          </a:prstGeom>
          <a:noFill/>
        </p:spPr>
        <p:txBody>
          <a:bodyPr wrap="square" lIns="0" tIns="0" rIns="0" bIns="0" anchor="ctr">
            <a:spAutoFit/>
          </a:bodyPr>
          <a:lstStyle/>
          <a:p>
            <a:pPr algn="l">
              <a:lnSpc>
                <a:spcPct val="120000"/>
              </a:lnSpc>
            </a:pPr>
            <a:r>
              <a:rPr sz="850" b="1" i="0">
                <a:solidFill>
                  <a:srgbClr val="FFFFFF"/>
                </a:solidFill>
                <a:latin typeface="Inter"/>
              </a:rPr>
              <a:t>SAMSUNG SDS</a:t>
            </a:r>
            <a:r>
              <a:rPr sz="850" b="0" i="0">
                <a:solidFill>
                  <a:srgbClr val="FFFFFF"/>
                </a:solidFill>
                <a:latin typeface="Inter"/>
              </a:rPr>
              <a:t>   |   THE ASK</a:t>
            </a:r>
          </a:p>
        </p:txBody>
      </p:sp>
      <p:sp>
        <p:nvSpPr>
          <p:cNvPr id="4" name="Rectangle 3"/>
          <p:cNvSpPr/>
          <p:nvPr/>
        </p:nvSpPr>
        <p:spPr>
          <a:xfrm>
            <a:off x="667512" y="402336"/>
            <a:ext cx="301752" cy="32004"/>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01268" y="402336"/>
            <a:ext cx="301752" cy="32004"/>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335024" y="402336"/>
            <a:ext cx="301752" cy="32004"/>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68780" y="402336"/>
            <a:ext cx="301752" cy="32004"/>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145536" y="4937760"/>
            <a:ext cx="2852928" cy="137160"/>
          </a:xfrm>
          <a:prstGeom prst="rect">
            <a:avLst/>
          </a:prstGeom>
          <a:noFill/>
        </p:spPr>
        <p:txBody>
          <a:bodyPr wrap="square" lIns="0" tIns="0" rIns="0" bIns="0" anchor="t">
            <a:spAutoFit/>
          </a:bodyPr>
          <a:lstStyle/>
          <a:p>
            <a:pPr algn="ctr">
              <a:lnSpc>
                <a:spcPct val="120000"/>
              </a:lnSpc>
            </a:pPr>
            <a:r>
              <a:rPr sz="600" b="0" i="0">
                <a:solidFill>
                  <a:srgbClr val="7A7F8A"/>
                </a:solidFill>
                <a:latin typeface="Inter"/>
              </a:rPr>
              <a:t>Confidential</a:t>
            </a:r>
          </a:p>
        </p:txBody>
      </p:sp>
      <p:sp>
        <p:nvSpPr>
          <p:cNvPr id="9" name="TextBox 8"/>
          <p:cNvSpPr txBox="1"/>
          <p:nvPr/>
        </p:nvSpPr>
        <p:spPr>
          <a:xfrm>
            <a:off x="5623560" y="4892040"/>
            <a:ext cx="2852928" cy="182880"/>
          </a:xfrm>
          <a:prstGeom prst="rect">
            <a:avLst/>
          </a:prstGeom>
          <a:noFill/>
        </p:spPr>
        <p:txBody>
          <a:bodyPr wrap="square" lIns="0" tIns="0" rIns="0" bIns="0" anchor="t">
            <a:spAutoFit/>
          </a:bodyPr>
          <a:lstStyle/>
          <a:p>
            <a:pPr algn="r">
              <a:lnSpc>
                <a:spcPct val="120000"/>
              </a:lnSpc>
            </a:pPr>
            <a:r>
              <a:rPr sz="850" b="1" i="0">
                <a:solidFill>
                  <a:srgbClr val="1428A0"/>
                </a:solidFill>
                <a:latin typeface="Inter"/>
              </a:rPr>
              <a:t>SAMSUNG SDS</a:t>
            </a:r>
          </a:p>
        </p:txBody>
      </p:sp>
      <p:sp>
        <p:nvSpPr>
          <p:cNvPr id="10" name="TextBox 9"/>
          <p:cNvSpPr txBox="1"/>
          <p:nvPr/>
        </p:nvSpPr>
        <p:spPr>
          <a:xfrm>
            <a:off x="7498079" y="4754880"/>
            <a:ext cx="978408" cy="91440"/>
          </a:xfrm>
          <a:prstGeom prst="rect">
            <a:avLst/>
          </a:prstGeom>
          <a:noFill/>
        </p:spPr>
        <p:txBody>
          <a:bodyPr wrap="square" lIns="0" tIns="0" rIns="0" bIns="0" anchor="t">
            <a:spAutoFit/>
          </a:bodyPr>
          <a:lstStyle/>
          <a:p>
            <a:pPr algn="r">
              <a:lnSpc>
                <a:spcPct val="120000"/>
              </a:lnSpc>
            </a:pPr>
            <a:r>
              <a:rPr sz="550" b="0" i="0">
                <a:solidFill>
                  <a:srgbClr val="7A7F8A"/>
                </a:solidFill>
                <a:latin typeface="Inter"/>
              </a:rPr>
              <a:t>PAGE 16 / 16</a:t>
            </a:r>
          </a:p>
        </p:txBody>
      </p:sp>
      <p:sp>
        <p:nvSpPr>
          <p:cNvPr id="11" name="TextBox 10"/>
          <p:cNvSpPr txBox="1"/>
          <p:nvPr/>
        </p:nvSpPr>
        <p:spPr>
          <a:xfrm>
            <a:off x="667512" y="566928"/>
            <a:ext cx="7223760" cy="411480"/>
          </a:xfrm>
          <a:prstGeom prst="rect">
            <a:avLst/>
          </a:prstGeom>
          <a:noFill/>
        </p:spPr>
        <p:txBody>
          <a:bodyPr wrap="square" lIns="0" tIns="0" rIns="0" bIns="0" anchor="t">
            <a:spAutoFit/>
          </a:bodyPr>
          <a:lstStyle/>
          <a:p>
            <a:pPr algn="l">
              <a:lnSpc>
                <a:spcPct val="120000"/>
              </a:lnSpc>
            </a:pPr>
            <a:r>
              <a:rPr sz="1780" b="1" i="0">
                <a:solidFill>
                  <a:srgbClr val="1A1A1E"/>
                </a:solidFill>
                <a:latin typeface="Inter"/>
              </a:rPr>
              <a:t>Approve the pilot.</a:t>
            </a:r>
          </a:p>
        </p:txBody>
      </p:sp>
      <p:sp>
        <p:nvSpPr>
          <p:cNvPr id="12" name="Rectangle 11"/>
          <p:cNvSpPr/>
          <p:nvPr/>
        </p:nvSpPr>
        <p:spPr>
          <a:xfrm>
            <a:off x="667512" y="1097280"/>
            <a:ext cx="457200" cy="274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67512" y="1325880"/>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67512" y="1325880"/>
            <a:ext cx="27432" cy="868680"/>
          </a:xfrm>
          <a:prstGeom prst="roundRect">
            <a:avLst>
              <a:gd name="adj" fmla="val 50000"/>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50392" y="1463040"/>
            <a:ext cx="1645920" cy="274320"/>
          </a:xfrm>
          <a:prstGeom prst="rect">
            <a:avLst/>
          </a:prstGeom>
          <a:noFill/>
        </p:spPr>
        <p:txBody>
          <a:bodyPr wrap="square" lIns="0" tIns="0" rIns="0" bIns="0" anchor="t">
            <a:spAutoFit/>
          </a:bodyPr>
          <a:lstStyle/>
          <a:p>
            <a:pPr algn="l">
              <a:lnSpc>
                <a:spcPct val="120000"/>
              </a:lnSpc>
            </a:pPr>
            <a:r>
              <a:rPr sz="1400" b="1" i="0">
                <a:solidFill>
                  <a:srgbClr val="C1702D"/>
                </a:solidFill>
                <a:latin typeface="Inter"/>
              </a:rPr>
              <a:t>8 weeks</a:t>
            </a:r>
          </a:p>
        </p:txBody>
      </p:sp>
      <p:sp>
        <p:nvSpPr>
          <p:cNvPr id="16" name="TextBox 15"/>
          <p:cNvSpPr txBox="1"/>
          <p:nvPr/>
        </p:nvSpPr>
        <p:spPr>
          <a:xfrm>
            <a:off x="850392" y="1810512"/>
            <a:ext cx="1600200" cy="274320"/>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pilot duration</a:t>
            </a:r>
          </a:p>
        </p:txBody>
      </p:sp>
      <p:sp>
        <p:nvSpPr>
          <p:cNvPr id="17" name="Rounded Rectangle 16"/>
          <p:cNvSpPr/>
          <p:nvPr/>
        </p:nvSpPr>
        <p:spPr>
          <a:xfrm>
            <a:off x="2642616" y="1325880"/>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2642616" y="1325880"/>
            <a:ext cx="27432" cy="86868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825496" y="1463040"/>
            <a:ext cx="1645920" cy="274320"/>
          </a:xfrm>
          <a:prstGeom prst="rect">
            <a:avLst/>
          </a:prstGeom>
          <a:noFill/>
        </p:spPr>
        <p:txBody>
          <a:bodyPr wrap="square" lIns="0" tIns="0" rIns="0" bIns="0" anchor="t">
            <a:spAutoFit/>
          </a:bodyPr>
          <a:lstStyle/>
          <a:p>
            <a:pPr algn="l">
              <a:lnSpc>
                <a:spcPct val="120000"/>
              </a:lnSpc>
            </a:pPr>
            <a:r>
              <a:rPr sz="1400" b="1" i="0">
                <a:solidFill>
                  <a:srgbClr val="1428A0"/>
                </a:solidFill>
                <a:latin typeface="Inter"/>
              </a:rPr>
              <a:t>1 team</a:t>
            </a:r>
          </a:p>
        </p:txBody>
      </p:sp>
      <p:sp>
        <p:nvSpPr>
          <p:cNvPr id="20" name="TextBox 19"/>
          <p:cNvSpPr txBox="1"/>
          <p:nvPr/>
        </p:nvSpPr>
        <p:spPr>
          <a:xfrm>
            <a:off x="2825496" y="1810512"/>
            <a:ext cx="1600200" cy="274320"/>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of collectors</a:t>
            </a:r>
          </a:p>
        </p:txBody>
      </p:sp>
      <p:sp>
        <p:nvSpPr>
          <p:cNvPr id="21" name="Rounded Rectangle 20"/>
          <p:cNvSpPr/>
          <p:nvPr/>
        </p:nvSpPr>
        <p:spPr>
          <a:xfrm>
            <a:off x="4617720" y="1325880"/>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4617720" y="1325880"/>
            <a:ext cx="27432" cy="86868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800600" y="1463040"/>
            <a:ext cx="1645920" cy="274320"/>
          </a:xfrm>
          <a:prstGeom prst="rect">
            <a:avLst/>
          </a:prstGeom>
          <a:noFill/>
        </p:spPr>
        <p:txBody>
          <a:bodyPr wrap="square" lIns="0" tIns="0" rIns="0" bIns="0" anchor="t">
            <a:spAutoFit/>
          </a:bodyPr>
          <a:lstStyle/>
          <a:p>
            <a:pPr algn="l">
              <a:lnSpc>
                <a:spcPct val="120000"/>
              </a:lnSpc>
            </a:pPr>
            <a:r>
              <a:rPr sz="1400" b="1" i="0">
                <a:solidFill>
                  <a:srgbClr val="1428A0"/>
                </a:solidFill>
                <a:latin typeface="Inter"/>
              </a:rPr>
              <a:t>1 platform</a:t>
            </a:r>
          </a:p>
        </p:txBody>
      </p:sp>
      <p:sp>
        <p:nvSpPr>
          <p:cNvPr id="24" name="TextBox 23"/>
          <p:cNvSpPr txBox="1"/>
          <p:nvPr/>
        </p:nvSpPr>
        <p:spPr>
          <a:xfrm>
            <a:off x="4800600" y="1810512"/>
            <a:ext cx="1600200" cy="274320"/>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approved LLM</a:t>
            </a:r>
          </a:p>
        </p:txBody>
      </p:sp>
      <p:sp>
        <p:nvSpPr>
          <p:cNvPr id="25" name="Rounded Rectangle 24"/>
          <p:cNvSpPr/>
          <p:nvPr/>
        </p:nvSpPr>
        <p:spPr>
          <a:xfrm>
            <a:off x="6592824" y="1325880"/>
            <a:ext cx="1856231" cy="86868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6592824" y="1325880"/>
            <a:ext cx="27432" cy="868680"/>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775704" y="1463040"/>
            <a:ext cx="1645920" cy="274320"/>
          </a:xfrm>
          <a:prstGeom prst="rect">
            <a:avLst/>
          </a:prstGeom>
          <a:noFill/>
        </p:spPr>
        <p:txBody>
          <a:bodyPr wrap="square" lIns="0" tIns="0" rIns="0" bIns="0" anchor="t">
            <a:spAutoFit/>
          </a:bodyPr>
          <a:lstStyle/>
          <a:p>
            <a:pPr algn="l">
              <a:lnSpc>
                <a:spcPct val="120000"/>
              </a:lnSpc>
            </a:pPr>
            <a:r>
              <a:rPr sz="1400" b="1" i="0">
                <a:solidFill>
                  <a:srgbClr val="5F8B2F"/>
                </a:solidFill>
                <a:latin typeface="Inter"/>
              </a:rPr>
              <a:t>Week 8</a:t>
            </a:r>
          </a:p>
        </p:txBody>
      </p:sp>
      <p:sp>
        <p:nvSpPr>
          <p:cNvPr id="28" name="TextBox 27"/>
          <p:cNvSpPr txBox="1"/>
          <p:nvPr/>
        </p:nvSpPr>
        <p:spPr>
          <a:xfrm>
            <a:off x="6775704" y="1810512"/>
            <a:ext cx="1600200" cy="274320"/>
          </a:xfrm>
          <a:prstGeom prst="rect">
            <a:avLst/>
          </a:prstGeom>
          <a:noFill/>
        </p:spPr>
        <p:txBody>
          <a:bodyPr wrap="square" lIns="0" tIns="0" rIns="0" bIns="0" anchor="t">
            <a:spAutoFit/>
          </a:bodyPr>
          <a:lstStyle/>
          <a:p>
            <a:pPr algn="l">
              <a:lnSpc>
                <a:spcPct val="130000"/>
              </a:lnSpc>
            </a:pPr>
            <a:r>
              <a:rPr sz="620" b="0" i="0">
                <a:solidFill>
                  <a:srgbClr val="4A5668"/>
                </a:solidFill>
                <a:latin typeface="Inter"/>
              </a:rPr>
              <a:t>go / no-go decision</a:t>
            </a:r>
          </a:p>
        </p:txBody>
      </p:sp>
      <p:sp>
        <p:nvSpPr>
          <p:cNvPr id="29" name="TextBox 28"/>
          <p:cNvSpPr txBox="1"/>
          <p:nvPr/>
        </p:nvSpPr>
        <p:spPr>
          <a:xfrm>
            <a:off x="667512" y="2468880"/>
            <a:ext cx="3200400" cy="91440"/>
          </a:xfrm>
          <a:prstGeom prst="rect">
            <a:avLst/>
          </a:prstGeom>
          <a:noFill/>
        </p:spPr>
        <p:txBody>
          <a:bodyPr wrap="square" lIns="0" tIns="0" rIns="0" bIns="0" anchor="t">
            <a:spAutoFit/>
          </a:bodyPr>
          <a:lstStyle/>
          <a:p>
            <a:pPr algn="l">
              <a:lnSpc>
                <a:spcPct val="120000"/>
              </a:lnSpc>
            </a:pPr>
            <a:r>
              <a:rPr sz="550" b="1" i="0">
                <a:solidFill>
                  <a:srgbClr val="5A6472"/>
                </a:solidFill>
                <a:latin typeface="JetBrains Mono"/>
              </a:rPr>
              <a:t>WHAT WE ARE NOT ASKING FOR</a:t>
            </a:r>
          </a:p>
        </p:txBody>
      </p:sp>
      <p:sp>
        <p:nvSpPr>
          <p:cNvPr id="30" name="TextBox 29"/>
          <p:cNvSpPr txBox="1"/>
          <p:nvPr/>
        </p:nvSpPr>
        <p:spPr>
          <a:xfrm>
            <a:off x="667512" y="2670048"/>
            <a:ext cx="182880" cy="146304"/>
          </a:xfrm>
          <a:prstGeom prst="rect">
            <a:avLst/>
          </a:prstGeom>
          <a:noFill/>
        </p:spPr>
        <p:txBody>
          <a:bodyPr wrap="square" lIns="0" tIns="0" rIns="0" bIns="0" anchor="t">
            <a:spAutoFit/>
          </a:bodyPr>
          <a:lstStyle/>
          <a:p>
            <a:pPr algn="l">
              <a:lnSpc>
                <a:spcPct val="120000"/>
              </a:lnSpc>
            </a:pPr>
            <a:r>
              <a:rPr sz="750" b="0" i="0">
                <a:solidFill>
                  <a:srgbClr val="1A1A1E"/>
                </a:solidFill>
                <a:latin typeface="Inter"/>
              </a:rPr>
              <a:t>—</a:t>
            </a:r>
          </a:p>
        </p:txBody>
      </p:sp>
      <p:sp>
        <p:nvSpPr>
          <p:cNvPr id="31" name="TextBox 30"/>
          <p:cNvSpPr txBox="1"/>
          <p:nvPr/>
        </p:nvSpPr>
        <p:spPr>
          <a:xfrm>
            <a:off x="914400" y="2670048"/>
            <a:ext cx="3566160" cy="146304"/>
          </a:xfrm>
          <a:prstGeom prst="rect">
            <a:avLst/>
          </a:prstGeom>
          <a:noFill/>
        </p:spPr>
        <p:txBody>
          <a:bodyPr wrap="square" lIns="0" tIns="0" rIns="0" bIns="0" anchor="t">
            <a:spAutoFit/>
          </a:bodyPr>
          <a:lstStyle/>
          <a:p>
            <a:pPr algn="l">
              <a:lnSpc>
                <a:spcPct val="120000"/>
              </a:lnSpc>
            </a:pPr>
            <a:r>
              <a:rPr sz="730" b="0" i="0">
                <a:solidFill>
                  <a:srgbClr val="1A1A1E"/>
                </a:solidFill>
                <a:latin typeface="Inter"/>
              </a:rPr>
              <a:t>A new AR system or a change to existing records</a:t>
            </a:r>
          </a:p>
        </p:txBody>
      </p:sp>
      <p:sp>
        <p:nvSpPr>
          <p:cNvPr id="32" name="TextBox 31"/>
          <p:cNvSpPr txBox="1"/>
          <p:nvPr/>
        </p:nvSpPr>
        <p:spPr>
          <a:xfrm>
            <a:off x="667512" y="2944368"/>
            <a:ext cx="182880" cy="146304"/>
          </a:xfrm>
          <a:prstGeom prst="rect">
            <a:avLst/>
          </a:prstGeom>
          <a:noFill/>
        </p:spPr>
        <p:txBody>
          <a:bodyPr wrap="square" lIns="0" tIns="0" rIns="0" bIns="0" anchor="t">
            <a:spAutoFit/>
          </a:bodyPr>
          <a:lstStyle/>
          <a:p>
            <a:pPr algn="l">
              <a:lnSpc>
                <a:spcPct val="120000"/>
              </a:lnSpc>
            </a:pPr>
            <a:r>
              <a:rPr sz="750" b="0" i="0">
                <a:solidFill>
                  <a:srgbClr val="1A1A1E"/>
                </a:solidFill>
                <a:latin typeface="Inter"/>
              </a:rPr>
              <a:t>—</a:t>
            </a:r>
          </a:p>
        </p:txBody>
      </p:sp>
      <p:sp>
        <p:nvSpPr>
          <p:cNvPr id="33" name="TextBox 32"/>
          <p:cNvSpPr txBox="1"/>
          <p:nvPr/>
        </p:nvSpPr>
        <p:spPr>
          <a:xfrm>
            <a:off x="914400" y="2944368"/>
            <a:ext cx="3566160" cy="146304"/>
          </a:xfrm>
          <a:prstGeom prst="rect">
            <a:avLst/>
          </a:prstGeom>
          <a:noFill/>
        </p:spPr>
        <p:txBody>
          <a:bodyPr wrap="square" lIns="0" tIns="0" rIns="0" bIns="0" anchor="t">
            <a:spAutoFit/>
          </a:bodyPr>
          <a:lstStyle/>
          <a:p>
            <a:pPr algn="l">
              <a:lnSpc>
                <a:spcPct val="120000"/>
              </a:lnSpc>
            </a:pPr>
            <a:r>
              <a:rPr sz="730" b="0" i="0">
                <a:solidFill>
                  <a:srgbClr val="1A1A1E"/>
                </a:solidFill>
                <a:latin typeface="Inter"/>
              </a:rPr>
              <a:t>Any customer data to leave approved platforms</a:t>
            </a:r>
          </a:p>
        </p:txBody>
      </p:sp>
      <p:sp>
        <p:nvSpPr>
          <p:cNvPr id="34" name="TextBox 33"/>
          <p:cNvSpPr txBox="1"/>
          <p:nvPr/>
        </p:nvSpPr>
        <p:spPr>
          <a:xfrm>
            <a:off x="667512" y="3218688"/>
            <a:ext cx="182880" cy="146304"/>
          </a:xfrm>
          <a:prstGeom prst="rect">
            <a:avLst/>
          </a:prstGeom>
          <a:noFill/>
        </p:spPr>
        <p:txBody>
          <a:bodyPr wrap="square" lIns="0" tIns="0" rIns="0" bIns="0" anchor="t">
            <a:spAutoFit/>
          </a:bodyPr>
          <a:lstStyle/>
          <a:p>
            <a:pPr algn="l">
              <a:lnSpc>
                <a:spcPct val="120000"/>
              </a:lnSpc>
            </a:pPr>
            <a:r>
              <a:rPr sz="750" b="0" i="0">
                <a:solidFill>
                  <a:srgbClr val="1A1A1E"/>
                </a:solidFill>
                <a:latin typeface="Inter"/>
              </a:rPr>
              <a:t>—</a:t>
            </a:r>
          </a:p>
        </p:txBody>
      </p:sp>
      <p:sp>
        <p:nvSpPr>
          <p:cNvPr id="35" name="TextBox 34"/>
          <p:cNvSpPr txBox="1"/>
          <p:nvPr/>
        </p:nvSpPr>
        <p:spPr>
          <a:xfrm>
            <a:off x="914400" y="3218688"/>
            <a:ext cx="3566160" cy="146304"/>
          </a:xfrm>
          <a:prstGeom prst="rect">
            <a:avLst/>
          </a:prstGeom>
          <a:noFill/>
        </p:spPr>
        <p:txBody>
          <a:bodyPr wrap="square" lIns="0" tIns="0" rIns="0" bIns="0" anchor="t">
            <a:spAutoFit/>
          </a:bodyPr>
          <a:lstStyle/>
          <a:p>
            <a:pPr algn="l">
              <a:lnSpc>
                <a:spcPct val="120000"/>
              </a:lnSpc>
            </a:pPr>
            <a:r>
              <a:rPr sz="730" b="0" i="0">
                <a:solidFill>
                  <a:srgbClr val="1A1A1E"/>
                </a:solidFill>
                <a:latin typeface="Inter"/>
              </a:rPr>
              <a:t>Emails that send themselves - a person always clicks send</a:t>
            </a:r>
          </a:p>
        </p:txBody>
      </p:sp>
      <p:sp>
        <p:nvSpPr>
          <p:cNvPr id="36" name="TextBox 35"/>
          <p:cNvSpPr txBox="1"/>
          <p:nvPr/>
        </p:nvSpPr>
        <p:spPr>
          <a:xfrm>
            <a:off x="667512" y="3493008"/>
            <a:ext cx="182880" cy="146304"/>
          </a:xfrm>
          <a:prstGeom prst="rect">
            <a:avLst/>
          </a:prstGeom>
          <a:noFill/>
        </p:spPr>
        <p:txBody>
          <a:bodyPr wrap="square" lIns="0" tIns="0" rIns="0" bIns="0" anchor="t">
            <a:spAutoFit/>
          </a:bodyPr>
          <a:lstStyle/>
          <a:p>
            <a:pPr algn="l">
              <a:lnSpc>
                <a:spcPct val="120000"/>
              </a:lnSpc>
            </a:pPr>
            <a:r>
              <a:rPr sz="750" b="0" i="0">
                <a:solidFill>
                  <a:srgbClr val="1A1A1E"/>
                </a:solidFill>
                <a:latin typeface="Inter"/>
              </a:rPr>
              <a:t>—</a:t>
            </a:r>
          </a:p>
        </p:txBody>
      </p:sp>
      <p:sp>
        <p:nvSpPr>
          <p:cNvPr id="37" name="TextBox 36"/>
          <p:cNvSpPr txBox="1"/>
          <p:nvPr/>
        </p:nvSpPr>
        <p:spPr>
          <a:xfrm>
            <a:off x="914400" y="3493008"/>
            <a:ext cx="3566160" cy="146304"/>
          </a:xfrm>
          <a:prstGeom prst="rect">
            <a:avLst/>
          </a:prstGeom>
          <a:noFill/>
        </p:spPr>
        <p:txBody>
          <a:bodyPr wrap="square" lIns="0" tIns="0" rIns="0" bIns="0" anchor="t">
            <a:spAutoFit/>
          </a:bodyPr>
          <a:lstStyle/>
          <a:p>
            <a:pPr algn="l">
              <a:lnSpc>
                <a:spcPct val="120000"/>
              </a:lnSpc>
            </a:pPr>
            <a:r>
              <a:rPr sz="730" b="0" i="0">
                <a:solidFill>
                  <a:srgbClr val="1A1A1E"/>
                </a:solidFill>
                <a:latin typeface="Inter"/>
              </a:rPr>
              <a:t>A commitment beyond the week-8 review</a:t>
            </a:r>
          </a:p>
        </p:txBody>
      </p:sp>
      <p:sp>
        <p:nvSpPr>
          <p:cNvPr id="38" name="Rounded Rectangle 37"/>
          <p:cNvSpPr/>
          <p:nvPr/>
        </p:nvSpPr>
        <p:spPr>
          <a:xfrm>
            <a:off x="4892040" y="2468880"/>
            <a:ext cx="3584448" cy="1691640"/>
          </a:xfrm>
          <a:prstGeom prst="roundRect">
            <a:avLst>
              <a:gd name="adj" fmla="val 6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4892040" y="2468880"/>
            <a:ext cx="27432" cy="1691640"/>
          </a:xfrm>
          <a:prstGeom prst="roundRect">
            <a:avLst>
              <a:gd name="adj"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102352" y="2651760"/>
            <a:ext cx="2743200" cy="91440"/>
          </a:xfrm>
          <a:prstGeom prst="rect">
            <a:avLst/>
          </a:prstGeom>
          <a:noFill/>
        </p:spPr>
        <p:txBody>
          <a:bodyPr wrap="square" lIns="0" tIns="0" rIns="0" bIns="0" anchor="t">
            <a:spAutoFit/>
          </a:bodyPr>
          <a:lstStyle/>
          <a:p>
            <a:pPr algn="l">
              <a:lnSpc>
                <a:spcPct val="120000"/>
              </a:lnSpc>
            </a:pPr>
            <a:r>
              <a:rPr sz="550" b="1" i="0">
                <a:solidFill>
                  <a:srgbClr val="1428A0"/>
                </a:solidFill>
                <a:latin typeface="JetBrains Mono"/>
              </a:rPr>
              <a:t>NEXT STEP</a:t>
            </a:r>
          </a:p>
        </p:txBody>
      </p:sp>
      <p:sp>
        <p:nvSpPr>
          <p:cNvPr id="41" name="TextBox 40"/>
          <p:cNvSpPr txBox="1"/>
          <p:nvPr/>
        </p:nvSpPr>
        <p:spPr>
          <a:xfrm>
            <a:off x="5102352" y="2816352"/>
            <a:ext cx="3200400" cy="274320"/>
          </a:xfrm>
          <a:prstGeom prst="rect">
            <a:avLst/>
          </a:prstGeom>
          <a:noFill/>
        </p:spPr>
        <p:txBody>
          <a:bodyPr wrap="square" lIns="0" tIns="0" rIns="0" bIns="0" anchor="t">
            <a:spAutoFit/>
          </a:bodyPr>
          <a:lstStyle/>
          <a:p>
            <a:pPr algn="l">
              <a:lnSpc>
                <a:spcPct val="120000"/>
              </a:lnSpc>
            </a:pPr>
            <a:r>
              <a:rPr sz="1250" b="1" i="0">
                <a:solidFill>
                  <a:srgbClr val="1A1A1E"/>
                </a:solidFill>
                <a:latin typeface="Inter"/>
              </a:rPr>
              <a:t>Approve the eight-week pilot.</a:t>
            </a:r>
          </a:p>
        </p:txBody>
      </p:sp>
      <p:sp>
        <p:nvSpPr>
          <p:cNvPr id="42" name="TextBox 41"/>
          <p:cNvSpPr txBox="1"/>
          <p:nvPr/>
        </p:nvSpPr>
        <p:spPr>
          <a:xfrm>
            <a:off x="5102352" y="3200400"/>
            <a:ext cx="3200400" cy="868680"/>
          </a:xfrm>
          <a:prstGeom prst="rect">
            <a:avLst/>
          </a:prstGeom>
          <a:noFill/>
        </p:spPr>
        <p:txBody>
          <a:bodyPr wrap="square" lIns="0" tIns="0" rIns="0" bIns="0" anchor="t">
            <a:spAutoFit/>
          </a:bodyPr>
          <a:lstStyle/>
          <a:p>
            <a:pPr algn="l">
              <a:lnSpc>
                <a:spcPct val="150000"/>
              </a:lnSpc>
            </a:pPr>
            <a:r>
              <a:rPr sz="660" b="0" i="0">
                <a:solidFill>
                  <a:srgbClr val="4A5668"/>
                </a:solidFill>
                <a:latin typeface="Inter"/>
              </a:rPr>
              <a:t>Plus access to the approved AI platform, and one session with the AR team to confirm the dunning setup, the note abbreviations and who owns credit limits. Wider rollout comes back to this table at week 8, with measured results.</a:t>
            </a:r>
          </a:p>
        </p:txBody>
      </p:sp>
      <p:sp>
        <p:nvSpPr>
          <p:cNvPr id="43" name="TextBox 42"/>
          <p:cNvSpPr txBox="1"/>
          <p:nvPr/>
        </p:nvSpPr>
        <p:spPr>
          <a:xfrm>
            <a:off x="667512" y="4572000"/>
            <a:ext cx="7315200" cy="109728"/>
          </a:xfrm>
          <a:prstGeom prst="rect">
            <a:avLst/>
          </a:prstGeom>
          <a:noFill/>
        </p:spPr>
        <p:txBody>
          <a:bodyPr wrap="square" lIns="0" tIns="0" rIns="0" bIns="0" anchor="t">
            <a:spAutoFit/>
          </a:bodyPr>
          <a:lstStyle/>
          <a:p>
            <a:pPr algn="l">
              <a:lnSpc>
                <a:spcPct val="120000"/>
              </a:lnSpc>
            </a:pPr>
            <a:r>
              <a:rPr sz="530" b="0" i="0">
                <a:solidFill>
                  <a:srgbClr val="5A6472"/>
                </a:solidFill>
                <a:latin typeface="Inter"/>
              </a:rPr>
              <a:t>Collections Copilot  ·  all customer names, amounts and identifiers in this deck are synthetic.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1023</TotalTime>
  <Words>3027</Words>
  <Application>Microsoft Office PowerPoint</Application>
  <PresentationFormat>On-screen Show (16:9)</PresentationFormat>
  <Paragraphs>473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Inter</vt:lpstr>
      <vt:lpstr>Arial</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Tushar Agrawal</cp:lastModifiedBy>
  <cp:revision>53</cp:revision>
  <dcterms:created xsi:type="dcterms:W3CDTF">2026-09-07T12:54:47Z</dcterms:created>
  <dcterms:modified xsi:type="dcterms:W3CDTF">2026-09-25T06:03:17Z</dcterms:modified>
</cp:coreProperties>
</file>